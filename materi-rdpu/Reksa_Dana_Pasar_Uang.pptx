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5.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0f73a807-8f3b-a765-7920-342be37fc306}">
          <p14:sldIdLst>
            <p14:sldId id="256"/>
            <p14:sldId id="257"/>
          </p14:sldIdLst>
        </p14:section>
        <p14:section name="1. Kenapa perlu paham" id="{3d1642a9-1045-d448-84f3-c15130d15b32}">
          <p14:sldIdLst>
            <p14:sldId id="258"/>
            <p14:sldId id="259"/>
            <p14:sldId id="260"/>
          </p14:sldIdLst>
        </p14:section>
        <p14:section name="2. Mengenal RDPU" id="{3c489aa8-9f7f-f24a-2e98-40b1bfbea482}">
          <p14:sldIdLst>
            <p14:sldId id="261"/>
            <p14:sldId id="262"/>
            <p14:sldId id="263"/>
            <p14:sldId id="264"/>
            <p14:sldId id="265"/>
          </p14:sldIdLst>
        </p14:section>
        <p14:section name="3. Cara kerjanya" id="{89a1c0ee-fb0a-c795-3436-91c444d68ee6}">
          <p14:sldIdLst>
            <p14:sldId id="266"/>
            <p14:sldId id="267"/>
            <p14:sldId id="268"/>
            <p14:sldId id="269"/>
          </p14:sldIdLst>
        </p14:section>
        <p14:section name="4. Untung, biaya, pajak, risiko" id="{88dcc7f3-01b8-530f-c4ba-6d0f6491eb58}">
          <p14:sldIdLst>
            <p14:sldId id="270"/>
            <p14:sldId id="271"/>
            <p14:sldId id="272"/>
            <p14:sldId id="273"/>
            <p14:sldId id="274"/>
            <p14:sldId id="275"/>
          </p14:sldIdLst>
        </p14:section>
        <p14:section name="5. Praktik" id="{0e17fe5b-70c0-7cf9-da92-4be7948dddec}">
          <p14:sldIdLst>
            <p14:sldId id="276"/>
            <p14:sldId id="277"/>
            <p14:sldId id="278"/>
            <p14:sldId id="279"/>
            <p14:sldId id="280"/>
          </p14:sldIdLst>
        </p14:section>
        <p14:section name="6. Kuis" id="{27052ea6-5cef-b241-5f08-138d05fc8119}">
          <p14:sldIdLst>
            <p14:sldId id="281"/>
            <p14:sldId id="282"/>
            <p14:sldId id="283"/>
            <p14:sldId id="284"/>
            <p14:sldId id="285"/>
            <p14:sldId id="286"/>
            <p14:sldId id="287"/>
          </p14:sldIdLst>
        </p14:section>
        <p14:section name="Penutup" id="{e072f52d-5cd6-447d-5e6c-aec5e0c4310b}">
          <p14:sldIdLst>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1B2C"/>
                </a:solidFill>
                <a:latin typeface="+mn-lt"/>
              </a:defRPr>
            </a:pPr>
            <a:r>
              <a:rPr sz="1400" b="0" i="0" u="none" strike="noStrike">
                <a:solidFill>
                  <a:srgbClr val="0E1B2C"/>
                </a:solidFill>
                <a:latin typeface="+mn-lt"/>
              </a:rPr>
              <a:t>Jumlah investor reksa dana (juta SID, akhir tahun)</a:t>
            </a:r>
          </a:p>
        </c:rich>
      </c:tx>
      <c:layout/>
      <c:overlay val="0"/>
    </c:title>
    <c:autoTitleDeleted val="0"/>
    <c:plotArea>
      <c:layout/>
      <c:barChart>
        <c:barDir val="col"/>
        <c:grouping val="clustered"/>
        <c:varyColors val="0"/>
        <c:ser>
          <c:idx val="0"/>
          <c:order val="0"/>
          <c:tx>
            <c:strRef>
              <c:f>Sheet1!$B$1</c:f>
              <c:strCache>
                <c:ptCount val="1"/>
                <c:pt idx="0">
                  <c:v>Investor reksa dana (juta SID)</c:v>
                </c:pt>
              </c:strCache>
            </c:strRef>
          </c:tx>
          <c:spPr>
            <a:solidFill>
              <a:srgbClr val="17A589"/>
            </a:solidFill>
            <a:effectLst/>
          </c:spPr>
          <c:invertIfNegative val="0"/>
          <c:dLbls>
            <c:numFmt formatCode="0.00" sourceLinked="0"/>
            <c:txPr>
              <a:bodyPr/>
              <a:lstStyle/>
              <a:p>
                <a:pPr>
                  <a:defRPr b="0" i="0" strike="noStrike" sz="1400" u="none">
                    <a:solidFill>
                      <a:srgbClr val="0E1B2C"/>
                    </a:solidFill>
                    <a:latin typeface="+mn-lt"/>
                  </a:defRPr>
                </a:pPr>
              </a:p>
            </c:txPr>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11.42</c:v>
                </c:pt>
                <c:pt idx="1">
                  <c:v>14.03</c:v>
                </c:pt>
                <c:pt idx="2">
                  <c:v>19.19</c:v>
                </c:pt>
              </c:numCache>
            </c:numRef>
          </c:val>
        </c:ser>
        <c:dLbls>
          <c:numFmt formatCode="0.00" sourceLinked="0"/>
          <c:txPr>
            <a:bodyPr/>
            <a:lstStyle/>
            <a:p>
              <a:pPr>
                <a:defRPr b="0" i="0" strike="noStrike" sz="1400" u="none">
                  <a:solidFill>
                    <a:srgbClr val="0E1B2C"/>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6B7B8C"/>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majorGridlines>
          <c:spPr>
            <a:ln w="6350" cap="flat">
              <a:solidFill>
                <a:srgbClr val="E3EA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2C"/>
                </a:solidFill>
                <a:latin typeface="+mn-lt"/>
              </a:defRPr>
            </a:pPr>
            <a:r>
              <a:rPr sz="1300" b="0" i="0" u="none" strike="noStrike">
                <a:solidFill>
                  <a:srgbClr val="0E1B2C"/>
                </a:solidFill>
                <a:latin typeface="+mn-lt"/>
              </a:rPr>
              <a:t>Dana kelolaan per jenis, Juli 2026 (Rp triliun)</a:t>
            </a:r>
          </a:p>
        </c:rich>
      </c:tx>
      <c:layout/>
      <c:overlay val="0"/>
    </c:title>
    <c:autoTitleDeleted val="0"/>
    <c:plotArea>
      <c:layout/>
      <c:barChart>
        <c:barDir val="bar"/>
        <c:grouping val="clustered"/>
        <c:varyColors val="0"/>
        <c:ser>
          <c:idx val="0"/>
          <c:order val="0"/>
          <c:tx>
            <c:strRef>
              <c:f>Sheet1!$B$1</c:f>
              <c:strCache>
                <c:ptCount val="1"/>
                <c:pt idx="0">
                  <c:v>AUM (Rp triliun)</c:v>
                </c:pt>
              </c:strCache>
            </c:strRef>
          </c:tx>
          <c:spPr>
            <a:solidFill>
              <a:srgbClr val="6B7B8C"/>
            </a:solidFill>
            <a:effectLst/>
          </c:spPr>
          <c:invertIfNegative val="0"/>
          <c:dLbls>
            <c:numFmt formatCode="#,##0.00" sourceLinked="0"/>
            <c:txPr>
              <a:bodyPr/>
              <a:lstStyle/>
              <a:p>
                <a:pPr>
                  <a:defRPr b="0" i="0" strike="noStrike" sz="1200" u="none">
                    <a:solidFill>
                      <a:srgbClr val="0E1B2C"/>
                    </a:solidFill>
                    <a:latin typeface="+mn-lt"/>
                  </a:defRPr>
                </a:pPr>
              </a:p>
            </c:txPr>
            <c:showLegendKey val="0"/>
            <c:showVal val="1"/>
            <c:showCatName val="0"/>
            <c:showSerName val="0"/>
            <c:showPercent val="0"/>
            <c:showBubbleSize val="0"/>
            <c:showLeaderLines val="0"/>
          </c:dLbls>
          <c:dPt>
            <c:idx val="0"/>
            <c:invertIfNegative val="0"/>
            <c:bubble3D val="0"/>
            <c:spPr>
              <a:solidFill>
                <a:srgbClr val="6B7B8C"/>
              </a:solidFill>
              <a:effectLst/>
            </c:spPr>
          </c:dPt>
          <c:dPt>
            <c:idx val="1"/>
            <c:invertIfNegative val="0"/>
            <c:bubble3D val="0"/>
            <c:spPr>
              <a:solidFill>
                <a:srgbClr val="6B7B8C"/>
              </a:solidFill>
              <a:effectLst/>
            </c:spPr>
          </c:dPt>
          <c:dPt>
            <c:idx val="2"/>
            <c:invertIfNegative val="0"/>
            <c:bubble3D val="0"/>
            <c:spPr>
              <a:solidFill>
                <a:srgbClr val="17A589"/>
              </a:solidFill>
              <a:effectLst/>
            </c:spPr>
          </c:dPt>
          <c:dPt>
            <c:idx val="3"/>
            <c:invertIfNegative val="0"/>
            <c:bubble3D val="0"/>
            <c:spPr>
              <a:solidFill>
                <a:srgbClr val="6B7B8C"/>
              </a:solidFill>
              <a:effectLst/>
            </c:spPr>
          </c:dPt>
          <c:dPt>
            <c:idx val="4"/>
            <c:invertIfNegative val="0"/>
            <c:bubble3D val="0"/>
            <c:spPr>
              <a:solidFill>
                <a:srgbClr val="6B7B8C"/>
              </a:solidFill>
              <a:effectLst/>
            </c:spPr>
          </c:dPt>
          <c:cat>
            <c:multiLvlStrRef>
              <c:f>Sheet1!$A$2:$A$6</c:f>
              <c:multiLvlStrCache>
                <c:ptCount val="5"/>
                <c:lvl>
                  <c:pt idx="0">
                    <c:v>Pendapatan Tetap</c:v>
                  </c:pt>
                  <c:pt idx="1">
                    <c:v>Terproteksi</c:v>
                  </c:pt>
                  <c:pt idx="2">
                    <c:v>Pasar Uang</c:v>
                  </c:pt>
                  <c:pt idx="3">
                    <c:v>Saham</c:v>
                  </c:pt>
                  <c:pt idx="4">
                    <c:v>Campuran</c:v>
                  </c:pt>
                </c:lvl>
              </c:multiLvlStrCache>
            </c:multiLvlStrRef>
          </c:cat>
          <c:val>
            <c:numRef>
              <c:f>Sheet1!$B$2:$B$6</c:f>
              <c:numCache>
                <c:formatCode>General</c:formatCode>
                <c:ptCount val="5"/>
                <c:pt idx="0">
                  <c:v>217.02</c:v>
                </c:pt>
                <c:pt idx="1">
                  <c:v>144.84</c:v>
                </c:pt>
                <c:pt idx="2">
                  <c:v>133.58</c:v>
                </c:pt>
                <c:pt idx="3">
                  <c:v>62.69</c:v>
                </c:pt>
                <c:pt idx="4">
                  <c:v>34.83</c:v>
                </c:pt>
              </c:numCache>
            </c:numRef>
          </c:val>
        </c:ser>
        <c:dLbls>
          <c:numFmt formatCode="#,##0.00" sourceLinked="0"/>
          <c:txPr>
            <a:bodyPr/>
            <a:lstStyle/>
            <a:p>
              <a:pPr>
                <a:defRPr b="0" i="0" strike="noStrike" sz="1200" u="none">
                  <a:solidFill>
                    <a:srgbClr val="0E1B2C"/>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E1B2C"/>
                </a:solidFill>
                <a:latin typeface="+mn-lt"/>
              </a:defRPr>
            </a:pPr>
            <a:endParaRPr lang="en-US"/>
          </a:p>
        </c:txPr>
        <c:crossAx val="2094734552"/>
        <c:crosses val="autoZero"/>
        <c:auto val="1"/>
        <c:lblAlgn val="ctr"/>
        <c:noMultiLvlLbl val="1"/>
      </c:catAx>
      <c:valAx>
        <c:axId val="2094734552"/>
        <c:scaling>
          <c:orientation val="minMax"/>
          <c:max val="2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2C"/>
                </a:solidFill>
                <a:latin typeface="+mn-lt"/>
              </a:defRPr>
            </a:pPr>
            <a:r>
              <a:rPr sz="1300" b="0" i="0" u="none" strike="noStrike">
                <a:solidFill>
                  <a:srgbClr val="0E1B2C"/>
                </a:solidFill>
                <a:latin typeface="+mn-lt"/>
              </a:rPr>
              <a:t>Ilustrasi pergerakan NAB/UP dalam 12 bulan (awal = 1.000)</a:t>
            </a:r>
          </a:p>
        </c:rich>
      </c:tx>
      <c:layout/>
      <c:overlay val="0"/>
    </c:title>
    <c:autoTitleDeleted val="0"/>
    <c:plotArea>
      <c:layout/>
      <c:lineChart>
        <c:varyColors val="0"/>
        <c:ser>
          <c:idx val="0"/>
          <c:order val="0"/>
          <c:tx>
            <c:strRef>
              <c:f>Sheet1!$B$1</c:f>
              <c:strCache>
                <c:ptCount val="1"/>
                <c:pt idx="0">
                  <c:v>RDPU (ilustrasi)</c:v>
                </c:pt>
              </c:strCache>
            </c:strRef>
          </c:tx>
          <c:spPr>
            <a:solidFill>
              <a:srgbClr val="17A589"/>
            </a:solidFill>
            <a:ln w="38100" cap="flat">
              <a:solidFill>
                <a:srgbClr val="17A58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A589"/>
              </a:solidFill>
              <a:ln w="9525" cap="flat">
                <a:solidFill>
                  <a:srgbClr val="17A589"/>
                </a:solidFill>
                <a:prstDash val="solid"/>
                <a:round/>
              </a:ln>
              <a:effectLst/>
            </c:spPr>
          </c:marker>
          <c:cat>
            <c:multiLvlStrRef>
              <c:f>Sheet1!$A$2:$A$14</c:f>
              <c:multiLvlStrCache>
                <c:ptCount val="13"/>
                <c:lvl>
                  <c:pt idx="0">
                    <c:v>Awal</c:v>
                  </c:pt>
                  <c:pt idx="1">
                    <c:v>Jan</c:v>
                  </c:pt>
                  <c:pt idx="2">
                    <c:v>Feb</c:v>
                  </c:pt>
                  <c:pt idx="3">
                    <c:v>Mar</c:v>
                  </c:pt>
                  <c:pt idx="4">
                    <c:v>Apr</c:v>
                  </c:pt>
                  <c:pt idx="5">
                    <c:v>Mei</c:v>
                  </c:pt>
                  <c:pt idx="6">
                    <c:v>Jun</c:v>
                  </c:pt>
                  <c:pt idx="7">
                    <c:v>Jul</c:v>
                  </c:pt>
                  <c:pt idx="8">
                    <c:v>Agu</c:v>
                  </c:pt>
                  <c:pt idx="9">
                    <c:v>Sep</c:v>
                  </c:pt>
                  <c:pt idx="10">
                    <c:v>Okt</c:v>
                  </c:pt>
                  <c:pt idx="11">
                    <c:v>Nov</c:v>
                  </c:pt>
                  <c:pt idx="12">
                    <c:v>Des</c:v>
                  </c:pt>
                </c:lvl>
              </c:multiLvlStrCache>
            </c:multiLvlStrRef>
          </c:cat>
          <c:val>
            <c:numRef>
              <c:f>Sheet1!$B$2:$B$14</c:f>
              <c:numCache>
                <c:formatCode>General</c:formatCode>
                <c:ptCount val="13"/>
                <c:pt idx="0">
                  <c:v>1000</c:v>
                </c:pt>
                <c:pt idx="1">
                  <c:v>1003.7</c:v>
                </c:pt>
                <c:pt idx="2">
                  <c:v>1007.5</c:v>
                </c:pt>
                <c:pt idx="3">
                  <c:v>1011.3</c:v>
                </c:pt>
                <c:pt idx="4">
                  <c:v>1015.1</c:v>
                </c:pt>
                <c:pt idx="5">
                  <c:v>1018.9</c:v>
                </c:pt>
                <c:pt idx="6">
                  <c:v>1022.7</c:v>
                </c:pt>
                <c:pt idx="7">
                  <c:v>1026.5</c:v>
                </c:pt>
                <c:pt idx="8">
                  <c:v>1030.4</c:v>
                </c:pt>
                <c:pt idx="9">
                  <c:v>1034.3</c:v>
                </c:pt>
                <c:pt idx="10">
                  <c:v>1038.1</c:v>
                </c:pt>
                <c:pt idx="11">
                  <c:v>1042</c:v>
                </c:pt>
                <c:pt idx="12">
                  <c:v>1045.9</c:v>
                </c:pt>
              </c:numCache>
            </c:numRef>
          </c:val>
          <c:smooth val="0"/>
        </c:ser>
        <c:ser>
          <c:idx val="1"/>
          <c:order val="1"/>
          <c:tx>
            <c:strRef>
              <c:f>Sheet1!$C$1</c:f>
              <c:strCache>
                <c:ptCount val="1"/>
                <c:pt idx="0">
                  <c:v>Reksa dana saham (ilustrasi)</c:v>
                </c:pt>
              </c:strCache>
            </c:strRef>
          </c:tx>
          <c:spPr>
            <a:solidFill>
              <a:srgbClr val="E0625F"/>
            </a:solidFill>
            <a:ln w="38100" cap="flat">
              <a:solidFill>
                <a:srgbClr val="E0625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625F"/>
              </a:solidFill>
              <a:ln w="9525" cap="flat">
                <a:solidFill>
                  <a:srgbClr val="E0625F"/>
                </a:solidFill>
                <a:prstDash val="solid"/>
                <a:round/>
              </a:ln>
              <a:effectLst/>
            </c:spPr>
          </c:marker>
          <c:cat>
            <c:multiLvlStrRef>
              <c:f>Sheet1!$A$2:$A$14</c:f>
              <c:multiLvlStrCache>
                <c:ptCount val="13"/>
                <c:lvl>
                  <c:pt idx="0">
                    <c:v>Awal</c:v>
                  </c:pt>
                  <c:pt idx="1">
                    <c:v>Jan</c:v>
                  </c:pt>
                  <c:pt idx="2">
                    <c:v>Feb</c:v>
                  </c:pt>
                  <c:pt idx="3">
                    <c:v>Mar</c:v>
                  </c:pt>
                  <c:pt idx="4">
                    <c:v>Apr</c:v>
                  </c:pt>
                  <c:pt idx="5">
                    <c:v>Mei</c:v>
                  </c:pt>
                  <c:pt idx="6">
                    <c:v>Jun</c:v>
                  </c:pt>
                  <c:pt idx="7">
                    <c:v>Jul</c:v>
                  </c:pt>
                  <c:pt idx="8">
                    <c:v>Agu</c:v>
                  </c:pt>
                  <c:pt idx="9">
                    <c:v>Sep</c:v>
                  </c:pt>
                  <c:pt idx="10">
                    <c:v>Okt</c:v>
                  </c:pt>
                  <c:pt idx="11">
                    <c:v>Nov</c:v>
                  </c:pt>
                  <c:pt idx="12">
                    <c:v>Des</c:v>
                  </c:pt>
                </c:lvl>
              </c:multiLvlStrCache>
            </c:multiLvlStrRef>
          </c:cat>
          <c:val>
            <c:numRef>
              <c:f>Sheet1!$C$2:$C$14</c:f>
              <c:numCache>
                <c:formatCode>General</c:formatCode>
                <c:ptCount val="13"/>
                <c:pt idx="0">
                  <c:v>1000</c:v>
                </c:pt>
                <c:pt idx="1">
                  <c:v>1032</c:v>
                </c:pt>
                <c:pt idx="2">
                  <c:v>985</c:v>
                </c:pt>
                <c:pt idx="3">
                  <c:v>1010</c:v>
                </c:pt>
                <c:pt idx="4">
                  <c:v>1061</c:v>
                </c:pt>
                <c:pt idx="5">
                  <c:v>1012</c:v>
                </c:pt>
                <c:pt idx="6">
                  <c:v>968</c:v>
                </c:pt>
                <c:pt idx="7">
                  <c:v>1023</c:v>
                </c:pt>
                <c:pt idx="8">
                  <c:v>1078</c:v>
                </c:pt>
                <c:pt idx="9">
                  <c:v>1040</c:v>
                </c:pt>
                <c:pt idx="10">
                  <c:v>1092</c:v>
                </c:pt>
                <c:pt idx="11">
                  <c:v>1069</c:v>
                </c:pt>
                <c:pt idx="12">
                  <c:v>1110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B8C"/>
                </a:solidFill>
                <a:latin typeface="+mn-lt"/>
              </a:defRPr>
            </a:pPr>
            <a:endParaRPr lang="en-US"/>
          </a:p>
        </c:txPr>
        <c:crossAx val="2094734552"/>
        <c:crosses val="autoZero"/>
        <c:auto val="1"/>
        <c:lblAlgn val="ctr"/>
        <c:noMultiLvlLbl val="1"/>
      </c:catAx>
      <c:valAx>
        <c:axId val="2094734552"/>
        <c:scaling>
          <c:orientation val="minMax"/>
          <c:max val="1140"/>
          <c:min val="940"/>
        </c:scaling>
        <c:delete val="0"/>
        <c:axPos val="l"/>
        <c:majorGridlines>
          <c:spPr>
            <a:ln w="6350" cap="flat">
              <a:solidFill>
                <a:srgbClr val="E3EA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E1B2C"/>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2C"/>
                </a:solidFill>
                <a:latin typeface="+mn-lt"/>
              </a:defRPr>
            </a:pPr>
            <a:r>
              <a:rPr sz="1300" b="0" i="0" u="none" strike="noStrike">
                <a:solidFill>
                  <a:srgbClr val="0E1B2C"/>
                </a:solidFill>
                <a:latin typeface="+mn-lt"/>
              </a:rPr>
              <a:t>Perkiraan keuntungan bersih setelah 1 tahun (Rp ribu)</a:t>
            </a:r>
          </a:p>
        </c:rich>
      </c:tx>
      <c:layout/>
      <c:overlay val="0"/>
    </c:title>
    <c:autoTitleDeleted val="0"/>
    <c:plotArea>
      <c:layout/>
      <c:barChart>
        <c:barDir val="col"/>
        <c:grouping val="clustered"/>
        <c:varyColors val="0"/>
        <c:ser>
          <c:idx val="0"/>
          <c:order val="0"/>
          <c:tx>
            <c:strRef>
              <c:f>Sheet1!$B$1</c:f>
              <c:strCache>
                <c:ptCount val="1"/>
                <c:pt idx="0">
                  <c:v>Keuntungan bersih (Rp ribu)</c:v>
                </c:pt>
              </c:strCache>
            </c:strRef>
          </c:tx>
          <c:spPr>
            <a:solidFill>
              <a:srgbClr val="6B7B8C"/>
            </a:solidFill>
            <a:effectLst/>
          </c:spPr>
          <c:invertIfNegative val="0"/>
          <c:dLbls>
            <c:numFmt formatCode="#,##0" sourceLinked="0"/>
            <c:txPr>
              <a:bodyPr/>
              <a:lstStyle/>
              <a:p>
                <a:pPr>
                  <a:defRPr b="0" i="0" strike="noStrike" sz="1400" u="none">
                    <a:solidFill>
                      <a:srgbClr val="0E1B2C"/>
                    </a:solidFill>
                    <a:latin typeface="+mn-lt"/>
                  </a:defRPr>
                </a:pPr>
              </a:p>
            </c:txPr>
            <c:showLegendKey val="0"/>
            <c:showVal val="1"/>
            <c:showCatName val="0"/>
            <c:showSerName val="0"/>
            <c:showPercent val="0"/>
            <c:showBubbleSize val="0"/>
            <c:showLeaderLines val="0"/>
          </c:dLbls>
          <c:dPt>
            <c:idx val="0"/>
            <c:invertIfNegative val="0"/>
            <c:bubble3D val="0"/>
            <c:spPr>
              <a:solidFill>
                <a:srgbClr val="6B7B8C"/>
              </a:solidFill>
              <a:effectLst/>
            </c:spPr>
          </c:dPt>
          <c:dPt>
            <c:idx val="1"/>
            <c:invertIfNegative val="0"/>
            <c:bubble3D val="0"/>
            <c:spPr>
              <a:solidFill>
                <a:srgbClr val="4F7FD9"/>
              </a:solidFill>
              <a:effectLst/>
            </c:spPr>
          </c:dPt>
          <c:dPt>
            <c:idx val="2"/>
            <c:invertIfNegative val="0"/>
            <c:bubble3D val="0"/>
            <c:spPr>
              <a:solidFill>
                <a:srgbClr val="17A589"/>
              </a:solidFill>
              <a:effectLst/>
            </c:spPr>
          </c:dPt>
          <c:cat>
            <c:multiLvlStrRef>
              <c:f>Sheet1!$A$2:$A$4</c:f>
              <c:multiLvlStrCache>
                <c:ptCount val="3"/>
                <c:lvl>
                  <c:pt idx="0">
                    <c:v>Tabungan (0,5% bersih)</c:v>
                  </c:pt>
                  <c:pt idx="1">
                    <c:v>Deposito (3,75% sebelum pajak)</c:v>
                  </c:pt>
                  <c:pt idx="2">
                    <c:v>RDPU (4,5% bersih)</c:v>
                  </c:pt>
                </c:lvl>
              </c:multiLvlStrCache>
            </c:multiLvlStrRef>
          </c:cat>
          <c:val>
            <c:numRef>
              <c:f>Sheet1!$B$2:$B$4</c:f>
              <c:numCache>
                <c:formatCode>General</c:formatCode>
                <c:ptCount val="3"/>
                <c:pt idx="0">
                  <c:v>50</c:v>
                </c:pt>
                <c:pt idx="1">
                  <c:v>300</c:v>
                </c:pt>
                <c:pt idx="2">
                  <c:v>450</c:v>
                </c:pt>
              </c:numCache>
            </c:numRef>
          </c:val>
        </c:ser>
        <c:dLbls>
          <c:numFmt formatCode="#,##0" sourceLinked="0"/>
          <c:txPr>
            <a:bodyPr/>
            <a:lstStyle/>
            <a:p>
              <a:pPr>
                <a:defRPr b="0" i="0" strike="noStrike" sz="1400" u="none">
                  <a:solidFill>
                    <a:srgbClr val="0E1B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E1B2C"/>
                </a:solidFill>
                <a:latin typeface="+mn-lt"/>
              </a:defRPr>
            </a:pPr>
            <a:endParaRPr lang="en-US"/>
          </a:p>
        </c:txPr>
        <c:crossAx val="2094734552"/>
        <c:crosses val="autoZero"/>
        <c:auto val="1"/>
        <c:lblAlgn val="ctr"/>
        <c:noMultiLvlLbl val="1"/>
      </c:catAx>
      <c:valAx>
        <c:axId val="2094734552"/>
        <c:scaling>
          <c:orientation val="minMax"/>
          <c:max val="52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B2C"/>
                </a:solidFill>
                <a:latin typeface="+mn-lt"/>
              </a:defRPr>
            </a:pPr>
            <a:r>
              <a:rPr sz="1300" b="0" i="0" u="none" strike="noStrike">
                <a:solidFill>
                  <a:srgbClr val="0E1B2C"/>
                </a:solidFill>
                <a:latin typeface="+mn-lt"/>
              </a:rPr>
              <a:t>BI Rate akhir bulan, Januari 2024 sampai September 2026 (%)</a:t>
            </a:r>
          </a:p>
        </c:rich>
      </c:tx>
      <c:layout/>
      <c:overlay val="0"/>
    </c:title>
    <c:autoTitleDeleted val="0"/>
    <c:plotArea>
      <c:layout/>
      <c:lineChart>
        <c:varyColors val="0"/>
        <c:ser>
          <c:idx val="0"/>
          <c:order val="0"/>
          <c:tx>
            <c:strRef>
              <c:f>Sheet1!$B$1</c:f>
              <c:strCache>
                <c:ptCount val="1"/>
                <c:pt idx="0">
                  <c:v>BI Rate (%)</c:v>
                </c:pt>
              </c:strCache>
            </c:strRef>
          </c:tx>
          <c:spPr>
            <a:solidFill>
              <a:srgbClr val="17A589"/>
            </a:solidFill>
            <a:ln w="38100" cap="flat">
              <a:solidFill>
                <a:srgbClr val="17A58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7A589"/>
              </a:solidFill>
              <a:ln w="9525" cap="flat">
                <a:solidFill>
                  <a:srgbClr val="17A589"/>
                </a:solidFill>
                <a:prstDash val="solid"/>
                <a:round/>
              </a:ln>
              <a:effectLst/>
            </c:spPr>
          </c:marker>
          <c:cat>
            <c:multiLvlStrRef>
              <c:f>Sheet1!$A$2:$A$34</c:f>
              <c:multiLvlStrCache>
                <c:ptCount val="33"/>
                <c:lvl>
                  <c:pt idx="0">
                    <c:v>Jan 24</c:v>
                  </c:pt>
                  <c:pt idx="1">
                    <c:v>Feb 24</c:v>
                  </c:pt>
                  <c:pt idx="2">
                    <c:v>Mar 24</c:v>
                  </c:pt>
                  <c:pt idx="3">
                    <c:v>Apr 24</c:v>
                  </c:pt>
                  <c:pt idx="4">
                    <c:v>Mei 24</c:v>
                  </c:pt>
                  <c:pt idx="5">
                    <c:v>Jun 24</c:v>
                  </c:pt>
                  <c:pt idx="6">
                    <c:v>Jul 24</c:v>
                  </c:pt>
                  <c:pt idx="7">
                    <c:v>Agu 24</c:v>
                  </c:pt>
                  <c:pt idx="8">
                    <c:v>Sep 24</c:v>
                  </c:pt>
                  <c:pt idx="9">
                    <c:v>Okt 24</c:v>
                  </c:pt>
                  <c:pt idx="10">
                    <c:v>Nov 24</c:v>
                  </c:pt>
                  <c:pt idx="11">
                    <c:v>Des 24</c:v>
                  </c:pt>
                  <c:pt idx="12">
                    <c:v>Jan 25</c:v>
                  </c:pt>
                  <c:pt idx="13">
                    <c:v>Feb 25</c:v>
                  </c:pt>
                  <c:pt idx="14">
                    <c:v>Mar 25</c:v>
                  </c:pt>
                  <c:pt idx="15">
                    <c:v>Apr 25</c:v>
                  </c:pt>
                  <c:pt idx="16">
                    <c:v>Mei 25</c:v>
                  </c:pt>
                  <c:pt idx="17">
                    <c:v>Jun 25</c:v>
                  </c:pt>
                  <c:pt idx="18">
                    <c:v>Jul 25</c:v>
                  </c:pt>
                  <c:pt idx="19">
                    <c:v>Agu 25</c:v>
                  </c:pt>
                  <c:pt idx="20">
                    <c:v>Sep 25</c:v>
                  </c:pt>
                  <c:pt idx="21">
                    <c:v>Okt 25</c:v>
                  </c:pt>
                  <c:pt idx="22">
                    <c:v>Nov 25</c:v>
                  </c:pt>
                  <c:pt idx="23">
                    <c:v>Des 25</c:v>
                  </c:pt>
                  <c:pt idx="24">
                    <c:v>Jan 26</c:v>
                  </c:pt>
                  <c:pt idx="25">
                    <c:v>Feb 26</c:v>
                  </c:pt>
                  <c:pt idx="26">
                    <c:v>Mar 26</c:v>
                  </c:pt>
                  <c:pt idx="27">
                    <c:v>Apr 26</c:v>
                  </c:pt>
                  <c:pt idx="28">
                    <c:v>Mei 26</c:v>
                  </c:pt>
                  <c:pt idx="29">
                    <c:v>Jun 26</c:v>
                  </c:pt>
                  <c:pt idx="30">
                    <c:v>Jul 26</c:v>
                  </c:pt>
                  <c:pt idx="31">
                    <c:v>Agu 26</c:v>
                  </c:pt>
                  <c:pt idx="32">
                    <c:v>Sep 26</c:v>
                  </c:pt>
                </c:lvl>
              </c:multiLvlStrCache>
            </c:multiLvlStrRef>
          </c:cat>
          <c:val>
            <c:numRef>
              <c:f>Sheet1!$B$2:$B$34</c:f>
              <c:numCache>
                <c:formatCode>General</c:formatCode>
                <c:ptCount val="33"/>
                <c:pt idx="0">
                  <c:v>6</c:v>
                </c:pt>
                <c:pt idx="1">
                  <c:v>6</c:v>
                </c:pt>
                <c:pt idx="2">
                  <c:v>6</c:v>
                </c:pt>
                <c:pt idx="3">
                  <c:v>6.25</c:v>
                </c:pt>
                <c:pt idx="4">
                  <c:v>6.25</c:v>
                </c:pt>
                <c:pt idx="5">
                  <c:v>6.25</c:v>
                </c:pt>
                <c:pt idx="6">
                  <c:v>6.25</c:v>
                </c:pt>
                <c:pt idx="7">
                  <c:v>6.25</c:v>
                </c:pt>
                <c:pt idx="8">
                  <c:v>6</c:v>
                </c:pt>
                <c:pt idx="9">
                  <c:v>6</c:v>
                </c:pt>
                <c:pt idx="10">
                  <c:v>6</c:v>
                </c:pt>
                <c:pt idx="11">
                  <c:v>6</c:v>
                </c:pt>
                <c:pt idx="12">
                  <c:v>5.75</c:v>
                </c:pt>
                <c:pt idx="13">
                  <c:v>5.75</c:v>
                </c:pt>
                <c:pt idx="14">
                  <c:v>5.75</c:v>
                </c:pt>
                <c:pt idx="15">
                  <c:v>5.75</c:v>
                </c:pt>
                <c:pt idx="16">
                  <c:v>5.5</c:v>
                </c:pt>
                <c:pt idx="17">
                  <c:v>5.5</c:v>
                </c:pt>
                <c:pt idx="18">
                  <c:v>5.25</c:v>
                </c:pt>
                <c:pt idx="19">
                  <c:v>5</c:v>
                </c:pt>
                <c:pt idx="20">
                  <c:v>4.75</c:v>
                </c:pt>
                <c:pt idx="21">
                  <c:v>4.75</c:v>
                </c:pt>
                <c:pt idx="22">
                  <c:v>4.75</c:v>
                </c:pt>
                <c:pt idx="23">
                  <c:v>4.75</c:v>
                </c:pt>
                <c:pt idx="24">
                  <c:v>4.75</c:v>
                </c:pt>
                <c:pt idx="25">
                  <c:v>4.75</c:v>
                </c:pt>
                <c:pt idx="26">
                  <c:v>4.75</c:v>
                </c:pt>
                <c:pt idx="27">
                  <c:v>4.75</c:v>
                </c:pt>
                <c:pt idx="28">
                  <c:v>5.25</c:v>
                </c:pt>
                <c:pt idx="29">
                  <c:v>5.75</c:v>
                </c:pt>
                <c:pt idx="30">
                  <c:v>5.75</c:v>
                </c:pt>
                <c:pt idx="31">
                  <c:v>5.75</c:v>
                </c:pt>
                <c:pt idx="32">
                  <c:v>5.75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B8C"/>
                </a:solidFill>
                <a:latin typeface="+mn-lt"/>
              </a:defRPr>
            </a:pPr>
            <a:endParaRPr lang="en-US"/>
          </a:p>
        </c:txPr>
        <c:crossAx val="2094734552"/>
        <c:crosses val="autoZero"/>
        <c:auto val="1"/>
        <c:lblAlgn val="ctr"/>
        <c:noMultiLvlLbl val="1"/>
        <c:tickLblSkip val="3"/>
      </c:catAx>
      <c:valAx>
        <c:axId val="2094734552"/>
        <c:scaling>
          <c:orientation val="minMax"/>
          <c:max val="6.5"/>
          <c:min val="4.5"/>
        </c:scaling>
        <c:delete val="0"/>
        <c:axPos val="l"/>
        <c:majorGridlines>
          <c:spPr>
            <a:ln w="6350" cap="flat">
              <a:solidFill>
                <a:srgbClr val="E3EAE7"/>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B8C"/>
                </a:solidFill>
                <a:latin typeface="+mn-lt"/>
              </a:defRPr>
            </a:pPr>
            <a:endParaRPr lang="en-US"/>
          </a:p>
        </c:txPr>
        <c:crossAx val="2094734554"/>
        <c:crosses val="autoZero"/>
        <c:crossBetween val="between"/>
        <c:majorUnit val="0.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Halo semuanya. Hari ini kita bahas satu instrumen yang menurut saya paling pas buat siapa pun yang baru mau mulai investasi: reksa dana pasar uang, biasa disingkat RDPU.
Target saya sederhana. Setelah sesi ini, kalian bisa menjelaskan RDPU ke teman sendiri dengan bahasa kalian, tahu cara menghitung untungnya, dan tahu kapan RDPU tidak cocok dipakai. Materi ini juga bakal kalian pakai lagi waktu giliran kalian mengajar adik tingkat nanti, jadi santai saja dan tanya kapan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kita hari ini. Ada enam bagian. Kita mulai dari alasan kenapa ini perlu dipahami, lalu pengertian, cara kerja, untung dan risikonya, praktik, dan terakhir kuis.
Catatan teknis untuk yang nanti membawakan materi ini: setiap kartu di slide ini bisa diklik saat mode slideshow dan langsung lompat ke bagian itu. Di pojok kanan atas tiap slide juga ada tombol "Daftar isi" untuk kembali ke sini. Jadi kalau ada pertanyaan yang loncat ke topik lain, tinggal klik.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pertama. Sebelum masuk ke definisi, saya mau kita sepakat dulu soal satu hal: uang yang cuma diam itu tidak benar-benar aman, karena nilainya pelan-pelan tergerus kenaikan harga.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Lihat tiga angka ini.
Pertama, BI Rate 5,75%. Ini suku bunga acuan Bank Indonesia. Di RDG 22 sampai 23 September 2026, BI menahannya di 5,75% setelah sebelumnya menaikkan total 100 basis poin di Mei dan Juni 2026. Angka ini penting karena jadi patokan bunga deposito dan surat utang, yang nanti menjadi isi RDPU.
Kedua, 3,75%. Ini tingkat bunga penjaminan LPS untuk simpanan rupiah di bank umum, periode Juli sampai September 2026. Bunga deposito di atas angka ini tidak dijamin LPS.
Ketiga, target inflasi 2,5 plus minus 1 persen. Bayangkan harga seporsi nasi goreng naik dari 15 ribu ke 15.500 dalam setahun. Kalau uang kamu tidak tumbuh, uang 15 ribu tahun depan sudah tidak cukup beli porsi yang sama.
Jadi pertanyaannya: ke mana uang kita taruh supaya tetap aman tapi ikut tumbuh? Salah satu jawaban paling tenang adalah RDPU.
Catatan untuk pembawa materi: angka di slide ini akan berubah. Cek bi.go.id dan lps.go.id sebelum presentasi.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Kalian tidak sendirian. Menurut data KSEI, jumlah investor reksa dana naik dari sekitar 11,42 juta di akhir 2023, ke 14,03 juta di 2024, lalu 19,19 juta di akhir 2025. Sepanjang 2025 saja tumbuh 36,77%.
Per akhir Juli 2026, total investor pasar modal sudah 30,06 juta SID. SID itu nomor identitas tunggal investor, jadi satu orang biasanya punya satu SID.
Yang menarik, lebih dari separuh investor individu berusia 30 tahun ke bawah. Artinya orang seumuran kita justru yang paling banyak masuk. Sayangnya banyak juga yang ikut-ikutan tanpa paham isi produknya. Makanya sesi ini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Masuk ke bagian kedua. Kita bedah dulu apa itu reksa dana secara umum, lalu apa yang membuat versi pasar uang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paling gampang memahami reksa dana adalah dengan analogi patungan.
Bayangkan satu angkatan mau makan enak tapi tidak ada yang bisa masak. Akhirnya semua patungan, lalu menyewa koki profesional. Koki yang menentukan bahan dan cara masak. Hasilnya dibagi sesuai besar iuran masing-masing.
Di reksa dana, kalian dan ribuan investor lain adalah yang patungan. Kokinya adalah Manajer Investasi, perusahaan yang punya izin dari OJK. Bahannya adalah efek: deposito, surat utang negara, obligasi, atau saham, tergantung jenis reksa dananya.
Keuntungannya: modal kecil sudah bisa ikut, dikelola orang yang memang pekerjaannya di situ, dan dananya tersebar di banyak instrumen. Kita tidak perlu jago analisis untuk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definisi resminya. RDPU adalah reksa dana yang 100% asetnya ditempatkan di instrumen pasar uang dalam negeri dan/atau efek bersifat utang yang jatuh temponya, atau sisa jatuh temponya, tidak lebih dari satu tahun. Aturannya ada di POJK 23 tahun 2016 tentang reksa dana berbentuk Kontrak Investasi Kolektif.
Kata kuncinya: maksimal satu tahun. Itu yang membuat RDPU stabil.
Isinya biasanya tiga kelompok. Deposito bank, yang sering jadi porsi terbesar. Surat utang negara jangka pendek, seperti SPN atau sukuk negara bertenor pendek. Lalu obligasi atau sukuk perusahaan yang sisa jatuh temponya di bawah setahun.
Ada juga versi syariah. Isinya deposito syariah dan sukuk, dan diawasi Dewan Pengawas Syariah. Cara kerjanya sama persis.
Tip: komposisi isi tiap produk bisa dilihat di fund fact sheet bulanan.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Secara umum ada empat jenis reksa dana yang paling sering kita temui. Bayangkan seperti tangga.
Paling bawah RDPU, risikonya paling rendah, cocok untuk tujuan di bawah satu tahun. Naik satu tingkat ada reksa dana pendapatan tetap, isinya mayoritas obligasi, cocok untuk satu sampai tiga tahun. Lalu campuran, untuk tiga sampai lima tahun. Paling atas reksa dana saham, untuk di atas lima tahun. Makin ke atas, potensi hasilnya makin besar tapi naik turunnya juga makin tajam.
Horizon waktu ini panduan umum, bukan aturan baku.
Di sebelah kanan ada data KSEI per Juli 2026. Dana kelolaan RDPU sekitar Rp133,58 triliun dari 197 produk. Ini salah satu jenis reksa dana terbesar di Indonesia, di bawah pendapatan tetap dan terproteksi. Jadi RDPU bukan produk pinggiran.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bagian yang sering bikin orang lebih tenang. Ada enam pihak di ekosistem reksa dana.
OJK sebagai regulator. Manajer Investasi sebagai pengelola. Bank Kustodian yang menyimpan aset dan menghitung NAB setiap hari bursa. APERD, yaitu agen penjual, bisa bank atau aplikasi investasi. KSEI yang mencatat kepemilikan unit atas nama SID kita. Dan kita sebagai investor.
Poin pentingnya ada di kotak gelap. Uang kita tidak disimpan di rekening Manajer Investasi. Waktu beli, dana masuk ke rekening reksa dana di Bank Kustodian. Aset reksa dana dicatat terpisah dari harta Manajer Investasi. Jadi kalau perusahaan Manajer Investasinya bermasalah, aset reksa dana bukan bagian dari harta perusahaan itu.
Karena itu, kalau ada yang minta transfer ke rekening pribadi, itu sudah pasti tidak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ketiga. Ini bagian paling teknis, tapi justru paling berguna. Kalau bagian ini paham, kalian bisa membaca aplikasi investasi 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 dua istilah yang wajib dipahami.
NAB, Nilai Aktiva Bersih, adalah total nilai aset reksa dana dikurangi kewajibannya. Unit Penyertaan adalah potongan kue yang kita miliki. Harga satu potong kue disebut NAB per unit, atau NAB/UP, dan diumumkan setiap hari bursa.
Rumusnya: NAB/UP sama dengan NAB total dibagi jumlah unit yang beredar.
Kita coba hitung. Kamu beli satu juta rupiah saat NAB/UP Rp1.500. Unit yang kamu dapat: satu juta dibagi 1.500, hasilnya 666,67 unit.
Setahun kemudian NAB/UP naik 4,5% jadi Rp1.567,50. Unitmu tidak berubah, tetap 666,67. Nilai investasimu: 666,67 kali 1.567,50, sama dengan satu juta empat puluh lima ribu. Untungnya 45 ribu.
Yang perlu diingat: unit tetap, harganya yang bergerak. Jadi kalau di aplikasi saldo kalian naik padahal tidak menambah dana, itu karena NAB/UP naik.
Angka ini ilustrasi, bukan produk tertentu.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kalian buka grafik RDPU di aplikasi, bentuknya hampir selalu garis naik yang mulus. Beda jauh dengan reksa dana saham yang naik turun. Grafik di kiri adalah ilustrasi perbandingannya.
Kenapa bisa begitu? Pertama, bunga deposito dan kupon obligasi diakui sedikit demi sedikit setiap hari, jadi NAB/UP ikut naik pelan. Kedua, isinya bertenor pendek, jadi harganya hampir tidak terpengaruh perubahan suku bunga.
Tapi hati-hati. Mulus bukan berarti tidak bisa turun. Kalau ada penerbit obligasi di dalam portofolio yang gagal bayar, NAB/UP bisa turun. Kejadiannya jarang, tapi pernah terjadi. Ini salah satu alasan kenapa kita perlu cek isi portofolionya.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ada lima langkah.
Satu, pilih produk, baca fund fact sheet dan prospektusnya. Dua, beli. Di dunia reksa dana ini disebut subscription. Ada batas waktu, biasanya pukul 13.00 WIB. Order sebelum jam itu memakai NAB/UP hari itu, setelahnya memakai NAB/UP hari bursa berikutnya. Tiga, unit tercatat atas nama SID kita di KSEI, dan kita dapat konfirmasi transaksi. Empat, pantau nilainya. Lima, jual atau redemption.
Untuk pencairan, aturan OJK bilang dana paling lambat dibayar 7 hari bursa setelah permintaan jual diterima lengkap. Untuk RDPU, dalam praktiknya biasanya cair dalam satu sampai dua hari bursa. Ingat, hari libur dan akhir pekan tidak dihitung, jadi jangan jual di Jumat sore kalau uangnya dibutuhkan Senin pagi.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keempat. Ini bagian yang paling sering disalahpahami, termasuk oleh orang yang sudah lama berinvestasi. Kita bahas pelan-pelan.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pertanyaan yang paling sering muncul.
Dari mana untungnya? Dari bunga deposito dan kupon surat utang yang masuk ke portofolio. Kalian tidak menerima transfer bunga tiap bulan seperti deposito. Untungnya terlihat dari NAB/UP yang naik. Per pertengahan 2026, return satu tahun RDPU umumnya ada di kisaran 4 sampai 5 persen per tahun, tergantung produknya.
Biayanya berapa? Ada biaya pengelolaan Manajer Investasi dan biaya Bank Kustodian. Keduanya dipotong langsung dari NAB, jadi return yang kalian lihat di aplikasi sudah bersih dari biaya itu. Biaya beli dan jual RDPU di banyak aplikasi umumnya nol rupiah, tapi tetap cek prospektus.
Kena pajak? Untuk kita sebagai investor, keuntungan dari reksa dana bukan objek pajak. Dasarnya Undang-Undang PPh Pasal 4 ayat 3. Bukan berarti bebas pajak sama sekali. Pajaknya sudah dipotong di dalam portofolio: bunga deposito kena 20% final, bunga obligasi 10% final sesuai PP 91 tahun 2021. Jadi kita tidak perlu setor pajak lagi.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Supaya lebih jelas, kita bandingkan dengan dua produk yang sudah familiar.
Modal awal: tabungan kecil, deposito umumnya jutaan rupiah, RDPU bisa mulai sekitar sepuluh ribu di banyak aplikasi.
Imbal hasil: tabungan rendah, sering di bawah 1%. Deposito bunganya tetap selama tenor. RDPU mengikuti isi portofolio dan tidak dijamin.
Pajak: bunga tabungan dengan saldo di atas 7,5 juta dan bunga deposito kena 20% final. Untung RDPU bukan objek pajak bagi investor.
Pencairan: tabungan kapan saja. Deposito saat jatuh tempo, kalau dicairkan lebih awal biasanya kena penalti. RDPU bisa dijual kapan saja, dana masuk umumnya satu sampai dua hari bursa.
Dan ini yang paling penting, warna merah: penjaminan LPS. Tabungan dan deposito dijamin LPS sampai dua miliar rupiah per nasabah per bank, selama bunganya tidak melebihi batas LPS. RDPU tidak dijamin LPS. Perlindungannya datang dari pengawasan OJK dan pemisahan aset di Bank Kustodian.
Jadi RDPU bukan pengganti tabungan. Masing-masing punya fungsi.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Biar terasa, kita simulasikan uang sepuluh juta disimpan setahun.
Di tabungan dengan asumsi 0,5% bersih, untungnya sekitar 50 ribu.
Di deposito dengan bunga 3,75%, kotornya 375 ribu. Setelah dipotong pajak 20%, bersihnya 300 ribu.
Di RDPU dengan asumsi 4,5% bersih, untungnya sekitar 450 ribu, tanpa pajak tambahan.
Tolong digarisbawahi: ini ilustrasi dengan asumsi tetap. Return RDPU bisa lebih tinggi atau lebih rendah dan tidak dijamin. Tujuan simulasi ini supaya kalian paham efek pajak dan selisih imbal hasil, bukan menjanjikan angka.
Kalau mau coba angka sendiri, buka simulator interaktif. Kalian bisa ubah nominal, setoran bulanan, lama investasi, dan asumsi bunganya.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RDPU itu risikonya rendah, tapi bukan nol. Ada enam yang perlu kalian tahu.
Satu, imbal hasilnya tidak pasti. Saat suku bunga turun, return RDPU ikut turun pelan-pelan.
Dua, risiko gagal bayar. Kalau ada perusahaan penerbit obligasi di portofolio yang tidak bisa bayar, NAB/UP bisa turun.
Tiga, risiko likuiditas. Kalau banyak investor menjual bersamaan dalam jumlah besar, Manajer Investasi harus menjual aset lebih cepat.
Empat, tidak dijamin LPS. Ini sudah kita bahas.
Lima, pembubaran. Menurut POJK 23 tahun 2016, reksa dana wajib dibubarkan kalau NAB-nya di bawah sepuluh miliar rupiah selama 120 hari bursa berturut-turut. Kalau bubar, uang kita tidak hilang. Asetnya dilikuidasi dan dibagikan sesuai porsi unit. Tapi tetap merepotkan, makanya pilih produk dengan dana kelolaan besar.
Enam, perubahan aturan, misalnya tarif pajak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kaitkan dengan kondisi sekarang, karena ini relevan banget.
Sepanjang 2025, BI memangkas suku bunga lima kali, dari 6% ke 4,75%. Waktu itu return RDPU ikut melandai.
Lalu di Mei sampai Juni 2026 arahnya berbalik. BI menaikkan BI Rate total 100 basis poin ke 5,75% untuk menjaga stabilitas rupiah, dan menahannya sampai RDG September 2026.
Apa artinya buat RDPU? Isi RDPU jatuh temponya pendek. Setiap kali deposito atau surat utangnya jatuh tempo, Manajer Investasi menempatkan ulang dananya di instrumen baru yang bunganya sudah lebih tinggi. Jadi return RDPU cenderung ikut naik, dengan jeda waktu.
Bandingkan dengan reksa dana pendapatan tetap. Saat suku bunga naik, harga obligasi yang tenornya panjang justru turun, jadi NAB/UP-nya bisa tertekan. RDPU hampir tidak kena efek ini karena tenornya pendek.
Pelajarannya: tidak ada instrumen yang selalu paling bagus. Kondisi suku bunga mengubah siapa yang diuntungkan.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kelima. Dari teori ke praktik: cara memilih produk, mengenali investasi bodong, dan cara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membeli, cek enam hal ini.
Legalitas: Manajer Investasi dan aplikasi penjualnya harus terdaftar dan diawasi OJK.
Dana kelolaan: pilih yang besar dan stabil, jauh di atas batas bubar sepuluh miliar.
Konsistensi kinerja: lihat return satu tahun dan tiga tahun. Produk yang stabil lebih penting daripada yang paling tinggi sesaat. Kadang return tinggi datang dari menaruh dana di surat utang yang risikonya lebih besar.
Isi portofolio: baca fund fact sheet. Lihat dananya ditaruh di bank atau perusahaan mana saja.
Biaya dan pencairan: berapa biaya pengelolaannya, ada biaya beli dan jual atau tidak, dan berapa hari dana cair.
Terakhir, konvensional atau syariah. Itu pilihan pribadi, prinsip kerjanya mirip.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slide yang paling saya harap kalian ingat.
Reksa dana tidak boleh menjanjikan imbal hasil pasti. Ada kasus nyatanya. November 2019, OJK memerintahkan PT Minna Padi Aset Manajemen membubarkan enam reksa dananya, dengan total dana kelolaan sekitar enam triliun rupiah. Salah satu alasannya karena produknya dipasarkan dengan janji imbal hasil pasti. Banyak investornya rugi.
Tanda bahaya yang perlu dihafal: ada janji untung tetap dan tinggi, diminta transfer ke rekening pribadi, dan perusahaannya tidak terdaftar di OJK.
Yang bisa kalian lakukan: cek legalitas di situs OJK atau telepon Kontak OJK 157. Kalau menemukan tawaran mencurigakan, laporkan ke Satgas PASTI.
Kalau ada teman yang bilang "RDPU ini pasti 10% setahun", kalian sekarang tahu itu tidak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Cara mulainya cukup lima langkah.
Siapkan KTP dan rekening bank atas nama sendiri. NPWP kalau punya. Pilih APERD, bisa bank atau aplikasi investasi, yang terdaftar di OJK. Isi profil risiko dengan jujur, jangan asal klik supaya cepat. Lakukan pembelian pertama, banyak aplikasi menerima mulai sepuluh ribu rupiah. Lalu rutin tambah dan cek konfirmasi transaksi.
Untuk kita yang masih mahasiswa, beberapa tips. Sisihkan di awal waktu uang bulanan masuk, bukan dari sisa. Lima puluh sampai seratus ribu per bulan sudah cukup untuk membangun kebiasaan. Pisahkan dana darurat dari uang jajan. Dan jangan pernah investasi pakai uang pinjaman, termasuk paylater.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RDPU tepat untuk empat hal. Dana darurat, karena bisa cair cepat dan stabil. Tujuan di bawah satu tahun, misalnya biaya KKN, beli laptop, atau UKT semester depan. Tempat parkir sementara sebelum dana dipindah ke instrumen lain. Dan sebagai tempat belajar investasi dengan risiko kecil.
Tapi RDPU kurang tepat untuk tujuan di atas lima tahun, seperti dana pensiun, karena return-nya bisa kalah jauh dari instrumen yang lebih agresif. Juga tidak cocok untuk mengejar untung besar dalam waktu singkat, dan bukan pengganti tabungan untuk transaksi harian, karena pencairannya butuh satu sampai dua hari bursa.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bagian yang paling seru, kuis. Ada tiga soal. Untuk yang membawakan: biarkan peserta diskusi dulu sekitar 30 detik, minta mereka angkat tangan untuk tiap pilihan, baru klik salah satu jawaban untuk membuka pembahasan.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Soal pertama. RDPU hanya boleh membeli efek utang yang jatuh tempo atau sisa jatuh temponya maksimal berapa lama? Pilihannya 3 tahun, 1 tahun, atau 5 tahun. Silakan diskusi, lalu pilih.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Jawabannya B, satu tahun. Batas tenor pendek inilah yang membuat NAB/UP RDPU stabil. Kalau tenornya panjang, harganya akan lebih sensitif terhadap perubahan suku bunga, dan itu sudah masuk wilayah reksa dana pendapatan tetap.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Soal kedua, hitungan. Kamu beli RDPU satu juta rupiah saat NAB/UP Rp1.250. Berapa unit yang kamu dapat? Boleh pakai kalkulator di HP.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Jawabannya A, 800 unit. Rumusnya nominal beli dibagi NAB/UP. Satu juta dibagi 1.250 sama dengan 800. Kalau besok NAB/UP naik ke 1.260, nilai investasimu jadi 800 kali 1.260, yaitu satu juta delapan ribu.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Soal terakhir. Mana pernyataan yang benar tentang RDPU? A, dijamin LPS seperti deposito. B, untung yang diterima investor bukan objek pajak. C, menjamin return tetap 6% per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Jawabannya B. Pilihan A salah karena RDPU tidak dijamin LPS. Pilihan C salah karena reksa dana tidak boleh menjanjikan return tetap. Ingat kasus Minna Padi tadi. Untuk B, pajaknya sudah dipotong di dalam portofolio, jadi investor tidak perlu bayar pajak lagi atas keuntungannya.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Kita tutup dengan enam hal yang perlu diingat.
Satu, RDPU menaruh seluruh dananya di instrumen pasar uang dan surat utang bertenor maksimal satu tahun. Dua, nilai investasi sama dengan jumlah unit kali NAB/UP. Tiga, untung bagi investor bukan objek pajak, dan biaya sudah dipotong dari NAB. Empat, risikonya rendah tapi bukan nol, dan tidak dijamin LPS. Lima, cocok untuk dana darurat dan tujuan di bawah satu tahun. Enam, beli hanya lewat pihak yang terdaftar di OJK.
Kalau kalian bisa menjelaskan enam poin ini ke orang lain, berarti sesi hari ini berhasil.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daftar sumber yang saya pakai, dari regulasi, data resmi KSEI, BI, dan LPS, sampai bahan belajar mandiri dari OJK.
Pesan untuk yang meneruskan materi ini: data suku bunga dan statistik pasar berubah terus. Sebelum membawakan materi ini lagi, perbarui slide 4, 5, 9, dan 20 dengan angka terbaru.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Terima kasih sudah mengikuti sampai akhir. Satu kalimat yang saya harap kalian bawa pulang: mulai kecil, yang penting paham. Investasi terbaik untuk pemula adalah yang kalian mengerti cara kerjanya.
Sekarang saya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2" type="title" hasCustomPrompt="1"/>
          </p:nvPr>
        </p:nvSpPr>
        <p:spPr>
          <a:xfrm>
            <a:off x="731520" y="2103120"/>
            <a:ext cx="8412480" cy="17373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3" type="body" hasCustomPrompt="1"/>
          </p:nvPr>
        </p:nvSpPr>
        <p:spPr>
          <a:xfrm>
            <a:off x="731520" y="3977640"/>
            <a:ext cx="7772400" cy="91440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731520" y="2834640"/>
            <a:ext cx="8229600" cy="118872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3" name="Text 0"/>
          <p:cNvSpPr/>
          <p:nvPr>
            <p:ph idx="102" type="body" hasCustomPrompt="1"/>
          </p:nvPr>
        </p:nvSpPr>
        <p:spPr>
          <a:xfrm>
            <a:off x="731520" y="4069080"/>
            <a:ext cx="7680960" cy="91440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4" name="Text 0"/>
          <p:cNvSpPr/>
          <p:nvPr/>
        </p:nvSpPr>
        <p:spPr>
          <a:xfrm>
            <a:off x="731520" y="63550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Reksa Dana Pasar Uang  |  Materi Regenerasi Divisi</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Reksa Dana Pasar Uang  |  Materi Regenerasi Divisi</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rtlCol="0"/>
          <a:lstStyle>
            <a:lvl1pPr algn="l" indent="0" marL="0">
              <a:buNone/>
              <a:defRPr lang="en-US" sz="2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Reksa Dana Pasar Uang  |  Materi Regenerasi Divisi</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4" Type="http://schemas.openxmlformats.org/officeDocument/2006/relationships/slide" Target="slide6.xml"/><Relationship Id="rId6" Type="http://schemas.openxmlformats.org/officeDocument/2006/relationships/slide" Target="slide11.xml"/><Relationship Id="rId8" Type="http://schemas.openxmlformats.org/officeDocument/2006/relationships/slide" Target="slide15.xml"/><Relationship Id="rId10" Type="http://schemas.openxmlformats.org/officeDocument/2006/relationships/slide" Target="slide21.xml"/><Relationship Id="rId12" Type="http://schemas.openxmlformats.org/officeDocument/2006/relationships/slide" Target="slide26.xml"/><Relationship Id="rId1" Type="http://schemas.openxmlformats.org/officeDocument/2006/relationships/image" Target="../media/image-2-1.png"/><Relationship Id="rId3" Type="http://schemas.openxmlformats.org/officeDocument/2006/relationships/image" Target="../media/image-2-2.png"/><Relationship Id="rId5" Type="http://schemas.openxmlformats.org/officeDocument/2006/relationships/image" Target="../media/image-2-3.png"/><Relationship Id="rId7" Type="http://schemas.openxmlformats.org/officeDocument/2006/relationships/image" Target="../media/image-2-4.png"/><Relationship Id="rId9" Type="http://schemas.openxmlformats.org/officeDocument/2006/relationships/image" Target="../media/image-2-5.png"/><Relationship Id="rId11" Type="http://schemas.openxmlformats.org/officeDocument/2006/relationships/image" Target="../media/image-2-6.png"/><Relationship Id="rId13" Type="http://schemas.openxmlformats.org/officeDocument/2006/relationships/slideLayout" Target="../slideLayouts/slideLayout4.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image" Target="../media/image-10-3.png"/><Relationship Id="rId5" Type="http://schemas.openxmlformats.org/officeDocument/2006/relationships/image" Target="../media/image-10-4.png"/><Relationship Id="rId6" Type="http://schemas.openxmlformats.org/officeDocument/2006/relationships/image" Target="../media/image-10-5.png"/><Relationship Id="rId7" Type="http://schemas.openxmlformats.org/officeDocument/2006/relationships/image" Target="../media/image-10-6.png"/><Relationship Id="rId8" Type="http://schemas.openxmlformats.org/officeDocument/2006/relationships/image" Target="../media/image-10-7.png"/><Relationship Id="rId9" Type="http://schemas.openxmlformats.org/officeDocument/2006/relationships/slideLayout" Target="../slideLayouts/slideLayout4.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3.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13-3.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4-1.png"/><Relationship Id="rId3" Type="http://schemas.openxmlformats.org/officeDocument/2006/relationships/image" Target="../media/image-14-2.png"/><Relationship Id="rId4" Type="http://schemas.openxmlformats.org/officeDocument/2006/relationships/image" Target="../media/image-14-3.png"/><Relationship Id="rId5" Type="http://schemas.openxmlformats.org/officeDocument/2006/relationships/image" Target="../media/image-14-4.png"/><Relationship Id="rId6" Type="http://schemas.openxmlformats.org/officeDocument/2006/relationships/image" Target="../media/image-14-5.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slideLayout" Target="../slideLayouts/slideLayout4.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hyperlink" Target="https://claude.ai/artifact/QEUjJGPD1UwHg6583YhHyq" TargetMode="External"/><Relationship Id="rId2" Type="http://schemas.openxmlformats.org/officeDocument/2006/relationships/chart" Target="/ppt/charts/chart4.xml"/><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image" Target="../media/image-19-3.png"/><Relationship Id="rId5" Type="http://schemas.openxmlformats.org/officeDocument/2006/relationships/image" Target="../media/image-19-4.png"/><Relationship Id="rId6" Type="http://schemas.openxmlformats.org/officeDocument/2006/relationships/image" Target="../media/image-19-5.png"/><Relationship Id="rId7" Type="http://schemas.openxmlformats.org/officeDocument/2006/relationships/image" Target="../media/image-19-6.png"/><Relationship Id="rId8" Type="http://schemas.openxmlformats.org/officeDocument/2006/relationships/slideLayout" Target="../slideLayouts/slideLayout4.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5.xm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2-1.png"/><Relationship Id="rId3" Type="http://schemas.openxmlformats.org/officeDocument/2006/relationships/image" Target="../media/image-22-2.png"/><Relationship Id="rId4" Type="http://schemas.openxmlformats.org/officeDocument/2006/relationships/image" Target="../media/image-22-3.png"/><Relationship Id="rId5" Type="http://schemas.openxmlformats.org/officeDocument/2006/relationships/image" Target="../media/image-22-4.png"/><Relationship Id="rId6" Type="http://schemas.openxmlformats.org/officeDocument/2006/relationships/image" Target="../media/image-22-5.png"/><Relationship Id="rId7" Type="http://schemas.openxmlformats.org/officeDocument/2006/relationships/image" Target="../media/image-22-6.png"/><Relationship Id="rId8" Type="http://schemas.openxmlformats.org/officeDocument/2006/relationships/slideLayout" Target="../slideLayouts/slideLayout4.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image" Target="../media/image-23-6.png"/><Relationship Id="rId8" Type="http://schemas.openxmlformats.org/officeDocument/2006/relationships/slideLayout" Target="../slideLayouts/slideLayout5.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image" Target="../media/image-24-4.png"/><Relationship Id="rId6" Type="http://schemas.openxmlformats.org/officeDocument/2006/relationships/image" Target="../media/image-24-5.png"/><Relationship Id="rId7" Type="http://schemas.openxmlformats.org/officeDocument/2006/relationships/image" Target="../media/image-24-6.png"/><Relationship Id="rId8" Type="http://schemas.openxmlformats.org/officeDocument/2006/relationships/slideLayout" Target="../slideLayouts/slideLayout4.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image" Target="../media/image-25-3.png"/><Relationship Id="rId5" Type="http://schemas.openxmlformats.org/officeDocument/2006/relationships/image" Target="../media/image-25-4.png"/><Relationship Id="rId6" Type="http://schemas.openxmlformats.org/officeDocument/2006/relationships/slideLayout" Target="../slideLayouts/slideLayout4.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28.xml"/><Relationship Id="rId3" Type="http://schemas.openxmlformats.org/officeDocument/2006/relationships/slide" Target="slide28.xml"/><Relationship Id="rId4" Type="http://schemas.openxmlformats.org/officeDocument/2006/relationships/slide" Target="slide28.xml"/><Relationship Id="rId5" Type="http://schemas.openxmlformats.org/officeDocument/2006/relationships/image" Target="../media/image-27-1.png"/><Relationship Id="rId6" Type="http://schemas.openxmlformats.org/officeDocument/2006/relationships/slideLayout" Target="../slideLayouts/slideLayout5.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9.xml"/><Relationship Id="rId4" Type="http://schemas.openxmlformats.org/officeDocument/2006/relationships/slide" Target="slide27.xml"/><Relationship Id="rId2" Type="http://schemas.openxmlformats.org/officeDocument/2006/relationships/image" Target="../media/image-28-1.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0.xml"/><Relationship Id="rId3" Type="http://schemas.openxmlformats.org/officeDocument/2006/relationships/slide" Target="slide30.xml"/><Relationship Id="rId4" Type="http://schemas.openxmlformats.org/officeDocument/2006/relationships/slide" Target="slide30.xml"/><Relationship Id="rId5" Type="http://schemas.openxmlformats.org/officeDocument/2006/relationships/image" Target="../media/image-29-1.png"/><Relationship Id="rId6" Type="http://schemas.openxmlformats.org/officeDocument/2006/relationships/slideLayout" Target="../slideLayouts/slideLayout5.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31.xml"/><Relationship Id="rId4" Type="http://schemas.openxmlformats.org/officeDocument/2006/relationships/slide" Target="slide29.xml"/><Relationship Id="rId2" Type="http://schemas.openxmlformats.org/officeDocument/2006/relationships/image" Target="../media/image-30-1.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image" Target="../media/image-31-1.png"/><Relationship Id="rId6" Type="http://schemas.openxmlformats.org/officeDocument/2006/relationships/slideLayout" Target="../slideLayouts/slideLayout5.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33.xml"/><Relationship Id="rId4" Type="http://schemas.openxmlformats.org/officeDocument/2006/relationships/slide" Target="slide31.xml"/><Relationship Id="rId2" Type="http://schemas.openxmlformats.org/officeDocument/2006/relationships/image" Target="../media/image-32-1.png"/><Relationship Id="rId5" Type="http://schemas.openxmlformats.org/officeDocument/2006/relationships/slideLayout" Target="../slideLayouts/slideLayout4.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7315200" cy="365760"/>
          </a:xfrm>
          <a:prstGeom prst="rect">
            <a:avLst/>
          </a:prstGeom>
          <a:noFill/>
          <a:ln/>
        </p:spPr>
        <p:txBody>
          <a:bodyPr wrap="square" lIns="0" tIns="0" rIns="0" bIns="0" rtlCol="0" anchor="t"/>
          <a:lstStyle/>
          <a:p>
            <a:pPr indent="0" marL="0">
              <a:buNone/>
            </a:pPr>
            <a:r>
              <a:rPr lang="en-US" sz="1300" b="1" spc="300" kern="0" dirty="0">
                <a:solidFill>
                  <a:schemeClr val="accent2"/>
                </a:solidFill>
              </a:rPr>
              <a:t>MATERI REGENERASI DIVISI  |  OKTOBER 2026</a:t>
            </a:r>
            <a:endParaRPr lang="en-US" sz="1300" dirty="0"/>
          </a:p>
        </p:txBody>
      </p:sp>
      <p:sp>
        <p:nvSpPr>
          <p:cNvPr id="3" name="Text 0"/>
          <p:cNvSpPr/>
          <p:nvPr>
            <p:ph idx="102" type="title" hasCustomPrompt="1"/>
          </p:nvPr>
        </p:nvSpPr>
        <p:spPr>
          <a:xfrm>
            <a:off x="731520" y="2103120"/>
            <a:ext cx="8412480" cy="17373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Reksa Dana Pasar Uang</a:t>
            </a:r>
            <a:endParaRPr lang="en-US" sz="4800" dirty="0"/>
          </a:p>
        </p:txBody>
      </p:sp>
      <p:sp>
        <p:nvSpPr>
          <p:cNvPr id="4" name="Text 0"/>
          <p:cNvSpPr/>
          <p:nvPr>
            <p:ph idx="103" type="body" hasCustomPrompt="1"/>
          </p:nvPr>
        </p:nvSpPr>
        <p:spPr>
          <a:xfrm>
            <a:off x="731520" y="3977640"/>
            <a:ext cx="7772400" cy="914400"/>
          </a:xfrm>
          <a:prstGeom prst="rect">
            <a:avLst/>
          </a:prstGeom>
          <a:noFill/>
          <a:ln/>
        </p:spPr>
        <p:txBody>
          <a:bodyPr wrap="square" lIns="0" tIns="0" rIns="0" bIns="0" rtlCol="0" anchor="t"/>
          <a:lstStyle/>
          <a:p>
            <a:pPr indent="0" marL="0">
              <a:buNone/>
            </a:pPr>
            <a:r>
              <a:rPr lang="en-US" sz="2000" dirty="0">
                <a:solidFill>
                  <a:schemeClr val="accent6"/>
                </a:solidFill>
              </a:rPr>
              <a:t>Cara paling tenang untuk mulai berinvestasi: apa isinya, bagaimana cara kerjanya, dan apa risikonya.</a:t>
            </a:r>
            <a:endParaRPr lang="en-US" sz="2000" dirty="0"/>
          </a:p>
        </p:txBody>
      </p:sp>
      <p:sp>
        <p:nvSpPr>
          <p:cNvPr id="5" name="Koin lingkaran"/>
          <p:cNvSpPr/>
          <p:nvPr/>
        </p:nvSpPr>
        <p:spPr>
          <a:xfrm>
            <a:off x="9646920" y="685800"/>
            <a:ext cx="1463040" cy="1463040"/>
          </a:xfrm>
          <a:prstGeom prst="ellipse">
            <a:avLst/>
          </a:prstGeom>
          <a:solidFill>
            <a:schemeClr val="accent2"/>
          </a:solidFill>
          <a:ln w="12700">
            <a:solidFill>
              <a:schemeClr val="accent2"/>
            </a:solidFill>
            <a:prstDash val="solid"/>
          </a:ln>
        </p:spPr>
      </p:sp>
      <p:pic>
        <p:nvPicPr>
          <p:cNvPr id="6" name="Koin ikon" descr="preencoded.png">    </p:cNvPr>
          <p:cNvPicPr>
            <a:picLocks noChangeAspect="1"/>
          </p:cNvPicPr>
          <p:nvPr/>
        </p:nvPicPr>
        <p:blipFill>
          <a:blip r:embed="rId1"/>
          <a:stretch>
            <a:fillRect/>
          </a:stretch>
        </p:blipFill>
        <p:spPr>
          <a:xfrm>
            <a:off x="10012680" y="1051560"/>
            <a:ext cx="731520" cy="731520"/>
          </a:xfrm>
          <a:prstGeom prst="rect">
            <a:avLst/>
          </a:prstGeom>
        </p:spPr>
      </p:pic>
      <p:sp>
        <p:nvSpPr>
          <p:cNvPr id="7" name="Text 4"/>
          <p:cNvSpPr txBox="1"/>
          <p:nvPr/>
        </p:nvSpPr>
        <p:spPr>
          <a:xfrm>
            <a:off x="731520" y="6035040"/>
            <a:ext cx="7315200" cy="320040"/>
          </a:xfrm>
          <a:prstGeom prst="rect">
            <a:avLst/>
          </a:prstGeom>
          <a:noFill/>
          <a:ln/>
        </p:spPr>
        <p:txBody>
          <a:bodyPr wrap="square" lIns="0" tIns="0" rIns="0" bIns="0" rtlCol="0" anchor="t"/>
          <a:lstStyle/>
          <a:p>
            <a:pPr indent="0" marL="0">
              <a:buNone/>
            </a:pPr>
            <a:r>
              <a:rPr lang="en-US" sz="1100" dirty="0">
                <a:solidFill>
                  <a:schemeClr val="accent5"/>
                </a:solidFill>
              </a:rPr>
              <a:t>Klik "Daftar isi" di pojok kanan atas tiap slide untuk berpindah bagian.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Daftar isi</a:t>
            </a:r>
            <a:endParaRPr lang="en-US" sz="2800" dirty="0"/>
          </a:p>
        </p:txBody>
      </p:sp>
      <p:sp>
        <p:nvSpPr>
          <p:cNvPr id="3" name="Text 1"/>
          <p:cNvSpPr txBox="1"/>
          <p:nvPr/>
        </p:nvSpPr>
        <p:spPr>
          <a:xfrm>
            <a:off x="548640" y="1097280"/>
            <a:ext cx="9144000" cy="365760"/>
          </a:xfrm>
          <a:prstGeom prst="rect">
            <a:avLst/>
          </a:prstGeom>
          <a:noFill/>
          <a:ln/>
        </p:spPr>
        <p:txBody>
          <a:bodyPr wrap="square" lIns="0" tIns="0" rIns="0" bIns="0" rtlCol="0" anchor="t"/>
          <a:lstStyle/>
          <a:p>
            <a:pPr indent="0" marL="0">
              <a:buNone/>
            </a:pPr>
            <a:r>
              <a:rPr lang="en-US" sz="1400" dirty="0">
                <a:solidFill>
                  <a:schemeClr val="accent5"/>
                </a:solidFill>
              </a:rPr>
              <a:t>Klik salah satu kartu untuk langsung lompat ke bagian itu.</a:t>
            </a:r>
            <a:endParaRPr lang="en-US" sz="1400" dirty="0"/>
          </a:p>
        </p:txBody>
      </p:sp>
      <p:sp>
        <p:nvSpPr>
          <p:cNvPr id="4" name="Kartu agenda 01"/>
          <p:cNvSpPr/>
          <p:nvPr/>
        </p:nvSpPr>
        <p:spPr>
          <a:xfrm>
            <a:off x="548640" y="169164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Agenda 01 lingkaran"/>
          <p:cNvSpPr/>
          <p:nvPr/>
        </p:nvSpPr>
        <p:spPr>
          <a:xfrm>
            <a:off x="822960" y="1965960"/>
            <a:ext cx="685800" cy="685800"/>
          </a:xfrm>
          <a:prstGeom prst="ellipse">
            <a:avLst/>
          </a:prstGeom>
          <a:solidFill>
            <a:schemeClr val="accent1"/>
          </a:solidFill>
          <a:ln w="12700">
            <a:solidFill>
              <a:schemeClr val="accent1"/>
            </a:solidFill>
            <a:prstDash val="solid"/>
          </a:ln>
        </p:spPr>
      </p:sp>
      <p:pic>
        <p:nvPicPr>
          <p:cNvPr id="6" name="Agenda 01 ikon" descr="preencoded.png">    </p:cNvPr>
          <p:cNvPicPr>
            <a:picLocks noChangeAspect="1"/>
          </p:cNvPicPr>
          <p:nvPr/>
        </p:nvPicPr>
        <p:blipFill>
          <a:blip r:embed="rId1"/>
          <a:stretch>
            <a:fillRect/>
          </a:stretch>
        </p:blipFill>
        <p:spPr>
          <a:xfrm>
            <a:off x="994410" y="2137410"/>
            <a:ext cx="342900" cy="342900"/>
          </a:xfrm>
          <a:prstGeom prst="rect">
            <a:avLst/>
          </a:prstGeom>
        </p:spPr>
      </p:pic>
      <p:sp>
        <p:nvSpPr>
          <p:cNvPr id="7" name="Text 4"/>
          <p:cNvSpPr txBox="1"/>
          <p:nvPr/>
        </p:nvSpPr>
        <p:spPr>
          <a:xfrm>
            <a:off x="2926080" y="196596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01</a:t>
            </a:r>
            <a:endParaRPr lang="en-US" sz="2800" dirty="0"/>
          </a:p>
        </p:txBody>
      </p:sp>
      <p:sp>
        <p:nvSpPr>
          <p:cNvPr id="8" name="Link agenda 01"/>
          <p:cNvSpPr txBox="1"/>
          <p:nvPr/>
        </p:nvSpPr>
        <p:spPr>
          <a:xfrm>
            <a:off x="822960" y="274320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2" action="ppaction://hlinksldjump" tooltip="Buka bagian 01">
                  <a:extLst>
                    <a:ext uri="{A12FA001-AC4F-418D-AE19-62706E023703}">
                      <ahyp:hlinkClr xmlns:ahyp="http://schemas.microsoft.com/office/drawing/2018/hyperlinkcolor" val="tx"/>
                    </a:ext>
                  </a:extLst>
                </a:hlinkClick>
              </a:rPr>
              <a:t>Kenapa kita perlu paham</a:t>
            </a:r>
            <a:endParaRPr lang="en-US" sz="1500" dirty="0"/>
          </a:p>
        </p:txBody>
      </p:sp>
      <p:sp>
        <p:nvSpPr>
          <p:cNvPr id="9" name="Text 6"/>
          <p:cNvSpPr txBox="1"/>
          <p:nvPr/>
        </p:nvSpPr>
        <p:spPr>
          <a:xfrm>
            <a:off x="822960" y="315468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Uang diam vs uang bekerja, dan data investor muda</a:t>
            </a:r>
            <a:endParaRPr lang="en-US" sz="1200" dirty="0"/>
          </a:p>
        </p:txBody>
      </p:sp>
      <p:sp>
        <p:nvSpPr>
          <p:cNvPr id="10" name="Kartu agenda 02"/>
          <p:cNvSpPr/>
          <p:nvPr/>
        </p:nvSpPr>
        <p:spPr>
          <a:xfrm>
            <a:off x="4297680" y="169164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Agenda 02 lingkaran"/>
          <p:cNvSpPr/>
          <p:nvPr/>
        </p:nvSpPr>
        <p:spPr>
          <a:xfrm>
            <a:off x="4572000" y="1965960"/>
            <a:ext cx="685800" cy="685800"/>
          </a:xfrm>
          <a:prstGeom prst="ellipse">
            <a:avLst/>
          </a:prstGeom>
          <a:solidFill>
            <a:schemeClr val="accent1"/>
          </a:solidFill>
          <a:ln w="12700">
            <a:solidFill>
              <a:schemeClr val="accent1"/>
            </a:solidFill>
            <a:prstDash val="solid"/>
          </a:ln>
        </p:spPr>
      </p:sp>
      <p:pic>
        <p:nvPicPr>
          <p:cNvPr id="12" name="Agenda 02 ikon" descr="preencoded.png">    </p:cNvPr>
          <p:cNvPicPr>
            <a:picLocks noChangeAspect="1"/>
          </p:cNvPicPr>
          <p:nvPr/>
        </p:nvPicPr>
        <p:blipFill>
          <a:blip r:embed="rId3"/>
          <a:stretch>
            <a:fillRect/>
          </a:stretch>
        </p:blipFill>
        <p:spPr>
          <a:xfrm>
            <a:off x="4743450" y="2137410"/>
            <a:ext cx="342900" cy="342900"/>
          </a:xfrm>
          <a:prstGeom prst="rect">
            <a:avLst/>
          </a:prstGeom>
        </p:spPr>
      </p:pic>
      <p:sp>
        <p:nvSpPr>
          <p:cNvPr id="13" name="Text 9"/>
          <p:cNvSpPr txBox="1"/>
          <p:nvPr/>
        </p:nvSpPr>
        <p:spPr>
          <a:xfrm>
            <a:off x="6675120" y="196596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02</a:t>
            </a:r>
            <a:endParaRPr lang="en-US" sz="2800" dirty="0"/>
          </a:p>
        </p:txBody>
      </p:sp>
      <p:sp>
        <p:nvSpPr>
          <p:cNvPr id="14" name="Link agenda 02"/>
          <p:cNvSpPr txBox="1"/>
          <p:nvPr/>
        </p:nvSpPr>
        <p:spPr>
          <a:xfrm>
            <a:off x="4572000" y="274320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4" action="ppaction://hlinksldjump" tooltip="Buka bagian 02">
                  <a:extLst>
                    <a:ext uri="{A12FA001-AC4F-418D-AE19-62706E023703}">
                      <ahyp:hlinkClr xmlns:ahyp="http://schemas.microsoft.com/office/drawing/2018/hyperlinkcolor" val="tx"/>
                    </a:ext>
                  </a:extLst>
                </a:hlinkClick>
              </a:rPr>
              <a:t>Mengenal RDPU</a:t>
            </a:r>
            <a:endParaRPr lang="en-US" sz="1500" dirty="0"/>
          </a:p>
        </p:txBody>
      </p:sp>
      <p:sp>
        <p:nvSpPr>
          <p:cNvPr id="15" name="Text 11"/>
          <p:cNvSpPr txBox="1"/>
          <p:nvPr/>
        </p:nvSpPr>
        <p:spPr>
          <a:xfrm>
            <a:off x="4572000" y="315468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Definisi resmi, isi portofolio, pihak yang terlibat</a:t>
            </a:r>
            <a:endParaRPr lang="en-US" sz="1200" dirty="0"/>
          </a:p>
        </p:txBody>
      </p:sp>
      <p:sp>
        <p:nvSpPr>
          <p:cNvPr id="16" name="Kartu agenda 03"/>
          <p:cNvSpPr/>
          <p:nvPr/>
        </p:nvSpPr>
        <p:spPr>
          <a:xfrm>
            <a:off x="8046720" y="169164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7" name="Agenda 03 lingkaran"/>
          <p:cNvSpPr/>
          <p:nvPr/>
        </p:nvSpPr>
        <p:spPr>
          <a:xfrm>
            <a:off x="8321040" y="1965960"/>
            <a:ext cx="685800" cy="685800"/>
          </a:xfrm>
          <a:prstGeom prst="ellipse">
            <a:avLst/>
          </a:prstGeom>
          <a:solidFill>
            <a:schemeClr val="accent1"/>
          </a:solidFill>
          <a:ln w="12700">
            <a:solidFill>
              <a:schemeClr val="accent1"/>
            </a:solidFill>
            <a:prstDash val="solid"/>
          </a:ln>
        </p:spPr>
      </p:sp>
      <p:pic>
        <p:nvPicPr>
          <p:cNvPr id="18" name="Agenda 03 ikon" descr="preencoded.png">    </p:cNvPr>
          <p:cNvPicPr>
            <a:picLocks noChangeAspect="1"/>
          </p:cNvPicPr>
          <p:nvPr/>
        </p:nvPicPr>
        <p:blipFill>
          <a:blip r:embed="rId5"/>
          <a:stretch>
            <a:fillRect/>
          </a:stretch>
        </p:blipFill>
        <p:spPr>
          <a:xfrm>
            <a:off x="8492490" y="2137410"/>
            <a:ext cx="342900" cy="342900"/>
          </a:xfrm>
          <a:prstGeom prst="rect">
            <a:avLst/>
          </a:prstGeom>
        </p:spPr>
      </p:pic>
      <p:sp>
        <p:nvSpPr>
          <p:cNvPr id="19" name="Text 14"/>
          <p:cNvSpPr txBox="1"/>
          <p:nvPr/>
        </p:nvSpPr>
        <p:spPr>
          <a:xfrm>
            <a:off x="10424160" y="196596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03</a:t>
            </a:r>
            <a:endParaRPr lang="en-US" sz="2800" dirty="0"/>
          </a:p>
        </p:txBody>
      </p:sp>
      <p:sp>
        <p:nvSpPr>
          <p:cNvPr id="20" name="Link agenda 03"/>
          <p:cNvSpPr txBox="1"/>
          <p:nvPr/>
        </p:nvSpPr>
        <p:spPr>
          <a:xfrm>
            <a:off x="8321040" y="274320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6" action="ppaction://hlinksldjump" tooltip="Buka bagian 03">
                  <a:extLst>
                    <a:ext uri="{A12FA001-AC4F-418D-AE19-62706E023703}">
                      <ahyp:hlinkClr xmlns:ahyp="http://schemas.microsoft.com/office/drawing/2018/hyperlinkcolor" val="tx"/>
                    </a:ext>
                  </a:extLst>
                </a:hlinkClick>
              </a:rPr>
              <a:t>Cara kerjanya</a:t>
            </a:r>
            <a:endParaRPr lang="en-US" sz="1500" dirty="0"/>
          </a:p>
        </p:txBody>
      </p:sp>
      <p:sp>
        <p:nvSpPr>
          <p:cNvPr id="21" name="Text 16"/>
          <p:cNvSpPr txBox="1"/>
          <p:nvPr/>
        </p:nvSpPr>
        <p:spPr>
          <a:xfrm>
            <a:off x="8321040" y="315468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NAB, unit penyertaan, alur beli dan jual</a:t>
            </a:r>
            <a:endParaRPr lang="en-US" sz="1200" dirty="0"/>
          </a:p>
        </p:txBody>
      </p:sp>
      <p:sp>
        <p:nvSpPr>
          <p:cNvPr id="22" name="Kartu agenda 04"/>
          <p:cNvSpPr/>
          <p:nvPr/>
        </p:nvSpPr>
        <p:spPr>
          <a:xfrm>
            <a:off x="548640" y="393192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3" name="Agenda 04 lingkaran"/>
          <p:cNvSpPr/>
          <p:nvPr/>
        </p:nvSpPr>
        <p:spPr>
          <a:xfrm>
            <a:off x="822960" y="4206240"/>
            <a:ext cx="685800" cy="685800"/>
          </a:xfrm>
          <a:prstGeom prst="ellipse">
            <a:avLst/>
          </a:prstGeom>
          <a:solidFill>
            <a:schemeClr val="accent1"/>
          </a:solidFill>
          <a:ln w="12700">
            <a:solidFill>
              <a:schemeClr val="accent1"/>
            </a:solidFill>
            <a:prstDash val="solid"/>
          </a:ln>
        </p:spPr>
      </p:sp>
      <p:pic>
        <p:nvPicPr>
          <p:cNvPr id="24" name="Agenda 04 ikon" descr="preencoded.png">    </p:cNvPr>
          <p:cNvPicPr>
            <a:picLocks noChangeAspect="1"/>
          </p:cNvPicPr>
          <p:nvPr/>
        </p:nvPicPr>
        <p:blipFill>
          <a:blip r:embed="rId7"/>
          <a:stretch>
            <a:fillRect/>
          </a:stretch>
        </p:blipFill>
        <p:spPr>
          <a:xfrm>
            <a:off x="994410" y="4377690"/>
            <a:ext cx="342900" cy="342900"/>
          </a:xfrm>
          <a:prstGeom prst="rect">
            <a:avLst/>
          </a:prstGeom>
        </p:spPr>
      </p:pic>
      <p:sp>
        <p:nvSpPr>
          <p:cNvPr id="25" name="Text 19"/>
          <p:cNvSpPr txBox="1"/>
          <p:nvPr/>
        </p:nvSpPr>
        <p:spPr>
          <a:xfrm>
            <a:off x="2926080" y="420624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04</a:t>
            </a:r>
            <a:endParaRPr lang="en-US" sz="2800" dirty="0"/>
          </a:p>
        </p:txBody>
      </p:sp>
      <p:sp>
        <p:nvSpPr>
          <p:cNvPr id="26" name="Link agenda 04"/>
          <p:cNvSpPr txBox="1"/>
          <p:nvPr/>
        </p:nvSpPr>
        <p:spPr>
          <a:xfrm>
            <a:off x="822960" y="498348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8" action="ppaction://hlinksldjump" tooltip="Buka bagian 04">
                  <a:extLst>
                    <a:ext uri="{A12FA001-AC4F-418D-AE19-62706E023703}">
                      <ahyp:hlinkClr xmlns:ahyp="http://schemas.microsoft.com/office/drawing/2018/hyperlinkcolor" val="tx"/>
                    </a:ext>
                  </a:extLst>
                </a:hlinkClick>
              </a:rPr>
              <a:t>Untung, biaya, pajak, risiko</a:t>
            </a:r>
            <a:endParaRPr lang="en-US" sz="1500" dirty="0"/>
          </a:p>
        </p:txBody>
      </p:sp>
      <p:sp>
        <p:nvSpPr>
          <p:cNvPr id="27" name="Text 21"/>
          <p:cNvSpPr txBox="1"/>
          <p:nvPr/>
        </p:nvSpPr>
        <p:spPr>
          <a:xfrm>
            <a:off x="822960" y="539496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Perbandingan dengan tabungan dan deposito</a:t>
            </a:r>
            <a:endParaRPr lang="en-US" sz="1200" dirty="0"/>
          </a:p>
        </p:txBody>
      </p:sp>
      <p:sp>
        <p:nvSpPr>
          <p:cNvPr id="28" name="Kartu agenda 05"/>
          <p:cNvSpPr/>
          <p:nvPr/>
        </p:nvSpPr>
        <p:spPr>
          <a:xfrm>
            <a:off x="4297680" y="393192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9" name="Agenda 05 lingkaran"/>
          <p:cNvSpPr/>
          <p:nvPr/>
        </p:nvSpPr>
        <p:spPr>
          <a:xfrm>
            <a:off x="4572000" y="4206240"/>
            <a:ext cx="685800" cy="685800"/>
          </a:xfrm>
          <a:prstGeom prst="ellipse">
            <a:avLst/>
          </a:prstGeom>
          <a:solidFill>
            <a:schemeClr val="accent1"/>
          </a:solidFill>
          <a:ln w="12700">
            <a:solidFill>
              <a:schemeClr val="accent1"/>
            </a:solidFill>
            <a:prstDash val="solid"/>
          </a:ln>
        </p:spPr>
      </p:sp>
      <p:pic>
        <p:nvPicPr>
          <p:cNvPr id="30" name="Agenda 05 ikon" descr="preencoded.png">    </p:cNvPr>
          <p:cNvPicPr>
            <a:picLocks noChangeAspect="1"/>
          </p:cNvPicPr>
          <p:nvPr/>
        </p:nvPicPr>
        <p:blipFill>
          <a:blip r:embed="rId9"/>
          <a:stretch>
            <a:fillRect/>
          </a:stretch>
        </p:blipFill>
        <p:spPr>
          <a:xfrm>
            <a:off x="4743450" y="4377690"/>
            <a:ext cx="342900" cy="342900"/>
          </a:xfrm>
          <a:prstGeom prst="rect">
            <a:avLst/>
          </a:prstGeom>
        </p:spPr>
      </p:pic>
      <p:sp>
        <p:nvSpPr>
          <p:cNvPr id="31" name="Text 24"/>
          <p:cNvSpPr txBox="1"/>
          <p:nvPr/>
        </p:nvSpPr>
        <p:spPr>
          <a:xfrm>
            <a:off x="6675120" y="420624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05</a:t>
            </a:r>
            <a:endParaRPr lang="en-US" sz="2800" dirty="0"/>
          </a:p>
        </p:txBody>
      </p:sp>
      <p:sp>
        <p:nvSpPr>
          <p:cNvPr id="32" name="Link agenda 05"/>
          <p:cNvSpPr txBox="1"/>
          <p:nvPr/>
        </p:nvSpPr>
        <p:spPr>
          <a:xfrm>
            <a:off x="4572000" y="498348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10" action="ppaction://hlinksldjump" tooltip="Buka bagian 05">
                  <a:extLst>
                    <a:ext uri="{A12FA001-AC4F-418D-AE19-62706E023703}">
                      <ahyp:hlinkClr xmlns:ahyp="http://schemas.microsoft.com/office/drawing/2018/hyperlinkcolor" val="tx"/>
                    </a:ext>
                  </a:extLst>
                </a:hlinkClick>
              </a:rPr>
              <a:t>Praktik</a:t>
            </a:r>
            <a:endParaRPr lang="en-US" sz="1500" dirty="0"/>
          </a:p>
        </p:txBody>
      </p:sp>
      <p:sp>
        <p:nvSpPr>
          <p:cNvPr id="33" name="Text 26"/>
          <p:cNvSpPr txBox="1"/>
          <p:nvPr/>
        </p:nvSpPr>
        <p:spPr>
          <a:xfrm>
            <a:off x="4572000" y="539496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Cara memilih produk, waspada bodong, cara mulai</a:t>
            </a:r>
            <a:endParaRPr lang="en-US" sz="1200" dirty="0"/>
          </a:p>
        </p:txBody>
      </p:sp>
      <p:sp>
        <p:nvSpPr>
          <p:cNvPr id="34" name="Kartu agenda 06"/>
          <p:cNvSpPr/>
          <p:nvPr/>
        </p:nvSpPr>
        <p:spPr>
          <a:xfrm>
            <a:off x="8046720" y="3931920"/>
            <a:ext cx="34747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5" name="Agenda 06 lingkaran"/>
          <p:cNvSpPr/>
          <p:nvPr/>
        </p:nvSpPr>
        <p:spPr>
          <a:xfrm>
            <a:off x="8321040" y="4206240"/>
            <a:ext cx="685800" cy="685800"/>
          </a:xfrm>
          <a:prstGeom prst="ellipse">
            <a:avLst/>
          </a:prstGeom>
          <a:solidFill>
            <a:schemeClr val="accent1"/>
          </a:solidFill>
          <a:ln w="12700">
            <a:solidFill>
              <a:schemeClr val="accent1"/>
            </a:solidFill>
            <a:prstDash val="solid"/>
          </a:ln>
        </p:spPr>
      </p:sp>
      <p:pic>
        <p:nvPicPr>
          <p:cNvPr id="36" name="Agenda 06 ikon" descr="preencoded.png">    </p:cNvPr>
          <p:cNvPicPr>
            <a:picLocks noChangeAspect="1"/>
          </p:cNvPicPr>
          <p:nvPr/>
        </p:nvPicPr>
        <p:blipFill>
          <a:blip r:embed="rId11"/>
          <a:stretch>
            <a:fillRect/>
          </a:stretch>
        </p:blipFill>
        <p:spPr>
          <a:xfrm>
            <a:off x="8492490" y="4377690"/>
            <a:ext cx="342900" cy="342900"/>
          </a:xfrm>
          <a:prstGeom prst="rect">
            <a:avLst/>
          </a:prstGeom>
        </p:spPr>
      </p:pic>
      <p:sp>
        <p:nvSpPr>
          <p:cNvPr id="37" name="Text 29"/>
          <p:cNvSpPr txBox="1"/>
          <p:nvPr/>
        </p:nvSpPr>
        <p:spPr>
          <a:xfrm>
            <a:off x="10424160" y="4206240"/>
            <a:ext cx="868680" cy="548640"/>
          </a:xfrm>
          <a:prstGeom prst="rect">
            <a:avLst/>
          </a:prstGeom>
          <a:noFill/>
          <a:ln/>
        </p:spPr>
        <p:txBody>
          <a:bodyPr wrap="square" lIns="0" tIns="0" rIns="0" bIns="0" rtlCol="0" anchor="t"/>
          <a:lstStyle/>
          <a:p>
            <a:pPr algn="r" indent="0" marL="0">
              <a:buNone/>
            </a:pPr>
            <a:r>
              <a:rPr lang="en-US" sz="2800" b="1" dirty="0">
                <a:solidFill>
                  <a:schemeClr val="accent6"/>
                </a:solidFill>
                <a:latin typeface="Cambria" pitchFamily="34" charset="0"/>
                <a:ea typeface="Cambria" pitchFamily="34" charset="-122"/>
                <a:cs typeface="Cambria" pitchFamily="34" charset="-120"/>
              </a:rPr>
              <a:t>06</a:t>
            </a:r>
            <a:endParaRPr lang="en-US" sz="2800" dirty="0"/>
          </a:p>
        </p:txBody>
      </p:sp>
      <p:sp>
        <p:nvSpPr>
          <p:cNvPr id="38" name="Link agenda 06"/>
          <p:cNvSpPr txBox="1"/>
          <p:nvPr/>
        </p:nvSpPr>
        <p:spPr>
          <a:xfrm>
            <a:off x="8321040" y="4983480"/>
            <a:ext cx="3017520" cy="384048"/>
          </a:xfrm>
          <a:prstGeom prst="rect">
            <a:avLst/>
          </a:prstGeom>
          <a:noFill/>
          <a:ln/>
        </p:spPr>
        <p:txBody>
          <a:bodyPr wrap="square" lIns="0" tIns="0" rIns="0" bIns="0" rtlCol="0" anchor="t"/>
          <a:lstStyle/>
          <a:p>
            <a:pPr indent="0" marL="0">
              <a:buNone/>
            </a:pPr>
            <a:r>
              <a:rPr lang="en-US" sz="1500" b="1" u="sng" dirty="0">
                <a:solidFill>
                  <a:schemeClr val="tx1"/>
                </a:solidFill>
                <a:hlinkClick r:id="rId12" action="ppaction://hlinksldjump" tooltip="Buka bagian 06">
                  <a:extLst>
                    <a:ext uri="{A12FA001-AC4F-418D-AE19-62706E023703}">
                      <ahyp:hlinkClr xmlns:ahyp="http://schemas.microsoft.com/office/drawing/2018/hyperlinkcolor" val="tx"/>
                    </a:ext>
                  </a:extLst>
                </a:hlinkClick>
              </a:rPr>
              <a:t>Kuis interaktif</a:t>
            </a:r>
            <a:endParaRPr lang="en-US" sz="1500" dirty="0"/>
          </a:p>
        </p:txBody>
      </p:sp>
      <p:sp>
        <p:nvSpPr>
          <p:cNvPr id="39" name="Text 31"/>
          <p:cNvSpPr txBox="1"/>
          <p:nvPr/>
        </p:nvSpPr>
        <p:spPr>
          <a:xfrm>
            <a:off x="8321040" y="5394960"/>
            <a:ext cx="2926080" cy="457200"/>
          </a:xfrm>
          <a:prstGeom prst="rect">
            <a:avLst/>
          </a:prstGeom>
          <a:noFill/>
          <a:ln/>
        </p:spPr>
        <p:txBody>
          <a:bodyPr wrap="square" lIns="0" tIns="0" rIns="0" bIns="0" rtlCol="0" anchor="t"/>
          <a:lstStyle/>
          <a:p>
            <a:pPr indent="0" marL="0">
              <a:buNone/>
            </a:pPr>
            <a:r>
              <a:rPr lang="en-US" sz="1200" dirty="0">
                <a:solidFill>
                  <a:schemeClr val="accent5"/>
                </a:solidFill>
              </a:rPr>
              <a:t>Tiga soal untuk mengecek pemahaman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01</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Kenapa kita perlu paham?</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Uang yang cuma diam pelan-pelan kalah oleh kenaikan harga.</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01</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Uang diam vs uang yang bekerja</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statistik BI Rate"/>
          <p:cNvSpPr/>
          <p:nvPr/>
        </p:nvSpPr>
        <p:spPr>
          <a:xfrm>
            <a:off x="548640" y="1463040"/>
            <a:ext cx="3474720" cy="3566160"/>
          </a:xfrm>
          <a:prstGeom prst="roundRect">
            <a:avLst>
              <a:gd name="adj" fmla="val 3158"/>
            </a:avLst>
          </a:prstGeom>
          <a:solidFill>
            <a:schemeClr val="tx2"/>
          </a:solidFill>
          <a:ln w="12700">
            <a:solidFill>
              <a:schemeClr val="tx2"/>
            </a:solidFill>
            <a:prstDash val="solid"/>
          </a:ln>
        </p:spPr>
      </p:sp>
      <p:sp>
        <p:nvSpPr>
          <p:cNvPr id="5" name="Text 3"/>
          <p:cNvSpPr txBox="1"/>
          <p:nvPr/>
        </p:nvSpPr>
        <p:spPr>
          <a:xfrm>
            <a:off x="868680" y="1737360"/>
            <a:ext cx="2926080" cy="1005840"/>
          </a:xfrm>
          <a:prstGeom prst="rect">
            <a:avLst/>
          </a:prstGeom>
          <a:noFill/>
          <a:ln/>
        </p:spPr>
        <p:txBody>
          <a:bodyPr wrap="square" lIns="0" tIns="0" rIns="0" bIns="0" rtlCol="0" anchor="t"/>
          <a:lstStyle/>
          <a:p>
            <a:pPr indent="0" marL="0">
              <a:buNone/>
            </a:pPr>
            <a:r>
              <a:rPr lang="en-US" sz="5200" b="1" dirty="0">
                <a:solidFill>
                  <a:schemeClr val="accent1"/>
                </a:solidFill>
                <a:latin typeface="Cambria" pitchFamily="34" charset="0"/>
                <a:ea typeface="Cambria" pitchFamily="34" charset="-122"/>
                <a:cs typeface="Cambria" pitchFamily="34" charset="-120"/>
              </a:rPr>
              <a:t>5,75%</a:t>
            </a:r>
            <a:endParaRPr lang="en-US" sz="5200" dirty="0"/>
          </a:p>
        </p:txBody>
      </p:sp>
      <p:sp>
        <p:nvSpPr>
          <p:cNvPr id="6" name="Text 4"/>
          <p:cNvSpPr txBox="1"/>
          <p:nvPr/>
        </p:nvSpPr>
        <p:spPr>
          <a:xfrm>
            <a:off x="868680" y="2788920"/>
            <a:ext cx="2926080" cy="411480"/>
          </a:xfrm>
          <a:prstGeom prst="rect">
            <a:avLst/>
          </a:prstGeom>
          <a:noFill/>
          <a:ln/>
        </p:spPr>
        <p:txBody>
          <a:bodyPr wrap="square" lIns="0" tIns="0" rIns="0" bIns="0" rtlCol="0" anchor="t"/>
          <a:lstStyle/>
          <a:p>
            <a:pPr indent="0" marL="0">
              <a:buNone/>
            </a:pPr>
            <a:r>
              <a:rPr lang="en-US" sz="1800" b="1" dirty="0">
                <a:solidFill>
                  <a:schemeClr val="bg1"/>
                </a:solidFill>
              </a:rPr>
              <a:t>BI Rate</a:t>
            </a:r>
            <a:endParaRPr lang="en-US" sz="1800" dirty="0"/>
          </a:p>
        </p:txBody>
      </p:sp>
      <p:sp>
        <p:nvSpPr>
          <p:cNvPr id="7" name="Text 5"/>
          <p:cNvSpPr txBox="1"/>
          <p:nvPr/>
        </p:nvSpPr>
        <p:spPr>
          <a:xfrm>
            <a:off x="868680" y="3246120"/>
            <a:ext cx="2834640" cy="1645920"/>
          </a:xfrm>
          <a:prstGeom prst="rect">
            <a:avLst/>
          </a:prstGeom>
          <a:noFill/>
          <a:ln/>
        </p:spPr>
        <p:txBody>
          <a:bodyPr wrap="square" lIns="0" tIns="0" rIns="0" bIns="0" rtlCol="0" anchor="t"/>
          <a:lstStyle/>
          <a:p>
            <a:pPr indent="0" marL="0">
              <a:buNone/>
            </a:pPr>
            <a:r>
              <a:rPr lang="en-US" sz="1300" dirty="0">
                <a:solidFill>
                  <a:schemeClr val="accent6"/>
                </a:solidFill>
              </a:rPr>
              <a:t>Ditahan BI pada RDG 22 sampai 23 September 2026, setelah naik total 100 bps di Mei sampai Juni 2026.</a:t>
            </a:r>
            <a:endParaRPr lang="en-US" sz="1300" dirty="0"/>
          </a:p>
        </p:txBody>
      </p:sp>
      <p:sp>
        <p:nvSpPr>
          <p:cNvPr id="8" name="Kartu statistik Batas bunga LPS"/>
          <p:cNvSpPr/>
          <p:nvPr/>
        </p:nvSpPr>
        <p:spPr>
          <a:xfrm>
            <a:off x="4297680" y="1463040"/>
            <a:ext cx="3474720" cy="3566160"/>
          </a:xfrm>
          <a:prstGeom prst="roundRect">
            <a:avLst>
              <a:gd name="adj" fmla="val 3158"/>
            </a:avLst>
          </a:prstGeom>
          <a:solidFill>
            <a:schemeClr val="tx2"/>
          </a:solidFill>
          <a:ln w="12700">
            <a:solidFill>
              <a:schemeClr val="tx2"/>
            </a:solidFill>
            <a:prstDash val="solid"/>
          </a:ln>
        </p:spPr>
      </p:sp>
      <p:sp>
        <p:nvSpPr>
          <p:cNvPr id="9" name="Text 7"/>
          <p:cNvSpPr txBox="1"/>
          <p:nvPr/>
        </p:nvSpPr>
        <p:spPr>
          <a:xfrm>
            <a:off x="4617720" y="1737360"/>
            <a:ext cx="2926080" cy="1005840"/>
          </a:xfrm>
          <a:prstGeom prst="rect">
            <a:avLst/>
          </a:prstGeom>
          <a:noFill/>
          <a:ln/>
        </p:spPr>
        <p:txBody>
          <a:bodyPr wrap="square" lIns="0" tIns="0" rIns="0" bIns="0" rtlCol="0" anchor="t"/>
          <a:lstStyle/>
          <a:p>
            <a:pPr indent="0" marL="0">
              <a:buNone/>
            </a:pPr>
            <a:r>
              <a:rPr lang="en-US" sz="5200" b="1" dirty="0">
                <a:solidFill>
                  <a:schemeClr val="accent2"/>
                </a:solidFill>
                <a:latin typeface="Cambria" pitchFamily="34" charset="0"/>
                <a:ea typeface="Cambria" pitchFamily="34" charset="-122"/>
                <a:cs typeface="Cambria" pitchFamily="34" charset="-120"/>
              </a:rPr>
              <a:t>3,75%</a:t>
            </a:r>
            <a:endParaRPr lang="en-US" sz="5200" dirty="0"/>
          </a:p>
        </p:txBody>
      </p:sp>
      <p:sp>
        <p:nvSpPr>
          <p:cNvPr id="10" name="Text 8"/>
          <p:cNvSpPr txBox="1"/>
          <p:nvPr/>
        </p:nvSpPr>
        <p:spPr>
          <a:xfrm>
            <a:off x="4617720" y="2788920"/>
            <a:ext cx="2926080" cy="411480"/>
          </a:xfrm>
          <a:prstGeom prst="rect">
            <a:avLst/>
          </a:prstGeom>
          <a:noFill/>
          <a:ln/>
        </p:spPr>
        <p:txBody>
          <a:bodyPr wrap="square" lIns="0" tIns="0" rIns="0" bIns="0" rtlCol="0" anchor="t"/>
          <a:lstStyle/>
          <a:p>
            <a:pPr indent="0" marL="0">
              <a:buNone/>
            </a:pPr>
            <a:r>
              <a:rPr lang="en-US" sz="1800" b="1" dirty="0">
                <a:solidFill>
                  <a:schemeClr val="bg1"/>
                </a:solidFill>
              </a:rPr>
              <a:t>Batas bunga LPS</a:t>
            </a:r>
            <a:endParaRPr lang="en-US" sz="1800" dirty="0"/>
          </a:p>
        </p:txBody>
      </p:sp>
      <p:sp>
        <p:nvSpPr>
          <p:cNvPr id="11" name="Text 9"/>
          <p:cNvSpPr txBox="1"/>
          <p:nvPr/>
        </p:nvSpPr>
        <p:spPr>
          <a:xfrm>
            <a:off x="4617720" y="3246120"/>
            <a:ext cx="2834640" cy="1645920"/>
          </a:xfrm>
          <a:prstGeom prst="rect">
            <a:avLst/>
          </a:prstGeom>
          <a:noFill/>
          <a:ln/>
        </p:spPr>
        <p:txBody>
          <a:bodyPr wrap="square" lIns="0" tIns="0" rIns="0" bIns="0" rtlCol="0" anchor="t"/>
          <a:lstStyle/>
          <a:p>
            <a:pPr indent="0" marL="0">
              <a:buNone/>
            </a:pPr>
            <a:r>
              <a:rPr lang="en-US" sz="1300" dirty="0">
                <a:solidFill>
                  <a:schemeClr val="accent6"/>
                </a:solidFill>
              </a:rPr>
              <a:t>Batas bunga simpanan rupiah di bank umum yang dijamin LPS, periode 1 Juli sampai 30 September 2026.</a:t>
            </a:r>
            <a:endParaRPr lang="en-US" sz="1300" dirty="0"/>
          </a:p>
        </p:txBody>
      </p:sp>
      <p:sp>
        <p:nvSpPr>
          <p:cNvPr id="12" name="Kartu statistik Target inflasi BI"/>
          <p:cNvSpPr/>
          <p:nvPr/>
        </p:nvSpPr>
        <p:spPr>
          <a:xfrm>
            <a:off x="8046720" y="1463040"/>
            <a:ext cx="3474720" cy="3566160"/>
          </a:xfrm>
          <a:prstGeom prst="roundRect">
            <a:avLst>
              <a:gd name="adj" fmla="val 3158"/>
            </a:avLst>
          </a:prstGeom>
          <a:solidFill>
            <a:schemeClr val="tx2"/>
          </a:solidFill>
          <a:ln w="12700">
            <a:solidFill>
              <a:schemeClr val="tx2"/>
            </a:solidFill>
            <a:prstDash val="solid"/>
          </a:ln>
        </p:spPr>
      </p:sp>
      <p:sp>
        <p:nvSpPr>
          <p:cNvPr id="13" name="Text 11"/>
          <p:cNvSpPr txBox="1"/>
          <p:nvPr/>
        </p:nvSpPr>
        <p:spPr>
          <a:xfrm>
            <a:off x="8366760" y="1737360"/>
            <a:ext cx="2926080" cy="1005840"/>
          </a:xfrm>
          <a:prstGeom prst="rect">
            <a:avLst/>
          </a:prstGeom>
          <a:noFill/>
          <a:ln/>
        </p:spPr>
        <p:txBody>
          <a:bodyPr wrap="square" lIns="0" tIns="0" rIns="0" bIns="0" rtlCol="0" anchor="t"/>
          <a:lstStyle/>
          <a:p>
            <a:pPr indent="0" marL="0">
              <a:buNone/>
            </a:pPr>
            <a:r>
              <a:rPr lang="en-US" sz="5200" b="1" dirty="0">
                <a:solidFill>
                  <a:schemeClr val="accent3"/>
                </a:solidFill>
                <a:latin typeface="Cambria" pitchFamily="34" charset="0"/>
                <a:ea typeface="Cambria" pitchFamily="34" charset="-122"/>
                <a:cs typeface="Cambria" pitchFamily="34" charset="-120"/>
              </a:rPr>
              <a:t>2,5±1%</a:t>
            </a:r>
            <a:endParaRPr lang="en-US" sz="5200" dirty="0"/>
          </a:p>
        </p:txBody>
      </p:sp>
      <p:sp>
        <p:nvSpPr>
          <p:cNvPr id="14" name="Text 12"/>
          <p:cNvSpPr txBox="1"/>
          <p:nvPr/>
        </p:nvSpPr>
        <p:spPr>
          <a:xfrm>
            <a:off x="8366760" y="2788920"/>
            <a:ext cx="2926080" cy="411480"/>
          </a:xfrm>
          <a:prstGeom prst="rect">
            <a:avLst/>
          </a:prstGeom>
          <a:noFill/>
          <a:ln/>
        </p:spPr>
        <p:txBody>
          <a:bodyPr wrap="square" lIns="0" tIns="0" rIns="0" bIns="0" rtlCol="0" anchor="t"/>
          <a:lstStyle/>
          <a:p>
            <a:pPr indent="0" marL="0">
              <a:buNone/>
            </a:pPr>
            <a:r>
              <a:rPr lang="en-US" sz="1800" b="1" dirty="0">
                <a:solidFill>
                  <a:schemeClr val="bg1"/>
                </a:solidFill>
              </a:rPr>
              <a:t>Target inflasi BI</a:t>
            </a:r>
            <a:endParaRPr lang="en-US" sz="1800" dirty="0"/>
          </a:p>
        </p:txBody>
      </p:sp>
      <p:sp>
        <p:nvSpPr>
          <p:cNvPr id="15" name="Text 13"/>
          <p:cNvSpPr txBox="1"/>
          <p:nvPr/>
        </p:nvSpPr>
        <p:spPr>
          <a:xfrm>
            <a:off x="8366760" y="3246120"/>
            <a:ext cx="2834640" cy="1645920"/>
          </a:xfrm>
          <a:prstGeom prst="rect">
            <a:avLst/>
          </a:prstGeom>
          <a:noFill/>
          <a:ln/>
        </p:spPr>
        <p:txBody>
          <a:bodyPr wrap="square" lIns="0" tIns="0" rIns="0" bIns="0" rtlCol="0" anchor="t"/>
          <a:lstStyle/>
          <a:p>
            <a:pPr indent="0" marL="0">
              <a:buNone/>
            </a:pPr>
            <a:r>
              <a:rPr lang="en-US" sz="1300" dirty="0">
                <a:solidFill>
                  <a:schemeClr val="accent6"/>
                </a:solidFill>
              </a:rPr>
              <a:t>Kalau uangmu tumbuh di bawah angka inflasi, daya belinya turun walau nominalnya tidak berkurang.</a:t>
            </a:r>
            <a:endParaRPr lang="en-US" sz="1300" dirty="0"/>
          </a:p>
        </p:txBody>
      </p:sp>
      <p:sp>
        <p:nvSpPr>
          <p:cNvPr id="16" name="Text 14"/>
          <p:cNvSpPr txBox="1"/>
          <p:nvPr/>
        </p:nvSpPr>
        <p:spPr>
          <a:xfrm>
            <a:off x="548640" y="5257800"/>
            <a:ext cx="10972800" cy="548640"/>
          </a:xfrm>
          <a:prstGeom prst="rect">
            <a:avLst/>
          </a:prstGeom>
          <a:noFill/>
          <a:ln/>
        </p:spPr>
        <p:txBody>
          <a:bodyPr wrap="square" lIns="0" tIns="0" rIns="0" bIns="0" rtlCol="0" anchor="t"/>
          <a:lstStyle/>
          <a:p>
            <a:pPr indent="0" marL="0">
              <a:buNone/>
            </a:pPr>
            <a:r>
              <a:rPr lang="en-US" sz="1600" b="1" dirty="0">
                <a:solidFill>
                  <a:schemeClr val="accent2"/>
                </a:solidFill>
              </a:rPr>
              <a:t>Intinya: </a:t>
            </a:r>
            <a:pPr indent="0" marL="0">
              <a:buNone/>
            </a:pPr>
            <a:r>
              <a:rPr lang="en-US" sz="1600" dirty="0">
                <a:solidFill>
                  <a:schemeClr val="bg1"/>
                </a:solidFill>
              </a:rPr>
              <a:t>uang di dompet nilainya tidak tumbuh. RDPU adalah langkah pertama paling tenang untuk membuat uang ikut bekerja.</a:t>
            </a:r>
            <a:endParaRPr lang="en-US" sz="1600" dirty="0"/>
          </a:p>
        </p:txBody>
      </p:sp>
      <p:sp>
        <p:nvSpPr>
          <p:cNvPr id="17" name="Text 15"/>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6"/>
                </a:solidFill>
              </a:rPr>
              <a:t>Sumber: Bank Indonesia (RDG September 2026), LPS (TBP Juli sampai September 2026).</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Investor reksa dana tumbuh cepat</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graphicFrame>
        <p:nvGraphicFramePr>
          <p:cNvPr id="4" name="Chart 0" descr=""/>
          <p:cNvGraphicFramePr/>
          <p:nvPr/>
        </p:nvGraphicFramePr>
        <p:xfrm>
          <a:off x="548640" y="1325880"/>
          <a:ext cx="6583680" cy="4526280"/>
        </p:xfrm>
        <a:graphic xmlns:a="http://schemas.openxmlformats.org/drawingml/2006/main">
          <a:graphicData uri="http://schemas.openxmlformats.org/drawingml/2006/chart">
            <c:chart xmlns:c="http://schemas.openxmlformats.org/drawingml/2006/chart" r:id="rId2"/>
          </a:graphicData>
        </a:graphic>
      </p:graphicFrame>
      <p:sp>
        <p:nvSpPr>
          <p:cNvPr id="5" name="Kartu data 0"/>
          <p:cNvSpPr/>
          <p:nvPr/>
        </p:nvSpPr>
        <p:spPr>
          <a:xfrm>
            <a:off x="7498080" y="1371600"/>
            <a:ext cx="4160520" cy="1325880"/>
          </a:xfrm>
          <a:prstGeom prst="roundRect">
            <a:avLst>
              <a:gd name="adj" fmla="val 8276"/>
            </a:avLst>
          </a:prstGeom>
          <a:solidFill>
            <a:schemeClr val="bg2"/>
          </a:solidFill>
          <a:ln w="12700">
            <a:solidFill>
              <a:schemeClr val="bg2"/>
            </a:solidFill>
            <a:prstDash val="solid"/>
          </a:ln>
        </p:spPr>
      </p:sp>
      <p:sp>
        <p:nvSpPr>
          <p:cNvPr id="6" name="Text 3"/>
          <p:cNvSpPr txBox="1"/>
          <p:nvPr/>
        </p:nvSpPr>
        <p:spPr>
          <a:xfrm>
            <a:off x="7772400" y="1536192"/>
            <a:ext cx="36576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30,06 juta</a:t>
            </a:r>
            <a:endParaRPr lang="en-US" sz="3000" dirty="0"/>
          </a:p>
        </p:txBody>
      </p:sp>
      <p:sp>
        <p:nvSpPr>
          <p:cNvPr id="7" name="Text 4"/>
          <p:cNvSpPr txBox="1"/>
          <p:nvPr/>
        </p:nvSpPr>
        <p:spPr>
          <a:xfrm>
            <a:off x="7772400" y="2148840"/>
            <a:ext cx="3657600" cy="457200"/>
          </a:xfrm>
          <a:prstGeom prst="rect">
            <a:avLst/>
          </a:prstGeom>
          <a:noFill/>
          <a:ln/>
        </p:spPr>
        <p:txBody>
          <a:bodyPr wrap="square" lIns="0" tIns="0" rIns="0" bIns="0" rtlCol="0" anchor="t"/>
          <a:lstStyle/>
          <a:p>
            <a:pPr indent="0" marL="0">
              <a:buNone/>
            </a:pPr>
            <a:r>
              <a:rPr lang="en-US" sz="1300" dirty="0">
                <a:solidFill>
                  <a:schemeClr val="tx1"/>
                </a:solidFill>
              </a:rPr>
              <a:t>total investor pasar modal (SID) per akhir Juli 2026</a:t>
            </a:r>
            <a:endParaRPr lang="en-US" sz="1300" dirty="0"/>
          </a:p>
        </p:txBody>
      </p:sp>
      <p:sp>
        <p:nvSpPr>
          <p:cNvPr id="8" name="Kartu data 1"/>
          <p:cNvSpPr/>
          <p:nvPr/>
        </p:nvSpPr>
        <p:spPr>
          <a:xfrm>
            <a:off x="7498080" y="2880360"/>
            <a:ext cx="4160520" cy="1325880"/>
          </a:xfrm>
          <a:prstGeom prst="roundRect">
            <a:avLst>
              <a:gd name="adj" fmla="val 8276"/>
            </a:avLst>
          </a:prstGeom>
          <a:solidFill>
            <a:schemeClr val="bg2"/>
          </a:solidFill>
          <a:ln w="12700">
            <a:solidFill>
              <a:schemeClr val="bg2"/>
            </a:solidFill>
            <a:prstDash val="solid"/>
          </a:ln>
        </p:spPr>
      </p:sp>
      <p:sp>
        <p:nvSpPr>
          <p:cNvPr id="9" name="Text 6"/>
          <p:cNvSpPr txBox="1"/>
          <p:nvPr/>
        </p:nvSpPr>
        <p:spPr>
          <a:xfrm>
            <a:off x="7772400" y="3044952"/>
            <a:ext cx="36576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+36,77%</a:t>
            </a:r>
            <a:endParaRPr lang="en-US" sz="3000" dirty="0"/>
          </a:p>
        </p:txBody>
      </p:sp>
      <p:sp>
        <p:nvSpPr>
          <p:cNvPr id="10" name="Text 7"/>
          <p:cNvSpPr txBox="1"/>
          <p:nvPr/>
        </p:nvSpPr>
        <p:spPr>
          <a:xfrm>
            <a:off x="7772400" y="3657600"/>
            <a:ext cx="3657600" cy="457200"/>
          </a:xfrm>
          <a:prstGeom prst="rect">
            <a:avLst/>
          </a:prstGeom>
          <a:noFill/>
          <a:ln/>
        </p:spPr>
        <p:txBody>
          <a:bodyPr wrap="square" lIns="0" tIns="0" rIns="0" bIns="0" rtlCol="0" anchor="t"/>
          <a:lstStyle/>
          <a:p>
            <a:pPr indent="0" marL="0">
              <a:buNone/>
            </a:pPr>
            <a:r>
              <a:rPr lang="en-US" sz="1300" dirty="0">
                <a:solidFill>
                  <a:schemeClr val="tx1"/>
                </a:solidFill>
              </a:rPr>
              <a:t>pertumbuhan investor reksa dana sepanjang 2025</a:t>
            </a:r>
            <a:endParaRPr lang="en-US" sz="1300" dirty="0"/>
          </a:p>
        </p:txBody>
      </p:sp>
      <p:sp>
        <p:nvSpPr>
          <p:cNvPr id="11" name="Kartu data 2"/>
          <p:cNvSpPr/>
          <p:nvPr/>
        </p:nvSpPr>
        <p:spPr>
          <a:xfrm>
            <a:off x="7498080" y="4389120"/>
            <a:ext cx="4160520" cy="1325880"/>
          </a:xfrm>
          <a:prstGeom prst="roundRect">
            <a:avLst>
              <a:gd name="adj" fmla="val 8276"/>
            </a:avLst>
          </a:prstGeom>
          <a:solidFill>
            <a:schemeClr val="bg2"/>
          </a:solidFill>
          <a:ln w="12700">
            <a:solidFill>
              <a:schemeClr val="bg2"/>
            </a:solidFill>
            <a:prstDash val="solid"/>
          </a:ln>
        </p:spPr>
      </p:sp>
      <p:sp>
        <p:nvSpPr>
          <p:cNvPr id="12" name="Text 9"/>
          <p:cNvSpPr txBox="1"/>
          <p:nvPr/>
        </p:nvSpPr>
        <p:spPr>
          <a:xfrm>
            <a:off x="7772400" y="4553712"/>
            <a:ext cx="3657600" cy="59436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&gt; 50%</a:t>
            </a:r>
            <a:endParaRPr lang="en-US" sz="3000" dirty="0"/>
          </a:p>
        </p:txBody>
      </p:sp>
      <p:sp>
        <p:nvSpPr>
          <p:cNvPr id="13" name="Text 10"/>
          <p:cNvSpPr txBox="1"/>
          <p:nvPr/>
        </p:nvSpPr>
        <p:spPr>
          <a:xfrm>
            <a:off x="7772400" y="5166360"/>
            <a:ext cx="3657600" cy="457200"/>
          </a:xfrm>
          <a:prstGeom prst="rect">
            <a:avLst/>
          </a:prstGeom>
          <a:noFill/>
          <a:ln/>
        </p:spPr>
        <p:txBody>
          <a:bodyPr wrap="square" lIns="0" tIns="0" rIns="0" bIns="0" rtlCol="0" anchor="t"/>
          <a:lstStyle/>
          <a:p>
            <a:pPr indent="0" marL="0">
              <a:buNone/>
            </a:pPr>
            <a:r>
              <a:rPr lang="en-US" sz="1300" dirty="0">
                <a:solidFill>
                  <a:schemeClr val="tx1"/>
                </a:solidFill>
              </a:rPr>
              <a:t>investor individu berusia 30 tahun ke bawah</a:t>
            </a:r>
            <a:endParaRPr lang="en-US" sz="1300" dirty="0"/>
          </a:p>
        </p:txBody>
      </p:sp>
      <p:sp>
        <p:nvSpPr>
          <p:cNvPr id="14" name="Text 11"/>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KSEI, Statistik Publik Juli 2026. Satu SID dapat memiliki lebih dari satu jenis aset.</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02</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Mengenal RDPU</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Apa itu reksa dana, apa yang membuat versi "pasar uang" berbeda, dan siapa saja yang terlibat.</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02</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Reksa dana: patungan yang dikelola profesional</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alur Banyak investor"/>
          <p:cNvSpPr/>
          <p:nvPr/>
        </p:nvSpPr>
        <p:spPr>
          <a:xfrm>
            <a:off x="548640" y="1463040"/>
            <a:ext cx="3154680" cy="3291840"/>
          </a:xfrm>
          <a:prstGeom prst="roundRect">
            <a:avLst>
              <a:gd name="adj" fmla="val 3478"/>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Banyak investor lingkaran"/>
          <p:cNvSpPr/>
          <p:nvPr/>
        </p:nvSpPr>
        <p:spPr>
          <a:xfrm>
            <a:off x="1709928" y="1691640"/>
            <a:ext cx="822960" cy="822960"/>
          </a:xfrm>
          <a:prstGeom prst="ellipse">
            <a:avLst/>
          </a:prstGeom>
          <a:solidFill>
            <a:schemeClr val="accent1"/>
          </a:solidFill>
          <a:ln w="12700">
            <a:solidFill>
              <a:schemeClr val="accent1"/>
            </a:solidFill>
            <a:prstDash val="solid"/>
          </a:ln>
        </p:spPr>
      </p:sp>
      <p:pic>
        <p:nvPicPr>
          <p:cNvPr id="6" name="Banyak investor ikon" descr="preencoded.png">    </p:cNvPr>
          <p:cNvPicPr>
            <a:picLocks noChangeAspect="1"/>
          </p:cNvPicPr>
          <p:nvPr/>
        </p:nvPicPr>
        <p:blipFill>
          <a:blip r:embed="rId2"/>
          <a:stretch>
            <a:fillRect/>
          </a:stretch>
        </p:blipFill>
        <p:spPr>
          <a:xfrm>
            <a:off x="1915668" y="1897380"/>
            <a:ext cx="411480" cy="411480"/>
          </a:xfrm>
          <a:prstGeom prst="rect">
            <a:avLst/>
          </a:prstGeom>
        </p:spPr>
      </p:pic>
      <p:sp>
        <p:nvSpPr>
          <p:cNvPr id="7" name="Text 4"/>
          <p:cNvSpPr txBox="1"/>
          <p:nvPr/>
        </p:nvSpPr>
        <p:spPr>
          <a:xfrm>
            <a:off x="777240" y="2651760"/>
            <a:ext cx="2697480" cy="411480"/>
          </a:xfrm>
          <a:prstGeom prst="rect">
            <a:avLst/>
          </a:prstGeom>
          <a:noFill/>
          <a:ln/>
        </p:spPr>
        <p:txBody>
          <a:bodyPr wrap="square" lIns="0" tIns="0" rIns="0" bIns="0" rtlCol="0" anchor="t"/>
          <a:lstStyle/>
          <a:p>
            <a:pPr algn="ctr" indent="0" marL="0">
              <a:buNone/>
            </a:pPr>
            <a:r>
              <a:rPr lang="en-US" sz="1800" b="1" dirty="0">
                <a:solidFill>
                  <a:schemeClr val="tx1"/>
                </a:solidFill>
              </a:rPr>
              <a:t>Banyak investor</a:t>
            </a:r>
            <a:endParaRPr lang="en-US" sz="1800" dirty="0"/>
          </a:p>
        </p:txBody>
      </p:sp>
      <p:sp>
        <p:nvSpPr>
          <p:cNvPr id="8" name="Text 5"/>
          <p:cNvSpPr txBox="1"/>
          <p:nvPr/>
        </p:nvSpPr>
        <p:spPr>
          <a:xfrm>
            <a:off x="822960" y="3108960"/>
            <a:ext cx="2606040" cy="1554480"/>
          </a:xfrm>
          <a:prstGeom prst="rect">
            <a:avLst/>
          </a:prstGeom>
          <a:noFill/>
          <a:ln/>
        </p:spPr>
        <p:txBody>
          <a:bodyPr wrap="square" lIns="0" tIns="0" rIns="0" bIns="0" rtlCol="0" anchor="t"/>
          <a:lstStyle/>
          <a:p>
            <a:pPr algn="ctr" indent="0" marL="0">
              <a:buNone/>
            </a:pPr>
            <a:r>
              <a:rPr lang="en-US" sz="1300" dirty="0">
                <a:solidFill>
                  <a:schemeClr val="accent5"/>
                </a:solidFill>
              </a:rPr>
              <a:t>Kamu dan ribuan orang lain menyetor uang, mulai dari nominal kecil.</a:t>
            </a:r>
            <a:endParaRPr lang="en-US" sz="1300" dirty="0"/>
          </a:p>
        </p:txBody>
      </p:sp>
      <p:sp>
        <p:nvSpPr>
          <p:cNvPr id="9" name="Panah alur 0"/>
          <p:cNvSpPr/>
          <p:nvPr/>
        </p:nvSpPr>
        <p:spPr>
          <a:xfrm>
            <a:off x="3794760" y="2880360"/>
            <a:ext cx="640080" cy="457200"/>
          </a:xfrm>
          <a:prstGeom prst="rightArrow">
            <a:avLst/>
          </a:prstGeom>
          <a:solidFill>
            <a:schemeClr val="accent1"/>
          </a:solidFill>
          <a:ln w="12700">
            <a:solidFill>
              <a:schemeClr val="accent1"/>
            </a:solidFill>
            <a:prstDash val="solid"/>
          </a:ln>
        </p:spPr>
      </p:sp>
      <p:sp>
        <p:nvSpPr>
          <p:cNvPr id="10" name="Kartu alur Manajer Investasi"/>
          <p:cNvSpPr/>
          <p:nvPr/>
        </p:nvSpPr>
        <p:spPr>
          <a:xfrm>
            <a:off x="4526280" y="1463040"/>
            <a:ext cx="3154680" cy="3291840"/>
          </a:xfrm>
          <a:prstGeom prst="roundRect">
            <a:avLst>
              <a:gd name="adj" fmla="val 3478"/>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Manajer Investasi lingkaran"/>
          <p:cNvSpPr/>
          <p:nvPr/>
        </p:nvSpPr>
        <p:spPr>
          <a:xfrm>
            <a:off x="5687568" y="1691640"/>
            <a:ext cx="822960" cy="822960"/>
          </a:xfrm>
          <a:prstGeom prst="ellipse">
            <a:avLst/>
          </a:prstGeom>
          <a:solidFill>
            <a:schemeClr val="accent2"/>
          </a:solidFill>
          <a:ln w="12700">
            <a:solidFill>
              <a:schemeClr val="accent2"/>
            </a:solidFill>
            <a:prstDash val="solid"/>
          </a:ln>
        </p:spPr>
      </p:sp>
      <p:pic>
        <p:nvPicPr>
          <p:cNvPr id="12" name="Manajer Investasi ikon" descr="preencoded.png">    </p:cNvPr>
          <p:cNvPicPr>
            <a:picLocks noChangeAspect="1"/>
          </p:cNvPicPr>
          <p:nvPr/>
        </p:nvPicPr>
        <p:blipFill>
          <a:blip r:embed="rId3"/>
          <a:stretch>
            <a:fillRect/>
          </a:stretch>
        </p:blipFill>
        <p:spPr>
          <a:xfrm>
            <a:off x="5893308" y="1897380"/>
            <a:ext cx="411480" cy="411480"/>
          </a:xfrm>
          <a:prstGeom prst="rect">
            <a:avLst/>
          </a:prstGeom>
        </p:spPr>
      </p:pic>
      <p:sp>
        <p:nvSpPr>
          <p:cNvPr id="13" name="Text 9"/>
          <p:cNvSpPr txBox="1"/>
          <p:nvPr/>
        </p:nvSpPr>
        <p:spPr>
          <a:xfrm>
            <a:off x="4754880" y="2651760"/>
            <a:ext cx="2697480" cy="411480"/>
          </a:xfrm>
          <a:prstGeom prst="rect">
            <a:avLst/>
          </a:prstGeom>
          <a:noFill/>
          <a:ln/>
        </p:spPr>
        <p:txBody>
          <a:bodyPr wrap="square" lIns="0" tIns="0" rIns="0" bIns="0" rtlCol="0" anchor="t"/>
          <a:lstStyle/>
          <a:p>
            <a:pPr algn="ctr" indent="0" marL="0">
              <a:buNone/>
            </a:pPr>
            <a:r>
              <a:rPr lang="en-US" sz="1800" b="1" dirty="0">
                <a:solidFill>
                  <a:schemeClr val="tx1"/>
                </a:solidFill>
              </a:rPr>
              <a:t>Manajer Investasi</a:t>
            </a:r>
            <a:endParaRPr lang="en-US" sz="1800" dirty="0"/>
          </a:p>
        </p:txBody>
      </p:sp>
      <p:sp>
        <p:nvSpPr>
          <p:cNvPr id="14" name="Text 10"/>
          <p:cNvSpPr txBox="1"/>
          <p:nvPr/>
        </p:nvSpPr>
        <p:spPr>
          <a:xfrm>
            <a:off x="4800600" y="3108960"/>
            <a:ext cx="2606040" cy="1554480"/>
          </a:xfrm>
          <a:prstGeom prst="rect">
            <a:avLst/>
          </a:prstGeom>
          <a:noFill/>
          <a:ln/>
        </p:spPr>
        <p:txBody>
          <a:bodyPr wrap="square" lIns="0" tIns="0" rIns="0" bIns="0" rtlCol="0" anchor="t"/>
          <a:lstStyle/>
          <a:p>
            <a:pPr algn="ctr" indent="0" marL="0">
              <a:buNone/>
            </a:pPr>
            <a:r>
              <a:rPr lang="en-US" sz="1300" dirty="0">
                <a:solidFill>
                  <a:schemeClr val="accent5"/>
                </a:solidFill>
              </a:rPr>
              <a:t>Perusahaan berizin OJK yang memilih dan mengatur isi portofolio sesuai kebijakan investasi.</a:t>
            </a:r>
            <a:endParaRPr lang="en-US" sz="1300" dirty="0"/>
          </a:p>
        </p:txBody>
      </p:sp>
      <p:sp>
        <p:nvSpPr>
          <p:cNvPr id="15" name="Panah alur 1"/>
          <p:cNvSpPr/>
          <p:nvPr/>
        </p:nvSpPr>
        <p:spPr>
          <a:xfrm>
            <a:off x="7772400" y="2880360"/>
            <a:ext cx="640080" cy="457200"/>
          </a:xfrm>
          <a:prstGeom prst="rightArrow">
            <a:avLst/>
          </a:prstGeom>
          <a:solidFill>
            <a:schemeClr val="accent1"/>
          </a:solidFill>
          <a:ln w="12700">
            <a:solidFill>
              <a:schemeClr val="accent1"/>
            </a:solidFill>
            <a:prstDash val="solid"/>
          </a:ln>
        </p:spPr>
      </p:sp>
      <p:sp>
        <p:nvSpPr>
          <p:cNvPr id="16" name="Kartu alur Portofolio efek"/>
          <p:cNvSpPr/>
          <p:nvPr/>
        </p:nvSpPr>
        <p:spPr>
          <a:xfrm>
            <a:off x="8503920" y="1463040"/>
            <a:ext cx="3154680" cy="3291840"/>
          </a:xfrm>
          <a:prstGeom prst="roundRect">
            <a:avLst>
              <a:gd name="adj" fmla="val 3478"/>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7" name="Portofolio efek lingkaran"/>
          <p:cNvSpPr/>
          <p:nvPr/>
        </p:nvSpPr>
        <p:spPr>
          <a:xfrm>
            <a:off x="9665208" y="1691640"/>
            <a:ext cx="822960" cy="822960"/>
          </a:xfrm>
          <a:prstGeom prst="ellipse">
            <a:avLst/>
          </a:prstGeom>
          <a:solidFill>
            <a:schemeClr val="accent1"/>
          </a:solidFill>
          <a:ln w="12700">
            <a:solidFill>
              <a:schemeClr val="accent1"/>
            </a:solidFill>
            <a:prstDash val="solid"/>
          </a:ln>
        </p:spPr>
      </p:sp>
      <p:pic>
        <p:nvPicPr>
          <p:cNvPr id="18" name="Portofolio efek ikon" descr="preencoded.png">    </p:cNvPr>
          <p:cNvPicPr>
            <a:picLocks noChangeAspect="1"/>
          </p:cNvPicPr>
          <p:nvPr/>
        </p:nvPicPr>
        <p:blipFill>
          <a:blip r:embed="rId4"/>
          <a:stretch>
            <a:fillRect/>
          </a:stretch>
        </p:blipFill>
        <p:spPr>
          <a:xfrm>
            <a:off x="9870948" y="1897380"/>
            <a:ext cx="411480" cy="411480"/>
          </a:xfrm>
          <a:prstGeom prst="rect">
            <a:avLst/>
          </a:prstGeom>
        </p:spPr>
      </p:pic>
      <p:sp>
        <p:nvSpPr>
          <p:cNvPr id="19" name="Text 14"/>
          <p:cNvSpPr txBox="1"/>
          <p:nvPr/>
        </p:nvSpPr>
        <p:spPr>
          <a:xfrm>
            <a:off x="8732520" y="2651760"/>
            <a:ext cx="2697480" cy="411480"/>
          </a:xfrm>
          <a:prstGeom prst="rect">
            <a:avLst/>
          </a:prstGeom>
          <a:noFill/>
          <a:ln/>
        </p:spPr>
        <p:txBody>
          <a:bodyPr wrap="square" lIns="0" tIns="0" rIns="0" bIns="0" rtlCol="0" anchor="t"/>
          <a:lstStyle/>
          <a:p>
            <a:pPr algn="ctr" indent="0" marL="0">
              <a:buNone/>
            </a:pPr>
            <a:r>
              <a:rPr lang="en-US" sz="1800" b="1" dirty="0">
                <a:solidFill>
                  <a:schemeClr val="tx1"/>
                </a:solidFill>
              </a:rPr>
              <a:t>Portofolio efek</a:t>
            </a:r>
            <a:endParaRPr lang="en-US" sz="1800" dirty="0"/>
          </a:p>
        </p:txBody>
      </p:sp>
      <p:sp>
        <p:nvSpPr>
          <p:cNvPr id="20" name="Text 15"/>
          <p:cNvSpPr txBox="1"/>
          <p:nvPr/>
        </p:nvSpPr>
        <p:spPr>
          <a:xfrm>
            <a:off x="8778240" y="3108960"/>
            <a:ext cx="2606040" cy="1554480"/>
          </a:xfrm>
          <a:prstGeom prst="rect">
            <a:avLst/>
          </a:prstGeom>
          <a:noFill/>
          <a:ln/>
        </p:spPr>
        <p:txBody>
          <a:bodyPr wrap="square" lIns="0" tIns="0" rIns="0" bIns="0" rtlCol="0" anchor="t"/>
          <a:lstStyle/>
          <a:p>
            <a:pPr algn="ctr" indent="0" marL="0">
              <a:buNone/>
            </a:pPr>
            <a:r>
              <a:rPr lang="en-US" sz="1300" dirty="0">
                <a:solidFill>
                  <a:schemeClr val="accent5"/>
                </a:solidFill>
              </a:rPr>
              <a:t>Uang dibelikan deposito, surat utang negara, atau obligasi. Hasilnya dibagi sesuai porsi unit masing-masing.</a:t>
            </a:r>
            <a:endParaRPr lang="en-US" sz="1300" dirty="0"/>
          </a:p>
        </p:txBody>
      </p:sp>
      <p:sp>
        <p:nvSpPr>
          <p:cNvPr id="21" name="Kartu analogi"/>
          <p:cNvSpPr/>
          <p:nvPr/>
        </p:nvSpPr>
        <p:spPr>
          <a:xfrm>
            <a:off x="548640" y="4983480"/>
            <a:ext cx="11109960" cy="868680"/>
          </a:xfrm>
          <a:prstGeom prst="roundRect">
            <a:avLst>
              <a:gd name="adj" fmla="val 12632"/>
            </a:avLst>
          </a:prstGeom>
          <a:solidFill>
            <a:schemeClr val="bg2"/>
          </a:solidFill>
          <a:ln w="12700">
            <a:solidFill>
              <a:schemeClr val="bg2"/>
            </a:solidFill>
            <a:prstDash val="solid"/>
          </a:ln>
        </p:spPr>
      </p:sp>
      <p:sp>
        <p:nvSpPr>
          <p:cNvPr id="22" name="Text 17"/>
          <p:cNvSpPr txBox="1"/>
          <p:nvPr/>
        </p:nvSpPr>
        <p:spPr>
          <a:xfrm>
            <a:off x="822960" y="5120640"/>
            <a:ext cx="10607040" cy="640080"/>
          </a:xfrm>
          <a:prstGeom prst="rect">
            <a:avLst/>
          </a:prstGeom>
          <a:noFill/>
          <a:ln/>
        </p:spPr>
        <p:txBody>
          <a:bodyPr wrap="square" lIns="0" tIns="0" rIns="0" bIns="0" rtlCol="0" anchor="ctr"/>
          <a:lstStyle/>
          <a:p>
            <a:pPr indent="0" marL="0">
              <a:buNone/>
            </a:pPr>
            <a:r>
              <a:rPr lang="en-US" sz="1500" b="1" dirty="0">
                <a:solidFill>
                  <a:schemeClr val="accent1"/>
                </a:solidFill>
              </a:rPr>
              <a:t>Analogi: </a:t>
            </a:r>
            <a:pPr indent="0" marL="0">
              <a:buNone/>
            </a:pPr>
            <a:r>
              <a:rPr lang="en-US" sz="1500" dirty="0">
                <a:solidFill>
                  <a:schemeClr val="tx1"/>
                </a:solidFill>
              </a:rPr>
              <a:t>seperti satu angkatan patungan menyewa koki. Kamu tidak perlu jago masak, cukup pilih koki yang jelas izinnya dan ikut menikmati hasilnya sesuai porsi iuranmu.</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Definisi resmi: apa yang membuatnya "pasar uang"</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definisi"/>
          <p:cNvSpPr/>
          <p:nvPr/>
        </p:nvSpPr>
        <p:spPr>
          <a:xfrm>
            <a:off x="548640" y="1371600"/>
            <a:ext cx="5760720" cy="2148840"/>
          </a:xfrm>
          <a:prstGeom prst="roundRect">
            <a:avLst>
              <a:gd name="adj" fmla="val 5106"/>
            </a:avLst>
          </a:prstGeom>
          <a:solidFill>
            <a:schemeClr val="tx1"/>
          </a:solidFill>
          <a:ln w="12700">
            <a:solidFill>
              <a:schemeClr val="tx1"/>
            </a:solidFill>
            <a:prstDash val="solid"/>
          </a:ln>
        </p:spPr>
      </p:sp>
      <p:sp>
        <p:nvSpPr>
          <p:cNvPr id="5" name="Text 3"/>
          <p:cNvSpPr txBox="1"/>
          <p:nvPr/>
        </p:nvSpPr>
        <p:spPr>
          <a:xfrm>
            <a:off x="868680" y="1554480"/>
            <a:ext cx="5212080" cy="411480"/>
          </a:xfrm>
          <a:prstGeom prst="rect">
            <a:avLst/>
          </a:prstGeom>
          <a:noFill/>
          <a:ln/>
        </p:spPr>
        <p:txBody>
          <a:bodyPr wrap="square" lIns="0" tIns="0" rIns="0" bIns="0" rtlCol="0" anchor="t"/>
          <a:lstStyle/>
          <a:p>
            <a:pPr indent="0" marL="0">
              <a:buNone/>
            </a:pPr>
            <a:r>
              <a:rPr lang="en-US" sz="1800" b="1" dirty="0">
                <a:solidFill>
                  <a:schemeClr val="accent2"/>
                </a:solidFill>
              </a:rPr>
              <a:t>Reksa Dana Pasar Uang (RDPU)</a:t>
            </a:r>
            <a:endParaRPr lang="en-US" sz="1800" dirty="0"/>
          </a:p>
        </p:txBody>
      </p:sp>
      <p:sp>
        <p:nvSpPr>
          <p:cNvPr id="6" name="Text 4"/>
          <p:cNvSpPr txBox="1"/>
          <p:nvPr/>
        </p:nvSpPr>
        <p:spPr>
          <a:xfrm>
            <a:off x="868680" y="2011680"/>
            <a:ext cx="5212080" cy="1417320"/>
          </a:xfrm>
          <a:prstGeom prst="rect">
            <a:avLst/>
          </a:prstGeom>
          <a:noFill/>
          <a:ln/>
        </p:spPr>
        <p:txBody>
          <a:bodyPr wrap="square" lIns="0" tIns="0" rIns="0" bIns="0" rtlCol="0" anchor="t"/>
          <a:lstStyle/>
          <a:p>
            <a:pPr indent="0" marL="0">
              <a:buNone/>
            </a:pPr>
            <a:r>
              <a:rPr lang="en-US" sz="1400" dirty="0">
                <a:solidFill>
                  <a:schemeClr val="bg1"/>
                </a:solidFill>
              </a:rPr>
              <a:t>Reksa dana yang 100% asetnya ditempatkan pada instrumen pasar uang dalam negeri dan/atau efek bersifat utang yang jatuh temponya tidak lebih dari 1 tahun, atau sisa jatuh temponya tidak lebih dari 1 tahun.</a:t>
            </a:r>
            <a:endParaRPr lang="en-US" sz="1400" dirty="0"/>
          </a:p>
        </p:txBody>
      </p:sp>
      <p:sp>
        <p:nvSpPr>
          <p:cNvPr id="7" name="Text 5"/>
          <p:cNvSpPr txBox="1"/>
          <p:nvPr/>
        </p:nvSpPr>
        <p:spPr>
          <a:xfrm>
            <a:off x="548640" y="3703320"/>
            <a:ext cx="5760720" cy="731520"/>
          </a:xfrm>
          <a:prstGeom prst="rect">
            <a:avLst/>
          </a:prstGeom>
          <a:noFill/>
          <a:ln/>
        </p:spPr>
        <p:txBody>
          <a:bodyPr wrap="square" lIns="0" tIns="0" rIns="0" bIns="0" rtlCol="0" anchor="t"/>
          <a:lstStyle/>
          <a:p>
            <a:pPr indent="0" marL="0">
              <a:buNone/>
            </a:pPr>
            <a:r>
              <a:rPr lang="en-US" sz="1400" dirty="0">
                <a:solidFill>
                  <a:schemeClr val="tx1"/>
                </a:solidFill>
              </a:rPr>
              <a:t>Kata kuncinya: jangka pendek (maksimal 1 tahun). Karena tenornya pendek, harga isinya jarang bergejolak.</a:t>
            </a:r>
            <a:endParaRPr lang="en-US" sz="1400" dirty="0"/>
          </a:p>
        </p:txBody>
      </p:sp>
      <p:sp>
        <p:nvSpPr>
          <p:cNvPr id="8" name="Kartu isi 0"/>
          <p:cNvSpPr/>
          <p:nvPr/>
        </p:nvSpPr>
        <p:spPr>
          <a:xfrm>
            <a:off x="6629400" y="1371600"/>
            <a:ext cx="5029200" cy="1261872"/>
          </a:xfrm>
          <a:prstGeom prst="roundRect">
            <a:avLst>
              <a:gd name="adj" fmla="val 869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9" name="Deposito bank lingkaran"/>
          <p:cNvSpPr/>
          <p:nvPr/>
        </p:nvSpPr>
        <p:spPr>
          <a:xfrm>
            <a:off x="6858000" y="1645920"/>
            <a:ext cx="713232" cy="713232"/>
          </a:xfrm>
          <a:prstGeom prst="ellipse">
            <a:avLst/>
          </a:prstGeom>
          <a:solidFill>
            <a:schemeClr val="accent1"/>
          </a:solidFill>
          <a:ln w="12700">
            <a:solidFill>
              <a:schemeClr val="accent1"/>
            </a:solidFill>
            <a:prstDash val="solid"/>
          </a:ln>
        </p:spPr>
      </p:sp>
      <p:pic>
        <p:nvPicPr>
          <p:cNvPr id="10" name="Deposito bank ikon" descr="preencoded.png">    </p:cNvPr>
          <p:cNvPicPr>
            <a:picLocks noChangeAspect="1"/>
          </p:cNvPicPr>
          <p:nvPr/>
        </p:nvPicPr>
        <p:blipFill>
          <a:blip r:embed="rId2"/>
          <a:stretch>
            <a:fillRect/>
          </a:stretch>
        </p:blipFill>
        <p:spPr>
          <a:xfrm>
            <a:off x="7036308" y="1824228"/>
            <a:ext cx="356616" cy="356616"/>
          </a:xfrm>
          <a:prstGeom prst="rect">
            <a:avLst/>
          </a:prstGeom>
        </p:spPr>
      </p:pic>
      <p:sp>
        <p:nvSpPr>
          <p:cNvPr id="11" name="Text 8"/>
          <p:cNvSpPr txBox="1"/>
          <p:nvPr/>
        </p:nvSpPr>
        <p:spPr>
          <a:xfrm>
            <a:off x="7772400" y="1554480"/>
            <a:ext cx="3749040" cy="384048"/>
          </a:xfrm>
          <a:prstGeom prst="rect">
            <a:avLst/>
          </a:prstGeom>
          <a:noFill/>
          <a:ln/>
        </p:spPr>
        <p:txBody>
          <a:bodyPr wrap="square" lIns="0" tIns="0" rIns="0" bIns="0" rtlCol="0" anchor="t"/>
          <a:lstStyle/>
          <a:p>
            <a:pPr indent="0" marL="0">
              <a:buNone/>
            </a:pPr>
            <a:r>
              <a:rPr lang="en-US" sz="1500" b="1" dirty="0">
                <a:solidFill>
                  <a:schemeClr val="tx1"/>
                </a:solidFill>
              </a:rPr>
              <a:t>Deposito bank</a:t>
            </a:r>
            <a:endParaRPr lang="en-US" sz="1500" dirty="0"/>
          </a:p>
        </p:txBody>
      </p:sp>
      <p:sp>
        <p:nvSpPr>
          <p:cNvPr id="12" name="Text 9"/>
          <p:cNvSpPr txBox="1"/>
          <p:nvPr/>
        </p:nvSpPr>
        <p:spPr>
          <a:xfrm>
            <a:off x="7772400" y="1938528"/>
            <a:ext cx="3749040" cy="640080"/>
          </a:xfrm>
          <a:prstGeom prst="rect">
            <a:avLst/>
          </a:prstGeom>
          <a:noFill/>
          <a:ln/>
        </p:spPr>
        <p:txBody>
          <a:bodyPr wrap="square" lIns="0" tIns="0" rIns="0" bIns="0" rtlCol="0" anchor="t"/>
          <a:lstStyle/>
          <a:p>
            <a:pPr indent="0" marL="0">
              <a:buNone/>
            </a:pPr>
            <a:r>
              <a:rPr lang="en-US" sz="1200" dirty="0">
                <a:solidFill>
                  <a:schemeClr val="accent5"/>
                </a:solidFill>
              </a:rPr>
              <a:t>Biasanya porsi terbesar. Bunganya dipotong pajak final 20%.</a:t>
            </a:r>
            <a:endParaRPr lang="en-US" sz="1200" dirty="0"/>
          </a:p>
        </p:txBody>
      </p:sp>
      <p:sp>
        <p:nvSpPr>
          <p:cNvPr id="13" name="Kartu isi 1"/>
          <p:cNvSpPr/>
          <p:nvPr/>
        </p:nvSpPr>
        <p:spPr>
          <a:xfrm>
            <a:off x="6629400" y="2834640"/>
            <a:ext cx="5029200" cy="1261872"/>
          </a:xfrm>
          <a:prstGeom prst="roundRect">
            <a:avLst>
              <a:gd name="adj" fmla="val 869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4" name="Surat utang negara jangka pendek lingkaran"/>
          <p:cNvSpPr/>
          <p:nvPr/>
        </p:nvSpPr>
        <p:spPr>
          <a:xfrm>
            <a:off x="6858000" y="3108960"/>
            <a:ext cx="713232" cy="713232"/>
          </a:xfrm>
          <a:prstGeom prst="ellipse">
            <a:avLst/>
          </a:prstGeom>
          <a:solidFill>
            <a:schemeClr val="accent1"/>
          </a:solidFill>
          <a:ln w="12700">
            <a:solidFill>
              <a:schemeClr val="accent1"/>
            </a:solidFill>
            <a:prstDash val="solid"/>
          </a:ln>
        </p:spPr>
      </p:sp>
      <p:pic>
        <p:nvPicPr>
          <p:cNvPr id="15" name="Surat utang negara jangka pendek ikon" descr="preencoded.png">    </p:cNvPr>
          <p:cNvPicPr>
            <a:picLocks noChangeAspect="1"/>
          </p:cNvPicPr>
          <p:nvPr/>
        </p:nvPicPr>
        <p:blipFill>
          <a:blip r:embed="rId3"/>
          <a:stretch>
            <a:fillRect/>
          </a:stretch>
        </p:blipFill>
        <p:spPr>
          <a:xfrm>
            <a:off x="7036308" y="3287268"/>
            <a:ext cx="356616" cy="356616"/>
          </a:xfrm>
          <a:prstGeom prst="rect">
            <a:avLst/>
          </a:prstGeom>
        </p:spPr>
      </p:pic>
      <p:sp>
        <p:nvSpPr>
          <p:cNvPr id="16" name="Text 12"/>
          <p:cNvSpPr txBox="1"/>
          <p:nvPr/>
        </p:nvSpPr>
        <p:spPr>
          <a:xfrm>
            <a:off x="7772400" y="3017520"/>
            <a:ext cx="3749040" cy="384048"/>
          </a:xfrm>
          <a:prstGeom prst="rect">
            <a:avLst/>
          </a:prstGeom>
          <a:noFill/>
          <a:ln/>
        </p:spPr>
        <p:txBody>
          <a:bodyPr wrap="square" lIns="0" tIns="0" rIns="0" bIns="0" rtlCol="0" anchor="t"/>
          <a:lstStyle/>
          <a:p>
            <a:pPr indent="0" marL="0">
              <a:buNone/>
            </a:pPr>
            <a:r>
              <a:rPr lang="en-US" sz="1500" b="1" dirty="0">
                <a:solidFill>
                  <a:schemeClr val="tx1"/>
                </a:solidFill>
              </a:rPr>
              <a:t>Surat utang negara jangka pendek</a:t>
            </a:r>
            <a:endParaRPr lang="en-US" sz="1500" dirty="0"/>
          </a:p>
        </p:txBody>
      </p:sp>
      <p:sp>
        <p:nvSpPr>
          <p:cNvPr id="17" name="Text 13"/>
          <p:cNvSpPr txBox="1"/>
          <p:nvPr/>
        </p:nvSpPr>
        <p:spPr>
          <a:xfrm>
            <a:off x="7772400" y="3401568"/>
            <a:ext cx="3749040" cy="640080"/>
          </a:xfrm>
          <a:prstGeom prst="rect">
            <a:avLst/>
          </a:prstGeom>
          <a:noFill/>
          <a:ln/>
        </p:spPr>
        <p:txBody>
          <a:bodyPr wrap="square" lIns="0" tIns="0" rIns="0" bIns="0" rtlCol="0" anchor="t"/>
          <a:lstStyle/>
          <a:p>
            <a:pPr indent="0" marL="0">
              <a:buNone/>
            </a:pPr>
            <a:r>
              <a:rPr lang="en-US" sz="1200" dirty="0">
                <a:solidFill>
                  <a:schemeClr val="accent5"/>
                </a:solidFill>
              </a:rPr>
              <a:t>Contoh: Surat Perbendaharaan Negara (SPN) dan sukuk negara tenor pendek.</a:t>
            </a:r>
            <a:endParaRPr lang="en-US" sz="1200" dirty="0"/>
          </a:p>
        </p:txBody>
      </p:sp>
      <p:sp>
        <p:nvSpPr>
          <p:cNvPr id="18" name="Kartu isi 2"/>
          <p:cNvSpPr/>
          <p:nvPr/>
        </p:nvSpPr>
        <p:spPr>
          <a:xfrm>
            <a:off x="6629400" y="4297680"/>
            <a:ext cx="5029200" cy="1261872"/>
          </a:xfrm>
          <a:prstGeom prst="roundRect">
            <a:avLst>
              <a:gd name="adj" fmla="val 869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9" name="Obligasi atau sukuk korporasi lingkaran"/>
          <p:cNvSpPr/>
          <p:nvPr/>
        </p:nvSpPr>
        <p:spPr>
          <a:xfrm>
            <a:off x="6858000" y="4572000"/>
            <a:ext cx="713232" cy="713232"/>
          </a:xfrm>
          <a:prstGeom prst="ellipse">
            <a:avLst/>
          </a:prstGeom>
          <a:solidFill>
            <a:schemeClr val="accent1"/>
          </a:solidFill>
          <a:ln w="12700">
            <a:solidFill>
              <a:schemeClr val="accent1"/>
            </a:solidFill>
            <a:prstDash val="solid"/>
          </a:ln>
        </p:spPr>
      </p:sp>
      <p:pic>
        <p:nvPicPr>
          <p:cNvPr id="20" name="Obligasi atau sukuk korporasi ikon" descr="preencoded.png">    </p:cNvPr>
          <p:cNvPicPr>
            <a:picLocks noChangeAspect="1"/>
          </p:cNvPicPr>
          <p:nvPr/>
        </p:nvPicPr>
        <p:blipFill>
          <a:blip r:embed="rId4"/>
          <a:stretch>
            <a:fillRect/>
          </a:stretch>
        </p:blipFill>
        <p:spPr>
          <a:xfrm>
            <a:off x="7036308" y="4750308"/>
            <a:ext cx="356616" cy="356616"/>
          </a:xfrm>
          <a:prstGeom prst="rect">
            <a:avLst/>
          </a:prstGeom>
        </p:spPr>
      </p:pic>
      <p:sp>
        <p:nvSpPr>
          <p:cNvPr id="21" name="Text 16"/>
          <p:cNvSpPr txBox="1"/>
          <p:nvPr/>
        </p:nvSpPr>
        <p:spPr>
          <a:xfrm>
            <a:off x="7772400" y="4480560"/>
            <a:ext cx="3749040" cy="384048"/>
          </a:xfrm>
          <a:prstGeom prst="rect">
            <a:avLst/>
          </a:prstGeom>
          <a:noFill/>
          <a:ln/>
        </p:spPr>
        <p:txBody>
          <a:bodyPr wrap="square" lIns="0" tIns="0" rIns="0" bIns="0" rtlCol="0" anchor="t"/>
          <a:lstStyle/>
          <a:p>
            <a:pPr indent="0" marL="0">
              <a:buNone/>
            </a:pPr>
            <a:r>
              <a:rPr lang="en-US" sz="1500" b="1" dirty="0">
                <a:solidFill>
                  <a:schemeClr val="tx1"/>
                </a:solidFill>
              </a:rPr>
              <a:t>Obligasi atau sukuk korporasi</a:t>
            </a:r>
            <a:endParaRPr lang="en-US" sz="1500" dirty="0"/>
          </a:p>
        </p:txBody>
      </p:sp>
      <p:sp>
        <p:nvSpPr>
          <p:cNvPr id="22" name="Text 17"/>
          <p:cNvSpPr txBox="1"/>
          <p:nvPr/>
        </p:nvSpPr>
        <p:spPr>
          <a:xfrm>
            <a:off x="7772400" y="4864608"/>
            <a:ext cx="3749040" cy="640080"/>
          </a:xfrm>
          <a:prstGeom prst="rect">
            <a:avLst/>
          </a:prstGeom>
          <a:noFill/>
          <a:ln/>
        </p:spPr>
        <p:txBody>
          <a:bodyPr wrap="square" lIns="0" tIns="0" rIns="0" bIns="0" rtlCol="0" anchor="t"/>
          <a:lstStyle/>
          <a:p>
            <a:pPr indent="0" marL="0">
              <a:buNone/>
            </a:pPr>
            <a:r>
              <a:rPr lang="en-US" sz="1200" dirty="0">
                <a:solidFill>
                  <a:schemeClr val="accent5"/>
                </a:solidFill>
              </a:rPr>
              <a:t>Yang jatuh temponya, atau sisa jatuh temponya, maksimal 1 tahun.</a:t>
            </a:r>
            <a:endParaRPr lang="en-US" sz="1200" dirty="0"/>
          </a:p>
        </p:txBody>
      </p:sp>
      <p:sp>
        <p:nvSpPr>
          <p:cNvPr id="23" name="Kartu syariah"/>
          <p:cNvSpPr/>
          <p:nvPr/>
        </p:nvSpPr>
        <p:spPr>
          <a:xfrm>
            <a:off x="548640" y="4572000"/>
            <a:ext cx="5760720" cy="1234440"/>
          </a:xfrm>
          <a:prstGeom prst="roundRect">
            <a:avLst>
              <a:gd name="adj" fmla="val 8889"/>
            </a:avLst>
          </a:prstGeom>
          <a:solidFill>
            <a:schemeClr val="bg2"/>
          </a:solidFill>
          <a:ln w="12700">
            <a:solidFill>
              <a:schemeClr val="bg2"/>
            </a:solidFill>
            <a:prstDash val="solid"/>
          </a:ln>
        </p:spPr>
      </p:sp>
      <p:sp>
        <p:nvSpPr>
          <p:cNvPr id="24" name="Text 19"/>
          <p:cNvSpPr txBox="1"/>
          <p:nvPr/>
        </p:nvSpPr>
        <p:spPr>
          <a:xfrm>
            <a:off x="822960" y="4709160"/>
            <a:ext cx="5303520" cy="1005840"/>
          </a:xfrm>
          <a:prstGeom prst="rect">
            <a:avLst/>
          </a:prstGeom>
          <a:noFill/>
          <a:ln/>
        </p:spPr>
        <p:txBody>
          <a:bodyPr wrap="square" lIns="0" tIns="0" rIns="0" bIns="0" rtlCol="0" anchor="ctr"/>
          <a:lstStyle/>
          <a:p>
            <a:pPr indent="0" marL="0">
              <a:buNone/>
            </a:pPr>
            <a:r>
              <a:rPr lang="en-US" sz="1300" b="1" dirty="0">
                <a:solidFill>
                  <a:schemeClr val="accent1"/>
                </a:solidFill>
              </a:rPr>
              <a:t>Ada versi syariah. </a:t>
            </a:r>
            <a:pPr indent="0" marL="0">
              <a:buNone/>
            </a:pPr>
            <a:r>
              <a:rPr lang="en-US" sz="1300" dirty="0">
                <a:solidFill>
                  <a:schemeClr val="tx1"/>
                </a:solidFill>
              </a:rPr>
              <a:t>RDPU Syariah menempatkan dana di deposito syariah dan sukuk, diawasi Dewan Pengawas Syariah. Cara kerjanya sama.</a:t>
            </a:r>
            <a:endParaRPr lang="en-US" sz="1300" dirty="0"/>
          </a:p>
        </p:txBody>
      </p:sp>
      <p:sp>
        <p:nvSpPr>
          <p:cNvPr id="25" name="Text 20"/>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POJK 23/POJK.04/2016 tentang Reksa Dana berbentuk KIK dan perubahannya; prospektus RDPU.</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Posisi RDPU di antara jenis reksa dana lain</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Text 2"/>
          <p:cNvSpPr txBox="1"/>
          <p:nvPr/>
        </p:nvSpPr>
        <p:spPr>
          <a:xfrm>
            <a:off x="548640" y="1280160"/>
            <a:ext cx="5486400" cy="365760"/>
          </a:xfrm>
          <a:prstGeom prst="rect">
            <a:avLst/>
          </a:prstGeom>
          <a:noFill/>
          <a:ln/>
        </p:spPr>
        <p:txBody>
          <a:bodyPr wrap="square" lIns="0" tIns="0" rIns="0" bIns="0" rtlCol="0" anchor="t"/>
          <a:lstStyle/>
          <a:p>
            <a:pPr indent="0" marL="0">
              <a:buNone/>
            </a:pPr>
            <a:r>
              <a:rPr lang="en-US" sz="1400" b="1" dirty="0">
                <a:solidFill>
                  <a:schemeClr val="accent5"/>
                </a:solidFill>
              </a:rPr>
              <a:t>Tangga risiko dan horizon investasi yang umum dipakai</a:t>
            </a:r>
            <a:endParaRPr lang="en-US" sz="1400" dirty="0"/>
          </a:p>
        </p:txBody>
      </p:sp>
      <p:sp>
        <p:nvSpPr>
          <p:cNvPr id="5" name="Tangga Pasar Uang"/>
          <p:cNvSpPr/>
          <p:nvPr/>
        </p:nvSpPr>
        <p:spPr>
          <a:xfrm>
            <a:off x="548640" y="4709160"/>
            <a:ext cx="5394960" cy="777240"/>
          </a:xfrm>
          <a:prstGeom prst="roundRect">
            <a:avLst>
              <a:gd name="adj" fmla="val 11765"/>
            </a:avLst>
          </a:prstGeom>
          <a:solidFill>
            <a:srgbClr val="17A589"/>
          </a:solidFill>
          <a:ln w="12700">
            <a:solidFill>
              <a:srgbClr val="17A589"/>
            </a:solidFill>
            <a:prstDash val="solid"/>
          </a:ln>
        </p:spPr>
      </p:sp>
      <p:sp>
        <p:nvSpPr>
          <p:cNvPr id="6" name="Text 4"/>
          <p:cNvSpPr txBox="1"/>
          <p:nvPr/>
        </p:nvSpPr>
        <p:spPr>
          <a:xfrm>
            <a:off x="777240" y="4782312"/>
            <a:ext cx="2377440" cy="365760"/>
          </a:xfrm>
          <a:prstGeom prst="rect">
            <a:avLst/>
          </a:prstGeom>
          <a:noFill/>
          <a:ln/>
        </p:spPr>
        <p:txBody>
          <a:bodyPr wrap="square" lIns="0" tIns="0" rIns="0" bIns="0" rtlCol="0" anchor="t"/>
          <a:lstStyle/>
          <a:p>
            <a:pPr indent="0" marL="0">
              <a:buNone/>
            </a:pPr>
            <a:r>
              <a:rPr lang="en-US" sz="1500" b="1" dirty="0">
                <a:solidFill>
                  <a:schemeClr val="bg1"/>
                </a:solidFill>
              </a:rPr>
              <a:t>Pasar Uang</a:t>
            </a:r>
            <a:endParaRPr lang="en-US" sz="1500" dirty="0"/>
          </a:p>
        </p:txBody>
      </p:sp>
      <p:sp>
        <p:nvSpPr>
          <p:cNvPr id="7" name="Text 5"/>
          <p:cNvSpPr txBox="1"/>
          <p:nvPr/>
        </p:nvSpPr>
        <p:spPr>
          <a:xfrm>
            <a:off x="777240" y="5120640"/>
            <a:ext cx="5029200" cy="320040"/>
          </a:xfrm>
          <a:prstGeom prst="rect">
            <a:avLst/>
          </a:prstGeom>
          <a:noFill/>
          <a:ln/>
        </p:spPr>
        <p:txBody>
          <a:bodyPr wrap="square" lIns="0" tIns="0" rIns="0" bIns="0" rtlCol="0" anchor="t"/>
          <a:lstStyle/>
          <a:p>
            <a:pPr indent="0" marL="0">
              <a:buNone/>
            </a:pPr>
            <a:r>
              <a:rPr lang="en-US" sz="1150" dirty="0">
                <a:solidFill>
                  <a:schemeClr val="bg1"/>
                </a:solidFill>
              </a:rPr>
              <a:t>Risiko paling rendah  |  Di bawah 1 tahun</a:t>
            </a:r>
            <a:endParaRPr lang="en-US" sz="1150" dirty="0"/>
          </a:p>
        </p:txBody>
      </p:sp>
      <p:sp>
        <p:nvSpPr>
          <p:cNvPr id="8" name="Tangga Pendapatan Tetap"/>
          <p:cNvSpPr/>
          <p:nvPr/>
        </p:nvSpPr>
        <p:spPr>
          <a:xfrm>
            <a:off x="960120" y="3794760"/>
            <a:ext cx="4983480" cy="777240"/>
          </a:xfrm>
          <a:prstGeom prst="roundRect">
            <a:avLst>
              <a:gd name="adj" fmla="val 11765"/>
            </a:avLst>
          </a:prstGeom>
          <a:solidFill>
            <a:srgbClr val="4F7FD9">
              <a:alpha val="85000"/>
            </a:srgbClr>
          </a:solidFill>
          <a:ln w="12700">
            <a:solidFill>
              <a:srgbClr val="4F7FD9"/>
            </a:solidFill>
            <a:prstDash val="solid"/>
          </a:ln>
        </p:spPr>
      </p:sp>
      <p:sp>
        <p:nvSpPr>
          <p:cNvPr id="9" name="Text 7"/>
          <p:cNvSpPr txBox="1"/>
          <p:nvPr/>
        </p:nvSpPr>
        <p:spPr>
          <a:xfrm>
            <a:off x="1188720" y="3867912"/>
            <a:ext cx="2377440" cy="365760"/>
          </a:xfrm>
          <a:prstGeom prst="rect">
            <a:avLst/>
          </a:prstGeom>
          <a:noFill/>
          <a:ln/>
        </p:spPr>
        <p:txBody>
          <a:bodyPr wrap="square" lIns="0" tIns="0" rIns="0" bIns="0" rtlCol="0" anchor="t"/>
          <a:lstStyle/>
          <a:p>
            <a:pPr indent="0" marL="0">
              <a:buNone/>
            </a:pPr>
            <a:r>
              <a:rPr lang="en-US" sz="1500" b="1" dirty="0">
                <a:solidFill>
                  <a:schemeClr val="bg1"/>
                </a:solidFill>
              </a:rPr>
              <a:t>Pendapatan Tetap</a:t>
            </a:r>
            <a:endParaRPr lang="en-US" sz="1500" dirty="0"/>
          </a:p>
        </p:txBody>
      </p:sp>
      <p:sp>
        <p:nvSpPr>
          <p:cNvPr id="10" name="Text 8"/>
          <p:cNvSpPr txBox="1"/>
          <p:nvPr/>
        </p:nvSpPr>
        <p:spPr>
          <a:xfrm>
            <a:off x="1188720" y="4206240"/>
            <a:ext cx="4617720" cy="320040"/>
          </a:xfrm>
          <a:prstGeom prst="rect">
            <a:avLst/>
          </a:prstGeom>
          <a:noFill/>
          <a:ln/>
        </p:spPr>
        <p:txBody>
          <a:bodyPr wrap="square" lIns="0" tIns="0" rIns="0" bIns="0" rtlCol="0" anchor="t"/>
          <a:lstStyle/>
          <a:p>
            <a:pPr indent="0" marL="0">
              <a:buNone/>
            </a:pPr>
            <a:r>
              <a:rPr lang="en-US" sz="1150" dirty="0">
                <a:solidFill>
                  <a:schemeClr val="bg1"/>
                </a:solidFill>
              </a:rPr>
              <a:t>Rendah sampai sedang  |  1 sampai 3 tahun</a:t>
            </a:r>
            <a:endParaRPr lang="en-US" sz="1150" dirty="0"/>
          </a:p>
        </p:txBody>
      </p:sp>
      <p:sp>
        <p:nvSpPr>
          <p:cNvPr id="11" name="Tangga Campuran"/>
          <p:cNvSpPr/>
          <p:nvPr/>
        </p:nvSpPr>
        <p:spPr>
          <a:xfrm>
            <a:off x="1371600" y="2880360"/>
            <a:ext cx="4572000" cy="777240"/>
          </a:xfrm>
          <a:prstGeom prst="roundRect">
            <a:avLst>
              <a:gd name="adj" fmla="val 11765"/>
            </a:avLst>
          </a:prstGeom>
          <a:solidFill>
            <a:srgbClr val="F2B33D">
              <a:alpha val="85000"/>
            </a:srgbClr>
          </a:solidFill>
          <a:ln w="12700">
            <a:solidFill>
              <a:srgbClr val="F2B33D"/>
            </a:solidFill>
            <a:prstDash val="solid"/>
          </a:ln>
        </p:spPr>
      </p:sp>
      <p:sp>
        <p:nvSpPr>
          <p:cNvPr id="12" name="Text 10"/>
          <p:cNvSpPr txBox="1"/>
          <p:nvPr/>
        </p:nvSpPr>
        <p:spPr>
          <a:xfrm>
            <a:off x="1600200" y="2953512"/>
            <a:ext cx="2377440" cy="365760"/>
          </a:xfrm>
          <a:prstGeom prst="rect">
            <a:avLst/>
          </a:prstGeom>
          <a:noFill/>
          <a:ln/>
        </p:spPr>
        <p:txBody>
          <a:bodyPr wrap="square" lIns="0" tIns="0" rIns="0" bIns="0" rtlCol="0" anchor="t"/>
          <a:lstStyle/>
          <a:p>
            <a:pPr indent="0" marL="0">
              <a:buNone/>
            </a:pPr>
            <a:r>
              <a:rPr lang="en-US" sz="1500" b="1" dirty="0">
                <a:solidFill>
                  <a:schemeClr val="tx1"/>
                </a:solidFill>
              </a:rPr>
              <a:t>Campuran</a:t>
            </a:r>
            <a:endParaRPr lang="en-US" sz="1500" dirty="0"/>
          </a:p>
        </p:txBody>
      </p:sp>
      <p:sp>
        <p:nvSpPr>
          <p:cNvPr id="13" name="Text 11"/>
          <p:cNvSpPr txBox="1"/>
          <p:nvPr/>
        </p:nvSpPr>
        <p:spPr>
          <a:xfrm>
            <a:off x="1600200" y="3291840"/>
            <a:ext cx="4206240" cy="320040"/>
          </a:xfrm>
          <a:prstGeom prst="rect">
            <a:avLst/>
          </a:prstGeom>
          <a:noFill/>
          <a:ln/>
        </p:spPr>
        <p:txBody>
          <a:bodyPr wrap="square" lIns="0" tIns="0" rIns="0" bIns="0" rtlCol="0" anchor="t"/>
          <a:lstStyle/>
          <a:p>
            <a:pPr indent="0" marL="0">
              <a:buNone/>
            </a:pPr>
            <a:r>
              <a:rPr lang="en-US" sz="1150" dirty="0">
                <a:solidFill>
                  <a:schemeClr val="tx1"/>
                </a:solidFill>
              </a:rPr>
              <a:t>Sedang  |  3 sampai 5 tahun</a:t>
            </a:r>
            <a:endParaRPr lang="en-US" sz="1150" dirty="0"/>
          </a:p>
        </p:txBody>
      </p:sp>
      <p:sp>
        <p:nvSpPr>
          <p:cNvPr id="14" name="Tangga Saham"/>
          <p:cNvSpPr/>
          <p:nvPr/>
        </p:nvSpPr>
        <p:spPr>
          <a:xfrm>
            <a:off x="1783080" y="1965960"/>
            <a:ext cx="4160520" cy="777240"/>
          </a:xfrm>
          <a:prstGeom prst="roundRect">
            <a:avLst>
              <a:gd name="adj" fmla="val 11765"/>
            </a:avLst>
          </a:prstGeom>
          <a:solidFill>
            <a:srgbClr val="E0625F">
              <a:alpha val="85000"/>
            </a:srgbClr>
          </a:solidFill>
          <a:ln w="12700">
            <a:solidFill>
              <a:srgbClr val="E0625F"/>
            </a:solidFill>
            <a:prstDash val="solid"/>
          </a:ln>
        </p:spPr>
      </p:sp>
      <p:sp>
        <p:nvSpPr>
          <p:cNvPr id="15" name="Text 13"/>
          <p:cNvSpPr txBox="1"/>
          <p:nvPr/>
        </p:nvSpPr>
        <p:spPr>
          <a:xfrm>
            <a:off x="2011680" y="2039112"/>
            <a:ext cx="2377440" cy="365760"/>
          </a:xfrm>
          <a:prstGeom prst="rect">
            <a:avLst/>
          </a:prstGeom>
          <a:noFill/>
          <a:ln/>
        </p:spPr>
        <p:txBody>
          <a:bodyPr wrap="square" lIns="0" tIns="0" rIns="0" bIns="0" rtlCol="0" anchor="t"/>
          <a:lstStyle/>
          <a:p>
            <a:pPr indent="0" marL="0">
              <a:buNone/>
            </a:pPr>
            <a:r>
              <a:rPr lang="en-US" sz="1500" b="1" dirty="0">
                <a:solidFill>
                  <a:schemeClr val="bg1"/>
                </a:solidFill>
              </a:rPr>
              <a:t>Saham</a:t>
            </a:r>
            <a:endParaRPr lang="en-US" sz="1500" dirty="0"/>
          </a:p>
        </p:txBody>
      </p:sp>
      <p:sp>
        <p:nvSpPr>
          <p:cNvPr id="16" name="Text 14"/>
          <p:cNvSpPr txBox="1"/>
          <p:nvPr/>
        </p:nvSpPr>
        <p:spPr>
          <a:xfrm>
            <a:off x="2011680" y="2377440"/>
            <a:ext cx="3794760" cy="320040"/>
          </a:xfrm>
          <a:prstGeom prst="rect">
            <a:avLst/>
          </a:prstGeom>
          <a:noFill/>
          <a:ln/>
        </p:spPr>
        <p:txBody>
          <a:bodyPr wrap="square" lIns="0" tIns="0" rIns="0" bIns="0" rtlCol="0" anchor="t"/>
          <a:lstStyle/>
          <a:p>
            <a:pPr indent="0" marL="0">
              <a:buNone/>
            </a:pPr>
            <a:r>
              <a:rPr lang="en-US" sz="1150" dirty="0">
                <a:solidFill>
                  <a:schemeClr val="bg1"/>
                </a:solidFill>
              </a:rPr>
              <a:t>Paling tinggi  |  Di atas 5 tahun</a:t>
            </a:r>
            <a:endParaRPr lang="en-US" sz="1150" dirty="0"/>
          </a:p>
        </p:txBody>
      </p:sp>
      <p:sp>
        <p:nvSpPr>
          <p:cNvPr id="17" name="Text 15"/>
          <p:cNvSpPr txBox="1"/>
          <p:nvPr/>
        </p:nvSpPr>
        <p:spPr>
          <a:xfrm>
            <a:off x="548640" y="5559552"/>
            <a:ext cx="5760720" cy="274320"/>
          </a:xfrm>
          <a:prstGeom prst="rect">
            <a:avLst/>
          </a:prstGeom>
          <a:noFill/>
          <a:ln/>
        </p:spPr>
        <p:txBody>
          <a:bodyPr wrap="square" lIns="0" tIns="0" rIns="0" bIns="0" rtlCol="0" anchor="t"/>
          <a:lstStyle/>
          <a:p>
            <a:pPr indent="0" marL="0">
              <a:buNone/>
            </a:pPr>
            <a:r>
              <a:rPr lang="en-US" sz="1100" i="1" dirty="0">
                <a:solidFill>
                  <a:schemeClr val="accent5"/>
                </a:solidFill>
              </a:rPr>
              <a:t>Makin ke atas: potensi hasil makin tinggi, naik turunnya juga makin besar.</a:t>
            </a:r>
            <a:endParaRPr lang="en-US" sz="1100" dirty="0"/>
          </a:p>
        </p:txBody>
      </p:sp>
      <p:graphicFrame>
        <p:nvGraphicFramePr>
          <p:cNvPr id="18" name="Chart 0" descr=""/>
          <p:cNvGraphicFramePr/>
          <p:nvPr/>
        </p:nvGraphicFramePr>
        <p:xfrm>
          <a:off x="6492240" y="1280160"/>
          <a:ext cx="5166360" cy="4526280"/>
        </p:xfrm>
        <a:graphic xmlns:a="http://schemas.openxmlformats.org/drawingml/2006/main">
          <a:graphicData uri="http://schemas.openxmlformats.org/drawingml/2006/chart">
            <c:chart xmlns:c="http://schemas.openxmlformats.org/drawingml/2006/chart" r:id="rId2"/>
          </a:graphicData>
        </a:graphic>
      </p:graphicFrame>
      <p:sp>
        <p:nvSpPr>
          <p:cNvPr id="19" name="Text 16"/>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AUM: KSEI Statistik Publik Juli 2026 (data S-INVEST). RDPU: 197 produk, Rp133,58 triliun.</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Siapa saja yang terlibat</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pihak OJK"/>
          <p:cNvSpPr/>
          <p:nvPr/>
        </p:nvSpPr>
        <p:spPr>
          <a:xfrm>
            <a:off x="548640" y="137160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OJK lingkaran"/>
          <p:cNvSpPr/>
          <p:nvPr/>
        </p:nvSpPr>
        <p:spPr>
          <a:xfrm>
            <a:off x="749808" y="1645920"/>
            <a:ext cx="685800" cy="685800"/>
          </a:xfrm>
          <a:prstGeom prst="ellipse">
            <a:avLst/>
          </a:prstGeom>
          <a:solidFill>
            <a:schemeClr val="accent1"/>
          </a:solidFill>
          <a:ln w="12700">
            <a:solidFill>
              <a:schemeClr val="accent1"/>
            </a:solidFill>
            <a:prstDash val="solid"/>
          </a:ln>
        </p:spPr>
      </p:sp>
      <p:pic>
        <p:nvPicPr>
          <p:cNvPr id="6" name="OJK ikon" descr="preencoded.png">    </p:cNvPr>
          <p:cNvPicPr>
            <a:picLocks noChangeAspect="1"/>
          </p:cNvPicPr>
          <p:nvPr/>
        </p:nvPicPr>
        <p:blipFill>
          <a:blip r:embed="rId2"/>
          <a:stretch>
            <a:fillRect/>
          </a:stretch>
        </p:blipFill>
        <p:spPr>
          <a:xfrm>
            <a:off x="921258" y="1817370"/>
            <a:ext cx="342900" cy="342900"/>
          </a:xfrm>
          <a:prstGeom prst="rect">
            <a:avLst/>
          </a:prstGeom>
        </p:spPr>
      </p:pic>
      <p:sp>
        <p:nvSpPr>
          <p:cNvPr id="7" name="Text 4"/>
          <p:cNvSpPr txBox="1"/>
          <p:nvPr/>
        </p:nvSpPr>
        <p:spPr>
          <a:xfrm>
            <a:off x="1600200" y="1536192"/>
            <a:ext cx="2148840" cy="365760"/>
          </a:xfrm>
          <a:prstGeom prst="rect">
            <a:avLst/>
          </a:prstGeom>
          <a:noFill/>
          <a:ln/>
        </p:spPr>
        <p:txBody>
          <a:bodyPr wrap="square" lIns="0" tIns="0" rIns="0" bIns="0" rtlCol="0" anchor="t"/>
          <a:lstStyle/>
          <a:p>
            <a:pPr indent="0" marL="0">
              <a:buNone/>
            </a:pPr>
            <a:r>
              <a:rPr lang="en-US" sz="1400" b="1" dirty="0">
                <a:solidFill>
                  <a:schemeClr val="tx1"/>
                </a:solidFill>
              </a:rPr>
              <a:t>OJK</a:t>
            </a:r>
            <a:endParaRPr lang="en-US" sz="1400" dirty="0"/>
          </a:p>
        </p:txBody>
      </p:sp>
      <p:sp>
        <p:nvSpPr>
          <p:cNvPr id="8" name="Text 5"/>
          <p:cNvSpPr txBox="1"/>
          <p:nvPr/>
        </p:nvSpPr>
        <p:spPr>
          <a:xfrm>
            <a:off x="1600200" y="190195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Regulator. Memberi izin dan mengawasi seluruh pihak.</a:t>
            </a:r>
            <a:endParaRPr lang="en-US" sz="1100" dirty="0"/>
          </a:p>
        </p:txBody>
      </p:sp>
      <p:sp>
        <p:nvSpPr>
          <p:cNvPr id="9" name="Kartu pihak Manajer Investasi"/>
          <p:cNvSpPr/>
          <p:nvPr/>
        </p:nvSpPr>
        <p:spPr>
          <a:xfrm>
            <a:off x="4069080" y="137160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0" name="Manajer Investasi lingkaran"/>
          <p:cNvSpPr/>
          <p:nvPr/>
        </p:nvSpPr>
        <p:spPr>
          <a:xfrm>
            <a:off x="4270248" y="1645920"/>
            <a:ext cx="685800" cy="685800"/>
          </a:xfrm>
          <a:prstGeom prst="ellipse">
            <a:avLst/>
          </a:prstGeom>
          <a:solidFill>
            <a:schemeClr val="accent1"/>
          </a:solidFill>
          <a:ln w="12700">
            <a:solidFill>
              <a:schemeClr val="accent1"/>
            </a:solidFill>
            <a:prstDash val="solid"/>
          </a:ln>
        </p:spPr>
      </p:sp>
      <p:pic>
        <p:nvPicPr>
          <p:cNvPr id="11" name="Manajer Investasi ikon" descr="preencoded.png">    </p:cNvPr>
          <p:cNvPicPr>
            <a:picLocks noChangeAspect="1"/>
          </p:cNvPicPr>
          <p:nvPr/>
        </p:nvPicPr>
        <p:blipFill>
          <a:blip r:embed="rId3"/>
          <a:stretch>
            <a:fillRect/>
          </a:stretch>
        </p:blipFill>
        <p:spPr>
          <a:xfrm>
            <a:off x="4441698" y="1817370"/>
            <a:ext cx="342900" cy="342900"/>
          </a:xfrm>
          <a:prstGeom prst="rect">
            <a:avLst/>
          </a:prstGeom>
        </p:spPr>
      </p:pic>
      <p:sp>
        <p:nvSpPr>
          <p:cNvPr id="12" name="Text 8"/>
          <p:cNvSpPr txBox="1"/>
          <p:nvPr/>
        </p:nvSpPr>
        <p:spPr>
          <a:xfrm>
            <a:off x="5120640" y="1536192"/>
            <a:ext cx="2148840" cy="365760"/>
          </a:xfrm>
          <a:prstGeom prst="rect">
            <a:avLst/>
          </a:prstGeom>
          <a:noFill/>
          <a:ln/>
        </p:spPr>
        <p:txBody>
          <a:bodyPr wrap="square" lIns="0" tIns="0" rIns="0" bIns="0" rtlCol="0" anchor="t"/>
          <a:lstStyle/>
          <a:p>
            <a:pPr indent="0" marL="0">
              <a:buNone/>
            </a:pPr>
            <a:r>
              <a:rPr lang="en-US" sz="1400" b="1" dirty="0">
                <a:solidFill>
                  <a:schemeClr val="tx1"/>
                </a:solidFill>
              </a:rPr>
              <a:t>Manajer Investasi</a:t>
            </a:r>
            <a:endParaRPr lang="en-US" sz="1400" dirty="0"/>
          </a:p>
        </p:txBody>
      </p:sp>
      <p:sp>
        <p:nvSpPr>
          <p:cNvPr id="13" name="Text 9"/>
          <p:cNvSpPr txBox="1"/>
          <p:nvPr/>
        </p:nvSpPr>
        <p:spPr>
          <a:xfrm>
            <a:off x="5120640" y="190195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Mengelola portofolio. Tidak memegang uang investor.</a:t>
            </a:r>
            <a:endParaRPr lang="en-US" sz="1100" dirty="0"/>
          </a:p>
        </p:txBody>
      </p:sp>
      <p:sp>
        <p:nvSpPr>
          <p:cNvPr id="14" name="Kartu pihak Bank Kustodian"/>
          <p:cNvSpPr/>
          <p:nvPr/>
        </p:nvSpPr>
        <p:spPr>
          <a:xfrm>
            <a:off x="548640" y="283464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Bank Kustodian lingkaran"/>
          <p:cNvSpPr/>
          <p:nvPr/>
        </p:nvSpPr>
        <p:spPr>
          <a:xfrm>
            <a:off x="749808" y="3108960"/>
            <a:ext cx="685800" cy="685800"/>
          </a:xfrm>
          <a:prstGeom prst="ellipse">
            <a:avLst/>
          </a:prstGeom>
          <a:solidFill>
            <a:schemeClr val="accent1"/>
          </a:solidFill>
          <a:ln w="12700">
            <a:solidFill>
              <a:schemeClr val="accent1"/>
            </a:solidFill>
            <a:prstDash val="solid"/>
          </a:ln>
        </p:spPr>
      </p:sp>
      <p:pic>
        <p:nvPicPr>
          <p:cNvPr id="16" name="Bank Kustodian ikon" descr="preencoded.png">    </p:cNvPr>
          <p:cNvPicPr>
            <a:picLocks noChangeAspect="1"/>
          </p:cNvPicPr>
          <p:nvPr/>
        </p:nvPicPr>
        <p:blipFill>
          <a:blip r:embed="rId4"/>
          <a:stretch>
            <a:fillRect/>
          </a:stretch>
        </p:blipFill>
        <p:spPr>
          <a:xfrm>
            <a:off x="921258" y="3280410"/>
            <a:ext cx="342900" cy="342900"/>
          </a:xfrm>
          <a:prstGeom prst="rect">
            <a:avLst/>
          </a:prstGeom>
        </p:spPr>
      </p:pic>
      <p:sp>
        <p:nvSpPr>
          <p:cNvPr id="17" name="Text 12"/>
          <p:cNvSpPr txBox="1"/>
          <p:nvPr/>
        </p:nvSpPr>
        <p:spPr>
          <a:xfrm>
            <a:off x="1600200" y="2999232"/>
            <a:ext cx="2148840" cy="365760"/>
          </a:xfrm>
          <a:prstGeom prst="rect">
            <a:avLst/>
          </a:prstGeom>
          <a:noFill/>
          <a:ln/>
        </p:spPr>
        <p:txBody>
          <a:bodyPr wrap="square" lIns="0" tIns="0" rIns="0" bIns="0" rtlCol="0" anchor="t"/>
          <a:lstStyle/>
          <a:p>
            <a:pPr indent="0" marL="0">
              <a:buNone/>
            </a:pPr>
            <a:r>
              <a:rPr lang="en-US" sz="1400" b="1" dirty="0">
                <a:solidFill>
                  <a:schemeClr val="tx1"/>
                </a:solidFill>
              </a:rPr>
              <a:t>Bank Kustodian</a:t>
            </a:r>
            <a:endParaRPr lang="en-US" sz="1400" dirty="0"/>
          </a:p>
        </p:txBody>
      </p:sp>
      <p:sp>
        <p:nvSpPr>
          <p:cNvPr id="18" name="Text 13"/>
          <p:cNvSpPr txBox="1"/>
          <p:nvPr/>
        </p:nvSpPr>
        <p:spPr>
          <a:xfrm>
            <a:off x="1600200" y="336499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Menyimpan aset reksa dana dan menghitung NAB setiap hari bursa.</a:t>
            </a:r>
            <a:endParaRPr lang="en-US" sz="1100" dirty="0"/>
          </a:p>
        </p:txBody>
      </p:sp>
      <p:sp>
        <p:nvSpPr>
          <p:cNvPr id="19" name="Kartu pihak APERD"/>
          <p:cNvSpPr/>
          <p:nvPr/>
        </p:nvSpPr>
        <p:spPr>
          <a:xfrm>
            <a:off x="4069080" y="283464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0" name="APERD lingkaran"/>
          <p:cNvSpPr/>
          <p:nvPr/>
        </p:nvSpPr>
        <p:spPr>
          <a:xfrm>
            <a:off x="4270248" y="3108960"/>
            <a:ext cx="685800" cy="685800"/>
          </a:xfrm>
          <a:prstGeom prst="ellipse">
            <a:avLst/>
          </a:prstGeom>
          <a:solidFill>
            <a:schemeClr val="accent1"/>
          </a:solidFill>
          <a:ln w="12700">
            <a:solidFill>
              <a:schemeClr val="accent1"/>
            </a:solidFill>
            <a:prstDash val="solid"/>
          </a:ln>
        </p:spPr>
      </p:sp>
      <p:pic>
        <p:nvPicPr>
          <p:cNvPr id="21" name="APERD ikon" descr="preencoded.png">    </p:cNvPr>
          <p:cNvPicPr>
            <a:picLocks noChangeAspect="1"/>
          </p:cNvPicPr>
          <p:nvPr/>
        </p:nvPicPr>
        <p:blipFill>
          <a:blip r:embed="rId5"/>
          <a:stretch>
            <a:fillRect/>
          </a:stretch>
        </p:blipFill>
        <p:spPr>
          <a:xfrm>
            <a:off x="4441698" y="3280410"/>
            <a:ext cx="342900" cy="342900"/>
          </a:xfrm>
          <a:prstGeom prst="rect">
            <a:avLst/>
          </a:prstGeom>
        </p:spPr>
      </p:pic>
      <p:sp>
        <p:nvSpPr>
          <p:cNvPr id="22" name="Text 16"/>
          <p:cNvSpPr txBox="1"/>
          <p:nvPr/>
        </p:nvSpPr>
        <p:spPr>
          <a:xfrm>
            <a:off x="5120640" y="2999232"/>
            <a:ext cx="2148840" cy="365760"/>
          </a:xfrm>
          <a:prstGeom prst="rect">
            <a:avLst/>
          </a:prstGeom>
          <a:noFill/>
          <a:ln/>
        </p:spPr>
        <p:txBody>
          <a:bodyPr wrap="square" lIns="0" tIns="0" rIns="0" bIns="0" rtlCol="0" anchor="t"/>
          <a:lstStyle/>
          <a:p>
            <a:pPr indent="0" marL="0">
              <a:buNone/>
            </a:pPr>
            <a:r>
              <a:rPr lang="en-US" sz="1400" b="1" dirty="0">
                <a:solidFill>
                  <a:schemeClr val="tx1"/>
                </a:solidFill>
              </a:rPr>
              <a:t>APERD</a:t>
            </a:r>
            <a:endParaRPr lang="en-US" sz="1400" dirty="0"/>
          </a:p>
        </p:txBody>
      </p:sp>
      <p:sp>
        <p:nvSpPr>
          <p:cNvPr id="23" name="Text 17"/>
          <p:cNvSpPr txBox="1"/>
          <p:nvPr/>
        </p:nvSpPr>
        <p:spPr>
          <a:xfrm>
            <a:off x="5120640" y="336499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Agen penjual: bank atau aplikasi investasi tempat kamu membeli.</a:t>
            </a:r>
            <a:endParaRPr lang="en-US" sz="1100" dirty="0"/>
          </a:p>
        </p:txBody>
      </p:sp>
      <p:sp>
        <p:nvSpPr>
          <p:cNvPr id="24" name="Kartu pihak KSEI (S-INVEST)"/>
          <p:cNvSpPr/>
          <p:nvPr/>
        </p:nvSpPr>
        <p:spPr>
          <a:xfrm>
            <a:off x="548640" y="429768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5" name="KSEI (S-INVEST) lingkaran"/>
          <p:cNvSpPr/>
          <p:nvPr/>
        </p:nvSpPr>
        <p:spPr>
          <a:xfrm>
            <a:off x="749808" y="4572000"/>
            <a:ext cx="685800" cy="685800"/>
          </a:xfrm>
          <a:prstGeom prst="ellipse">
            <a:avLst/>
          </a:prstGeom>
          <a:solidFill>
            <a:schemeClr val="accent1"/>
          </a:solidFill>
          <a:ln w="12700">
            <a:solidFill>
              <a:schemeClr val="accent1"/>
            </a:solidFill>
            <a:prstDash val="solid"/>
          </a:ln>
        </p:spPr>
      </p:sp>
      <p:pic>
        <p:nvPicPr>
          <p:cNvPr id="26" name="KSEI (S-INVEST) ikon" descr="preencoded.png">    </p:cNvPr>
          <p:cNvPicPr>
            <a:picLocks noChangeAspect="1"/>
          </p:cNvPicPr>
          <p:nvPr/>
        </p:nvPicPr>
        <p:blipFill>
          <a:blip r:embed="rId6"/>
          <a:stretch>
            <a:fillRect/>
          </a:stretch>
        </p:blipFill>
        <p:spPr>
          <a:xfrm>
            <a:off x="921258" y="4743450"/>
            <a:ext cx="342900" cy="342900"/>
          </a:xfrm>
          <a:prstGeom prst="rect">
            <a:avLst/>
          </a:prstGeom>
        </p:spPr>
      </p:pic>
      <p:sp>
        <p:nvSpPr>
          <p:cNvPr id="27" name="Text 20"/>
          <p:cNvSpPr txBox="1"/>
          <p:nvPr/>
        </p:nvSpPr>
        <p:spPr>
          <a:xfrm>
            <a:off x="1600200" y="4462272"/>
            <a:ext cx="2148840" cy="365760"/>
          </a:xfrm>
          <a:prstGeom prst="rect">
            <a:avLst/>
          </a:prstGeom>
          <a:noFill/>
          <a:ln/>
        </p:spPr>
        <p:txBody>
          <a:bodyPr wrap="square" lIns="0" tIns="0" rIns="0" bIns="0" rtlCol="0" anchor="t"/>
          <a:lstStyle/>
          <a:p>
            <a:pPr indent="0" marL="0">
              <a:buNone/>
            </a:pPr>
            <a:r>
              <a:rPr lang="en-US" sz="1400" b="1" dirty="0">
                <a:solidFill>
                  <a:schemeClr val="tx1"/>
                </a:solidFill>
              </a:rPr>
              <a:t>KSEI (S-INVEST)</a:t>
            </a:r>
            <a:endParaRPr lang="en-US" sz="1400" dirty="0"/>
          </a:p>
        </p:txBody>
      </p:sp>
      <p:sp>
        <p:nvSpPr>
          <p:cNvPr id="28" name="Text 21"/>
          <p:cNvSpPr txBox="1"/>
          <p:nvPr/>
        </p:nvSpPr>
        <p:spPr>
          <a:xfrm>
            <a:off x="1600200" y="482803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Mencatat kepemilikan unit atas nama SID kamu.</a:t>
            </a:r>
            <a:endParaRPr lang="en-US" sz="1100" dirty="0"/>
          </a:p>
        </p:txBody>
      </p:sp>
      <p:sp>
        <p:nvSpPr>
          <p:cNvPr id="29" name="Kartu pihak Investor"/>
          <p:cNvSpPr/>
          <p:nvPr/>
        </p:nvSpPr>
        <p:spPr>
          <a:xfrm>
            <a:off x="4069080" y="4297680"/>
            <a:ext cx="3291840" cy="1280160"/>
          </a:xfrm>
          <a:prstGeom prst="roundRect">
            <a:avLst>
              <a:gd name="adj" fmla="val 857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0" name="Investor lingkaran"/>
          <p:cNvSpPr/>
          <p:nvPr/>
        </p:nvSpPr>
        <p:spPr>
          <a:xfrm>
            <a:off x="4270248" y="4572000"/>
            <a:ext cx="685800" cy="685800"/>
          </a:xfrm>
          <a:prstGeom prst="ellipse">
            <a:avLst/>
          </a:prstGeom>
          <a:solidFill>
            <a:schemeClr val="accent1"/>
          </a:solidFill>
          <a:ln w="12700">
            <a:solidFill>
              <a:schemeClr val="accent1"/>
            </a:solidFill>
            <a:prstDash val="solid"/>
          </a:ln>
        </p:spPr>
      </p:sp>
      <p:pic>
        <p:nvPicPr>
          <p:cNvPr id="31" name="Investor ikon" descr="preencoded.png">    </p:cNvPr>
          <p:cNvPicPr>
            <a:picLocks noChangeAspect="1"/>
          </p:cNvPicPr>
          <p:nvPr/>
        </p:nvPicPr>
        <p:blipFill>
          <a:blip r:embed="rId7"/>
          <a:stretch>
            <a:fillRect/>
          </a:stretch>
        </p:blipFill>
        <p:spPr>
          <a:xfrm>
            <a:off x="4441698" y="4743450"/>
            <a:ext cx="342900" cy="342900"/>
          </a:xfrm>
          <a:prstGeom prst="rect">
            <a:avLst/>
          </a:prstGeom>
        </p:spPr>
      </p:pic>
      <p:sp>
        <p:nvSpPr>
          <p:cNvPr id="32" name="Text 24"/>
          <p:cNvSpPr txBox="1"/>
          <p:nvPr/>
        </p:nvSpPr>
        <p:spPr>
          <a:xfrm>
            <a:off x="5120640" y="4462272"/>
            <a:ext cx="2148840" cy="365760"/>
          </a:xfrm>
          <a:prstGeom prst="rect">
            <a:avLst/>
          </a:prstGeom>
          <a:noFill/>
          <a:ln/>
        </p:spPr>
        <p:txBody>
          <a:bodyPr wrap="square" lIns="0" tIns="0" rIns="0" bIns="0" rtlCol="0" anchor="t"/>
          <a:lstStyle/>
          <a:p>
            <a:pPr indent="0" marL="0">
              <a:buNone/>
            </a:pPr>
            <a:r>
              <a:rPr lang="en-US" sz="1400" b="1" dirty="0">
                <a:solidFill>
                  <a:schemeClr val="tx1"/>
                </a:solidFill>
              </a:rPr>
              <a:t>Investor</a:t>
            </a:r>
            <a:endParaRPr lang="en-US" sz="1400" dirty="0"/>
          </a:p>
        </p:txBody>
      </p:sp>
      <p:sp>
        <p:nvSpPr>
          <p:cNvPr id="33" name="Text 25"/>
          <p:cNvSpPr txBox="1"/>
          <p:nvPr/>
        </p:nvSpPr>
        <p:spPr>
          <a:xfrm>
            <a:off x="5120640" y="4828032"/>
            <a:ext cx="2148840" cy="713232"/>
          </a:xfrm>
          <a:prstGeom prst="rect">
            <a:avLst/>
          </a:prstGeom>
          <a:noFill/>
          <a:ln/>
        </p:spPr>
        <p:txBody>
          <a:bodyPr wrap="square" lIns="0" tIns="0" rIns="0" bIns="0" rtlCol="0" anchor="t"/>
          <a:lstStyle/>
          <a:p>
            <a:pPr indent="0" marL="0">
              <a:buNone/>
            </a:pPr>
            <a:r>
              <a:rPr lang="en-US" sz="1100" dirty="0">
                <a:solidFill>
                  <a:schemeClr val="accent5"/>
                </a:solidFill>
              </a:rPr>
              <a:t>Pemilik unit penyertaan. Bisa cek saldo dan konfirmasi transaksi.</a:t>
            </a:r>
            <a:endParaRPr lang="en-US" sz="1100" dirty="0"/>
          </a:p>
        </p:txBody>
      </p:sp>
      <p:sp>
        <p:nvSpPr>
          <p:cNvPr id="34" name="Kartu poin penting"/>
          <p:cNvSpPr/>
          <p:nvPr/>
        </p:nvSpPr>
        <p:spPr>
          <a:xfrm>
            <a:off x="7680960" y="1371600"/>
            <a:ext cx="3977640" cy="4206240"/>
          </a:xfrm>
          <a:prstGeom prst="roundRect">
            <a:avLst>
              <a:gd name="adj" fmla="val 2759"/>
            </a:avLst>
          </a:prstGeom>
          <a:solidFill>
            <a:schemeClr val="tx1"/>
          </a:solidFill>
          <a:ln w="12700">
            <a:solidFill>
              <a:schemeClr val="tx1"/>
            </a:solidFill>
            <a:prstDash val="solid"/>
          </a:ln>
        </p:spPr>
      </p:sp>
      <p:sp>
        <p:nvSpPr>
          <p:cNvPr id="35" name="Perlindungan lingkaran"/>
          <p:cNvSpPr/>
          <p:nvPr/>
        </p:nvSpPr>
        <p:spPr>
          <a:xfrm>
            <a:off x="8001000" y="1645920"/>
            <a:ext cx="731520" cy="731520"/>
          </a:xfrm>
          <a:prstGeom prst="ellipse">
            <a:avLst/>
          </a:prstGeom>
          <a:solidFill>
            <a:schemeClr val="accent2"/>
          </a:solidFill>
          <a:ln w="12700">
            <a:solidFill>
              <a:schemeClr val="accent2"/>
            </a:solidFill>
            <a:prstDash val="solid"/>
          </a:ln>
        </p:spPr>
      </p:sp>
      <p:pic>
        <p:nvPicPr>
          <p:cNvPr id="36" name="Perlindungan ikon" descr="preencoded.png">    </p:cNvPr>
          <p:cNvPicPr>
            <a:picLocks noChangeAspect="1"/>
          </p:cNvPicPr>
          <p:nvPr/>
        </p:nvPicPr>
        <p:blipFill>
          <a:blip r:embed="rId8"/>
          <a:stretch>
            <a:fillRect/>
          </a:stretch>
        </p:blipFill>
        <p:spPr>
          <a:xfrm>
            <a:off x="8183880" y="1828800"/>
            <a:ext cx="365760" cy="365760"/>
          </a:xfrm>
          <a:prstGeom prst="rect">
            <a:avLst/>
          </a:prstGeom>
        </p:spPr>
      </p:pic>
      <p:sp>
        <p:nvSpPr>
          <p:cNvPr id="37" name="Text 28"/>
          <p:cNvSpPr txBox="1"/>
          <p:nvPr/>
        </p:nvSpPr>
        <p:spPr>
          <a:xfrm>
            <a:off x="8001000" y="2514600"/>
            <a:ext cx="3383280" cy="411480"/>
          </a:xfrm>
          <a:prstGeom prst="rect">
            <a:avLst/>
          </a:prstGeom>
          <a:noFill/>
          <a:ln/>
        </p:spPr>
        <p:txBody>
          <a:bodyPr wrap="square" lIns="0" tIns="0" rIns="0" bIns="0" rtlCol="0" anchor="t"/>
          <a:lstStyle/>
          <a:p>
            <a:pPr indent="0" marL="0">
              <a:buNone/>
            </a:pPr>
            <a:r>
              <a:rPr lang="en-US" sz="1800" b="1" dirty="0">
                <a:solidFill>
                  <a:schemeClr val="accent2"/>
                </a:solidFill>
              </a:rPr>
              <a:t>Poin penting</a:t>
            </a:r>
            <a:endParaRPr lang="en-US" sz="1800" dirty="0"/>
          </a:p>
        </p:txBody>
      </p:sp>
      <p:sp>
        <p:nvSpPr>
          <p:cNvPr id="38" name="Text 29"/>
          <p:cNvSpPr txBox="1"/>
          <p:nvPr/>
        </p:nvSpPr>
        <p:spPr>
          <a:xfrm>
            <a:off x="8001000" y="2971800"/>
            <a:ext cx="3383280" cy="2468880"/>
          </a:xfrm>
          <a:prstGeom prst="rect">
            <a:avLst/>
          </a:prstGeom>
          <a:noFill/>
          <a:ln/>
        </p:spPr>
        <p:txBody>
          <a:bodyPr wrap="square" lIns="0" tIns="0" rIns="0" bIns="0" rtlCol="0" anchor="t"/>
          <a:lstStyle/>
          <a:p>
            <a:pPr indent="0" marL="0">
              <a:buNone/>
            </a:pPr>
            <a:r>
              <a:rPr lang="en-US" sz="1350" dirty="0">
                <a:solidFill>
                  <a:schemeClr val="bg1"/>
                </a:solidFill>
              </a:rPr>
              <a:t>Uangmu tidak disimpan di rekening Manajer Investasi. Asetnya dititipkan di Bank Kustodian dan dicatat terpisah dari harta MI. Kalau MI bermasalah, aset reksa dana bukan bagian dari harta MI.</a:t>
            </a:r>
            <a:endParaRPr lang="en-US" sz="1350" dirty="0"/>
          </a:p>
        </p:txBody>
      </p:sp>
      <p:sp>
        <p:nvSpPr>
          <p:cNvPr id="39" name="Text 30"/>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UU No. 8 Tahun 1995 tentang Pasar Modal; POJK 23/POJK.04/2016; KSEI.</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03</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Cara kerjanya</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NAB, unit penyertaan, dan kenapa grafik RDPU naik seperti tangga.</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03</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NAB dan unit penyertaan</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konsep"/>
          <p:cNvSpPr/>
          <p:nvPr/>
        </p:nvSpPr>
        <p:spPr>
          <a:xfrm>
            <a:off x="548640" y="1371600"/>
            <a:ext cx="5120640" cy="4434840"/>
          </a:xfrm>
          <a:prstGeom prst="roundRect">
            <a:avLst>
              <a:gd name="adj" fmla="val 2474"/>
            </a:avLst>
          </a:prstGeom>
          <a:solidFill>
            <a:schemeClr val="bg2"/>
          </a:solidFill>
          <a:ln w="12700">
            <a:solidFill>
              <a:schemeClr val="bg2"/>
            </a:solidFill>
            <a:prstDash val="solid"/>
          </a:ln>
        </p:spPr>
      </p:sp>
      <p:sp>
        <p:nvSpPr>
          <p:cNvPr id="5" name="Text 3"/>
          <p:cNvSpPr txBox="1"/>
          <p:nvPr/>
        </p:nvSpPr>
        <p:spPr>
          <a:xfrm>
            <a:off x="822960" y="1554480"/>
            <a:ext cx="4572000" cy="411480"/>
          </a:xfrm>
          <a:prstGeom prst="rect">
            <a:avLst/>
          </a:prstGeom>
          <a:noFill/>
          <a:ln/>
        </p:spPr>
        <p:txBody>
          <a:bodyPr wrap="square" lIns="0" tIns="0" rIns="0" bIns="0" rtlCol="0" anchor="t"/>
          <a:lstStyle/>
          <a:p>
            <a:pPr indent="0" marL="0">
              <a:buNone/>
            </a:pPr>
            <a:r>
              <a:rPr lang="en-US" sz="1800" b="1" dirty="0">
                <a:solidFill>
                  <a:schemeClr val="accent1"/>
                </a:solidFill>
              </a:rPr>
              <a:t>Dua istilah wajib</a:t>
            </a:r>
            <a:endParaRPr lang="en-US" sz="1800" dirty="0"/>
          </a:p>
        </p:txBody>
      </p:sp>
      <p:sp>
        <p:nvSpPr>
          <p:cNvPr id="6" name="Text 4"/>
          <p:cNvSpPr txBox="1"/>
          <p:nvPr/>
        </p:nvSpPr>
        <p:spPr>
          <a:xfrm>
            <a:off x="822960" y="2011680"/>
            <a:ext cx="4572000" cy="2377440"/>
          </a:xfrm>
          <a:prstGeom prst="rect">
            <a:avLst/>
          </a:prstGeom>
          <a:noFill/>
          <a:ln/>
        </p:spPr>
        <p:txBody>
          <a:bodyPr wrap="square" lIns="0" tIns="0" rIns="0" bIns="0" rtlCol="0" anchor="t"/>
          <a:lstStyle/>
          <a:p>
            <a:pPr indent="0" marL="0">
              <a:buNone/>
            </a:pPr>
            <a:r>
              <a:rPr lang="en-US" sz="1350" b="1" dirty="0">
                <a:solidFill>
                  <a:schemeClr val="tx1"/>
                </a:solidFill>
              </a:rPr>
              <a:t>NAB (Nilai Aktiva Bersih)</a:t>
            </a:r>
            <a:endParaRPr lang="en-US" sz="1350" dirty="0"/>
          </a:p>
          <a:p>
            <a:pPr indent="0" marL="0">
              <a:buNone/>
            </a:pPr>
            <a:r>
              <a:rPr lang="en-US" sz="1350" dirty="0">
                <a:solidFill>
                  <a:schemeClr val="tx1"/>
                </a:solidFill>
              </a:rPr>
              <a:t>Total nilai seluruh aset reksa dana dikurangi kewajibannya (misalnya biaya yang belum dibayar).</a:t>
            </a:r>
            <a:endParaRPr lang="en-US" sz="1350" dirty="0"/>
          </a:p>
          <a:p>
            <a:pPr indent="0" marL="0">
              <a:buNone/>
            </a:pPr>
            <a:r>
              <a:rPr lang="en-US" sz="800" dirty="0">
                <a:solidFill>
                  <a:schemeClr val="tx1"/>
                </a:solidFill>
              </a:rPr>
              <a:t> </a:t>
            </a:r>
            <a:endParaRPr lang="en-US" sz="1350" dirty="0"/>
          </a:p>
          <a:p>
            <a:pPr indent="0" marL="0">
              <a:buNone/>
            </a:pPr>
            <a:r>
              <a:rPr lang="en-US" sz="1350" b="1" dirty="0">
                <a:solidFill>
                  <a:schemeClr val="tx1"/>
                </a:solidFill>
              </a:rPr>
              <a:t>Unit Penyertaan (UP)</a:t>
            </a:r>
            <a:endParaRPr lang="en-US" sz="1350" dirty="0"/>
          </a:p>
          <a:p>
            <a:pPr indent="0" marL="0">
              <a:buNone/>
            </a:pPr>
            <a:r>
              <a:rPr lang="en-US" sz="1350" dirty="0">
                <a:solidFill>
                  <a:schemeClr val="tx1"/>
                </a:solidFill>
              </a:rPr>
              <a:t>"Potongan kue" yang kamu miliki. Harga per potongnya disebut NAB/UP dan diumumkan setiap hari bursa.</a:t>
            </a:r>
            <a:endParaRPr lang="en-US" sz="1350" dirty="0"/>
          </a:p>
        </p:txBody>
      </p:sp>
      <p:sp>
        <p:nvSpPr>
          <p:cNvPr id="7" name="Kotak rumus"/>
          <p:cNvSpPr/>
          <p:nvPr/>
        </p:nvSpPr>
        <p:spPr>
          <a:xfrm>
            <a:off x="822960" y="4526280"/>
            <a:ext cx="4572000" cy="1051560"/>
          </a:xfrm>
          <a:prstGeom prst="roundRect">
            <a:avLst>
              <a:gd name="adj" fmla="val 8696"/>
            </a:avLst>
          </a:prstGeom>
          <a:solidFill>
            <a:schemeClr val="tx1"/>
          </a:solidFill>
          <a:ln w="12700">
            <a:solidFill>
              <a:schemeClr val="tx1"/>
            </a:solidFill>
            <a:prstDash val="solid"/>
          </a:ln>
        </p:spPr>
      </p:sp>
      <p:sp>
        <p:nvSpPr>
          <p:cNvPr id="8" name="Text 6"/>
          <p:cNvSpPr txBox="1"/>
          <p:nvPr/>
        </p:nvSpPr>
        <p:spPr>
          <a:xfrm>
            <a:off x="1005840" y="4617720"/>
            <a:ext cx="4206240" cy="868680"/>
          </a:xfrm>
          <a:prstGeom prst="rect">
            <a:avLst/>
          </a:prstGeom>
          <a:noFill/>
          <a:ln/>
        </p:spPr>
        <p:txBody>
          <a:bodyPr wrap="square" lIns="0" tIns="0" rIns="0" bIns="0" rtlCol="0" anchor="ctr"/>
          <a:lstStyle/>
          <a:p>
            <a:pPr algn="ctr" indent="0" marL="0">
              <a:buNone/>
            </a:pPr>
            <a:r>
              <a:rPr lang="en-US" sz="1500" b="1" dirty="0">
                <a:solidFill>
                  <a:schemeClr val="accent2"/>
                </a:solidFill>
              </a:rPr>
              <a:t>NAB/UP = NAB total ÷ jumlah unit</a:t>
            </a:r>
            <a:endParaRPr lang="en-US" sz="1500" dirty="0"/>
          </a:p>
        </p:txBody>
      </p:sp>
      <p:sp>
        <p:nvSpPr>
          <p:cNvPr id="9" name="Langkah hitung 1"/>
          <p:cNvSpPr/>
          <p:nvPr/>
        </p:nvSpPr>
        <p:spPr>
          <a:xfrm>
            <a:off x="5989320" y="1371600"/>
            <a:ext cx="566928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0" name="Nomor 1"/>
          <p:cNvSpPr txBox="1"/>
          <p:nvPr/>
        </p:nvSpPr>
        <p:spPr>
          <a:xfrm>
            <a:off x="6217920" y="173736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9"/>
          <p:cNvSpPr txBox="1"/>
          <p:nvPr/>
        </p:nvSpPr>
        <p:spPr>
          <a:xfrm>
            <a:off x="7040880" y="1508760"/>
            <a:ext cx="4389120" cy="365760"/>
          </a:xfrm>
          <a:prstGeom prst="rect">
            <a:avLst/>
          </a:prstGeom>
          <a:noFill/>
          <a:ln/>
        </p:spPr>
        <p:txBody>
          <a:bodyPr wrap="square" lIns="0" tIns="0" rIns="0" bIns="0" rtlCol="0" anchor="t"/>
          <a:lstStyle/>
          <a:p>
            <a:pPr indent="0" marL="0">
              <a:buNone/>
            </a:pPr>
            <a:r>
              <a:rPr lang="en-US" sz="1500" b="1" dirty="0">
                <a:solidFill>
                  <a:schemeClr val="tx1"/>
                </a:solidFill>
              </a:rPr>
              <a:t>Beli</a:t>
            </a:r>
            <a:endParaRPr lang="en-US" sz="1500" dirty="0"/>
          </a:p>
        </p:txBody>
      </p:sp>
      <p:sp>
        <p:nvSpPr>
          <p:cNvPr id="12" name="Text 10"/>
          <p:cNvSpPr txBox="1"/>
          <p:nvPr/>
        </p:nvSpPr>
        <p:spPr>
          <a:xfrm>
            <a:off x="7040880" y="1847088"/>
            <a:ext cx="4434840" cy="365760"/>
          </a:xfrm>
          <a:prstGeom prst="rect">
            <a:avLst/>
          </a:prstGeom>
          <a:noFill/>
          <a:ln/>
        </p:spPr>
        <p:txBody>
          <a:bodyPr wrap="square" lIns="0" tIns="0" rIns="0" bIns="0" rtlCol="0" anchor="t"/>
          <a:lstStyle/>
          <a:p>
            <a:pPr indent="0" marL="0">
              <a:buNone/>
            </a:pPr>
            <a:r>
              <a:rPr lang="en-US" sz="1250" dirty="0">
                <a:solidFill>
                  <a:schemeClr val="accent5"/>
                </a:solidFill>
              </a:rPr>
              <a:t>Kamu beli Rp1.000.000 saat NAB/UP Rp1.500</a:t>
            </a:r>
            <a:endParaRPr lang="en-US" sz="1250" dirty="0"/>
          </a:p>
        </p:txBody>
      </p:sp>
      <p:sp>
        <p:nvSpPr>
          <p:cNvPr id="13" name="Text 11"/>
          <p:cNvSpPr txBox="1"/>
          <p:nvPr/>
        </p:nvSpPr>
        <p:spPr>
          <a:xfrm>
            <a:off x="7040880" y="2194560"/>
            <a:ext cx="4434840" cy="365760"/>
          </a:xfrm>
          <a:prstGeom prst="rect">
            <a:avLst/>
          </a:prstGeom>
          <a:noFill/>
          <a:ln/>
        </p:spPr>
        <p:txBody>
          <a:bodyPr wrap="square" lIns="0" tIns="0" rIns="0" bIns="0" rtlCol="0" anchor="t"/>
          <a:lstStyle/>
          <a:p>
            <a:pPr indent="0" marL="0">
              <a:buNone/>
            </a:pPr>
            <a:r>
              <a:rPr lang="en-US" sz="1300" b="1" dirty="0">
                <a:solidFill>
                  <a:schemeClr val="accent1"/>
                </a:solidFill>
              </a:rPr>
              <a:t>Unit = 1.000.000 ÷ 1.500 = 666,67 unit</a:t>
            </a:r>
            <a:endParaRPr lang="en-US" sz="1300" dirty="0"/>
          </a:p>
        </p:txBody>
      </p:sp>
      <p:sp>
        <p:nvSpPr>
          <p:cNvPr id="14" name="Langkah hitung 2"/>
          <p:cNvSpPr/>
          <p:nvPr/>
        </p:nvSpPr>
        <p:spPr>
          <a:xfrm>
            <a:off x="5989320" y="2880360"/>
            <a:ext cx="566928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Nomor 2"/>
          <p:cNvSpPr txBox="1"/>
          <p:nvPr/>
        </p:nvSpPr>
        <p:spPr>
          <a:xfrm>
            <a:off x="6217920" y="324612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 14"/>
          <p:cNvSpPr txBox="1"/>
          <p:nvPr/>
        </p:nvSpPr>
        <p:spPr>
          <a:xfrm>
            <a:off x="7040880" y="3017520"/>
            <a:ext cx="4389120" cy="365760"/>
          </a:xfrm>
          <a:prstGeom prst="rect">
            <a:avLst/>
          </a:prstGeom>
          <a:noFill/>
          <a:ln/>
        </p:spPr>
        <p:txBody>
          <a:bodyPr wrap="square" lIns="0" tIns="0" rIns="0" bIns="0" rtlCol="0" anchor="t"/>
          <a:lstStyle/>
          <a:p>
            <a:pPr indent="0" marL="0">
              <a:buNone/>
            </a:pPr>
            <a:r>
              <a:rPr lang="en-US" sz="1500" b="1" dirty="0">
                <a:solidFill>
                  <a:schemeClr val="tx1"/>
                </a:solidFill>
              </a:rPr>
              <a:t>Tunggu</a:t>
            </a:r>
            <a:endParaRPr lang="en-US" sz="1500" dirty="0"/>
          </a:p>
        </p:txBody>
      </p:sp>
      <p:sp>
        <p:nvSpPr>
          <p:cNvPr id="17" name="Text 15"/>
          <p:cNvSpPr txBox="1"/>
          <p:nvPr/>
        </p:nvSpPr>
        <p:spPr>
          <a:xfrm>
            <a:off x="7040880" y="3355848"/>
            <a:ext cx="4434840" cy="365760"/>
          </a:xfrm>
          <a:prstGeom prst="rect">
            <a:avLst/>
          </a:prstGeom>
          <a:noFill/>
          <a:ln/>
        </p:spPr>
        <p:txBody>
          <a:bodyPr wrap="square" lIns="0" tIns="0" rIns="0" bIns="0" rtlCol="0" anchor="t"/>
          <a:lstStyle/>
          <a:p>
            <a:pPr indent="0" marL="0">
              <a:buNone/>
            </a:pPr>
            <a:r>
              <a:rPr lang="en-US" sz="1250" dirty="0">
                <a:solidFill>
                  <a:schemeClr val="accent5"/>
                </a:solidFill>
              </a:rPr>
              <a:t>Setahun lagi NAB/UP naik 4,5% jadi Rp1.567,50</a:t>
            </a:r>
            <a:endParaRPr lang="en-US" sz="1250" dirty="0"/>
          </a:p>
        </p:txBody>
      </p:sp>
      <p:sp>
        <p:nvSpPr>
          <p:cNvPr id="18" name="Text 16"/>
          <p:cNvSpPr txBox="1"/>
          <p:nvPr/>
        </p:nvSpPr>
        <p:spPr>
          <a:xfrm>
            <a:off x="7040880" y="3703320"/>
            <a:ext cx="4434840" cy="365760"/>
          </a:xfrm>
          <a:prstGeom prst="rect">
            <a:avLst/>
          </a:prstGeom>
          <a:noFill/>
          <a:ln/>
        </p:spPr>
        <p:txBody>
          <a:bodyPr wrap="square" lIns="0" tIns="0" rIns="0" bIns="0" rtlCol="0" anchor="t"/>
          <a:lstStyle/>
          <a:p>
            <a:pPr indent="0" marL="0">
              <a:buNone/>
            </a:pPr>
            <a:r>
              <a:rPr lang="en-US" sz="1300" b="1" dirty="0">
                <a:solidFill>
                  <a:schemeClr val="accent1"/>
                </a:solidFill>
              </a:rPr>
              <a:t>Jumlah unitmu tetap 666,67 unit</a:t>
            </a:r>
            <a:endParaRPr lang="en-US" sz="1300" dirty="0"/>
          </a:p>
        </p:txBody>
      </p:sp>
      <p:sp>
        <p:nvSpPr>
          <p:cNvPr id="19" name="Langkah hitung 3"/>
          <p:cNvSpPr/>
          <p:nvPr/>
        </p:nvSpPr>
        <p:spPr>
          <a:xfrm>
            <a:off x="5989320" y="4389120"/>
            <a:ext cx="566928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0" name="Nomor 3"/>
          <p:cNvSpPr txBox="1"/>
          <p:nvPr/>
        </p:nvSpPr>
        <p:spPr>
          <a:xfrm>
            <a:off x="6217920" y="475488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9"/>
          <p:cNvSpPr txBox="1"/>
          <p:nvPr/>
        </p:nvSpPr>
        <p:spPr>
          <a:xfrm>
            <a:off x="7040880" y="4526280"/>
            <a:ext cx="4389120" cy="365760"/>
          </a:xfrm>
          <a:prstGeom prst="rect">
            <a:avLst/>
          </a:prstGeom>
          <a:noFill/>
          <a:ln/>
        </p:spPr>
        <p:txBody>
          <a:bodyPr wrap="square" lIns="0" tIns="0" rIns="0" bIns="0" rtlCol="0" anchor="t"/>
          <a:lstStyle/>
          <a:p>
            <a:pPr indent="0" marL="0">
              <a:buNone/>
            </a:pPr>
            <a:r>
              <a:rPr lang="en-US" sz="1500" b="1" dirty="0">
                <a:solidFill>
                  <a:schemeClr val="tx1"/>
                </a:solidFill>
              </a:rPr>
              <a:t>Jual</a:t>
            </a:r>
            <a:endParaRPr lang="en-US" sz="1500" dirty="0"/>
          </a:p>
        </p:txBody>
      </p:sp>
      <p:sp>
        <p:nvSpPr>
          <p:cNvPr id="22" name="Text 20"/>
          <p:cNvSpPr txBox="1"/>
          <p:nvPr/>
        </p:nvSpPr>
        <p:spPr>
          <a:xfrm>
            <a:off x="7040880" y="4864608"/>
            <a:ext cx="4434840" cy="365760"/>
          </a:xfrm>
          <a:prstGeom prst="rect">
            <a:avLst/>
          </a:prstGeom>
          <a:noFill/>
          <a:ln/>
        </p:spPr>
        <p:txBody>
          <a:bodyPr wrap="square" lIns="0" tIns="0" rIns="0" bIns="0" rtlCol="0" anchor="t"/>
          <a:lstStyle/>
          <a:p>
            <a:pPr indent="0" marL="0">
              <a:buNone/>
            </a:pPr>
            <a:r>
              <a:rPr lang="en-US" sz="1250" dirty="0">
                <a:solidFill>
                  <a:schemeClr val="accent5"/>
                </a:solidFill>
              </a:rPr>
              <a:t>Nilai investasi = 666,67 × 1.567,50</a:t>
            </a:r>
            <a:endParaRPr lang="en-US" sz="1250" dirty="0"/>
          </a:p>
        </p:txBody>
      </p:sp>
      <p:sp>
        <p:nvSpPr>
          <p:cNvPr id="23" name="Text 21"/>
          <p:cNvSpPr txBox="1"/>
          <p:nvPr/>
        </p:nvSpPr>
        <p:spPr>
          <a:xfrm>
            <a:off x="7040880" y="5212080"/>
            <a:ext cx="4434840" cy="365760"/>
          </a:xfrm>
          <a:prstGeom prst="rect">
            <a:avLst/>
          </a:prstGeom>
          <a:noFill/>
          <a:ln/>
        </p:spPr>
        <p:txBody>
          <a:bodyPr wrap="square" lIns="0" tIns="0" rIns="0" bIns="0" rtlCol="0" anchor="t"/>
          <a:lstStyle/>
          <a:p>
            <a:pPr indent="0" marL="0">
              <a:buNone/>
            </a:pPr>
            <a:r>
              <a:rPr lang="en-US" sz="1300" b="1" dirty="0">
                <a:solidFill>
                  <a:schemeClr val="accent1"/>
                </a:solidFill>
              </a:rPr>
              <a:t>= Rp1.045.000 (untung Rp45.000)</a:t>
            </a:r>
            <a:endParaRPr lang="en-US" sz="1300" dirty="0"/>
          </a:p>
        </p:txBody>
      </p:sp>
      <p:sp>
        <p:nvSpPr>
          <p:cNvPr id="24" name="Text 22"/>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Angka di atas ilustrasi untuk latihan hitung, bukan kinerja produk tertentu.</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Kenapa grafik RDPU naik pelan seperti tangga?</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graphicFrame>
        <p:nvGraphicFramePr>
          <p:cNvPr id="4" name="Chart 0" descr=""/>
          <p:cNvGraphicFramePr/>
          <p:nvPr/>
        </p:nvGraphicFramePr>
        <p:xfrm>
          <a:off x="548640" y="1325880"/>
          <a:ext cx="6949440" cy="4526280"/>
        </p:xfrm>
        <a:graphic xmlns:a="http://schemas.openxmlformats.org/drawingml/2006/main">
          <a:graphicData uri="http://schemas.openxmlformats.org/drawingml/2006/chart">
            <c:chart xmlns:c="http://schemas.openxmlformats.org/drawingml/2006/chart" r:id="rId2"/>
          </a:graphicData>
        </a:graphic>
      </p:graphicFrame>
      <p:sp>
        <p:nvSpPr>
          <p:cNvPr id="5" name="Alasan 0"/>
          <p:cNvSpPr/>
          <p:nvPr/>
        </p:nvSpPr>
        <p:spPr>
          <a:xfrm>
            <a:off x="7772400" y="1371600"/>
            <a:ext cx="388620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6" name="Bunga dihitung harian lingkaran"/>
          <p:cNvSpPr/>
          <p:nvPr/>
        </p:nvSpPr>
        <p:spPr>
          <a:xfrm>
            <a:off x="7955280" y="1673352"/>
            <a:ext cx="640080" cy="640080"/>
          </a:xfrm>
          <a:prstGeom prst="ellipse">
            <a:avLst/>
          </a:prstGeom>
          <a:solidFill>
            <a:schemeClr val="accent1"/>
          </a:solidFill>
          <a:ln w="12700">
            <a:solidFill>
              <a:schemeClr val="accent1"/>
            </a:solidFill>
            <a:prstDash val="solid"/>
          </a:ln>
        </p:spPr>
      </p:sp>
      <p:pic>
        <p:nvPicPr>
          <p:cNvPr id="7" name="Bunga dihitung harian ikon" descr="preencoded.png">    </p:cNvPr>
          <p:cNvPicPr>
            <a:picLocks noChangeAspect="1"/>
          </p:cNvPicPr>
          <p:nvPr/>
        </p:nvPicPr>
        <p:blipFill>
          <a:blip r:embed="rId3"/>
          <a:stretch>
            <a:fillRect/>
          </a:stretch>
        </p:blipFill>
        <p:spPr>
          <a:xfrm>
            <a:off x="8115300" y="1833372"/>
            <a:ext cx="320040" cy="320040"/>
          </a:xfrm>
          <a:prstGeom prst="rect">
            <a:avLst/>
          </a:prstGeom>
        </p:spPr>
      </p:pic>
      <p:sp>
        <p:nvSpPr>
          <p:cNvPr id="8" name="Text 4"/>
          <p:cNvSpPr txBox="1"/>
          <p:nvPr/>
        </p:nvSpPr>
        <p:spPr>
          <a:xfrm>
            <a:off x="8778240" y="1490472"/>
            <a:ext cx="2743200" cy="347472"/>
          </a:xfrm>
          <a:prstGeom prst="rect">
            <a:avLst/>
          </a:prstGeom>
          <a:noFill/>
          <a:ln/>
        </p:spPr>
        <p:txBody>
          <a:bodyPr wrap="square" lIns="0" tIns="0" rIns="0" bIns="0" rtlCol="0" anchor="t"/>
          <a:lstStyle/>
          <a:p>
            <a:pPr indent="0" marL="0">
              <a:buNone/>
            </a:pPr>
            <a:r>
              <a:rPr lang="en-US" sz="1350" b="1" dirty="0">
                <a:solidFill>
                  <a:schemeClr val="tx1"/>
                </a:solidFill>
              </a:rPr>
              <a:t>Bunga dihitung harian</a:t>
            </a:r>
            <a:endParaRPr lang="en-US" sz="1350" dirty="0"/>
          </a:p>
        </p:txBody>
      </p:sp>
      <p:sp>
        <p:nvSpPr>
          <p:cNvPr id="9" name="Text 5"/>
          <p:cNvSpPr txBox="1"/>
          <p:nvPr/>
        </p:nvSpPr>
        <p:spPr>
          <a:xfrm>
            <a:off x="8778240" y="1828800"/>
            <a:ext cx="2788920" cy="841248"/>
          </a:xfrm>
          <a:prstGeom prst="rect">
            <a:avLst/>
          </a:prstGeom>
          <a:noFill/>
          <a:ln/>
        </p:spPr>
        <p:txBody>
          <a:bodyPr wrap="square" lIns="0" tIns="0" rIns="0" bIns="0" rtlCol="0" anchor="t"/>
          <a:lstStyle/>
          <a:p>
            <a:pPr indent="0" marL="0">
              <a:buNone/>
            </a:pPr>
            <a:r>
              <a:rPr lang="en-US" sz="1050" dirty="0">
                <a:solidFill>
                  <a:schemeClr val="accent5"/>
                </a:solidFill>
              </a:rPr>
              <a:t>Bunga deposito dan kupon surat utang diakui sedikit demi sedikit setiap hari, jadi NAB/UP ikut naik pelan.</a:t>
            </a:r>
            <a:endParaRPr lang="en-US" sz="1050" dirty="0"/>
          </a:p>
        </p:txBody>
      </p:sp>
      <p:sp>
        <p:nvSpPr>
          <p:cNvPr id="10" name="Alasan 1"/>
          <p:cNvSpPr/>
          <p:nvPr/>
        </p:nvSpPr>
        <p:spPr>
          <a:xfrm>
            <a:off x="7772400" y="2880360"/>
            <a:ext cx="388620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Tenor pendek, harga stabil lingkaran"/>
          <p:cNvSpPr/>
          <p:nvPr/>
        </p:nvSpPr>
        <p:spPr>
          <a:xfrm>
            <a:off x="7955280" y="3182112"/>
            <a:ext cx="640080" cy="640080"/>
          </a:xfrm>
          <a:prstGeom prst="ellipse">
            <a:avLst/>
          </a:prstGeom>
          <a:solidFill>
            <a:schemeClr val="accent1"/>
          </a:solidFill>
          <a:ln w="12700">
            <a:solidFill>
              <a:schemeClr val="accent1"/>
            </a:solidFill>
            <a:prstDash val="solid"/>
          </a:ln>
        </p:spPr>
      </p:sp>
      <p:pic>
        <p:nvPicPr>
          <p:cNvPr id="12" name="Tenor pendek, harga stabil ikon" descr="preencoded.png">    </p:cNvPr>
          <p:cNvPicPr>
            <a:picLocks noChangeAspect="1"/>
          </p:cNvPicPr>
          <p:nvPr/>
        </p:nvPicPr>
        <p:blipFill>
          <a:blip r:embed="rId4"/>
          <a:stretch>
            <a:fillRect/>
          </a:stretch>
        </p:blipFill>
        <p:spPr>
          <a:xfrm>
            <a:off x="8115300" y="3342132"/>
            <a:ext cx="320040" cy="320040"/>
          </a:xfrm>
          <a:prstGeom prst="rect">
            <a:avLst/>
          </a:prstGeom>
        </p:spPr>
      </p:pic>
      <p:sp>
        <p:nvSpPr>
          <p:cNvPr id="13" name="Text 8"/>
          <p:cNvSpPr txBox="1"/>
          <p:nvPr/>
        </p:nvSpPr>
        <p:spPr>
          <a:xfrm>
            <a:off x="8778240" y="2999232"/>
            <a:ext cx="2743200" cy="347472"/>
          </a:xfrm>
          <a:prstGeom prst="rect">
            <a:avLst/>
          </a:prstGeom>
          <a:noFill/>
          <a:ln/>
        </p:spPr>
        <p:txBody>
          <a:bodyPr wrap="square" lIns="0" tIns="0" rIns="0" bIns="0" rtlCol="0" anchor="t"/>
          <a:lstStyle/>
          <a:p>
            <a:pPr indent="0" marL="0">
              <a:buNone/>
            </a:pPr>
            <a:r>
              <a:rPr lang="en-US" sz="1350" b="1" dirty="0">
                <a:solidFill>
                  <a:schemeClr val="tx1"/>
                </a:solidFill>
              </a:rPr>
              <a:t>Tenor pendek, harga stabil</a:t>
            </a:r>
            <a:endParaRPr lang="en-US" sz="1350" dirty="0"/>
          </a:p>
        </p:txBody>
      </p:sp>
      <p:sp>
        <p:nvSpPr>
          <p:cNvPr id="14" name="Text 9"/>
          <p:cNvSpPr txBox="1"/>
          <p:nvPr/>
        </p:nvSpPr>
        <p:spPr>
          <a:xfrm>
            <a:off x="8778240" y="3337560"/>
            <a:ext cx="2788920" cy="841248"/>
          </a:xfrm>
          <a:prstGeom prst="rect">
            <a:avLst/>
          </a:prstGeom>
          <a:noFill/>
          <a:ln/>
        </p:spPr>
        <p:txBody>
          <a:bodyPr wrap="square" lIns="0" tIns="0" rIns="0" bIns="0" rtlCol="0" anchor="t"/>
          <a:lstStyle/>
          <a:p>
            <a:pPr indent="0" marL="0">
              <a:buNone/>
            </a:pPr>
            <a:r>
              <a:rPr lang="en-US" sz="1050" dirty="0">
                <a:solidFill>
                  <a:schemeClr val="accent5"/>
                </a:solidFill>
              </a:rPr>
              <a:t>Surat utang yang jatuh tempo kurang dari setahun harganya nyaris tidak terpengaruh perubahan suku bunga.</a:t>
            </a:r>
            <a:endParaRPr lang="en-US" sz="1050" dirty="0"/>
          </a:p>
        </p:txBody>
      </p:sp>
      <p:sp>
        <p:nvSpPr>
          <p:cNvPr id="15" name="Alasan 2"/>
          <p:cNvSpPr/>
          <p:nvPr/>
        </p:nvSpPr>
        <p:spPr>
          <a:xfrm>
            <a:off x="7772400" y="4389120"/>
            <a:ext cx="388620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6" name="Tetap bisa turun lingkaran"/>
          <p:cNvSpPr/>
          <p:nvPr/>
        </p:nvSpPr>
        <p:spPr>
          <a:xfrm>
            <a:off x="7955280" y="4690872"/>
            <a:ext cx="640080" cy="640080"/>
          </a:xfrm>
          <a:prstGeom prst="ellipse">
            <a:avLst/>
          </a:prstGeom>
          <a:solidFill>
            <a:schemeClr val="accent4"/>
          </a:solidFill>
          <a:ln w="12700">
            <a:solidFill>
              <a:schemeClr val="accent4"/>
            </a:solidFill>
            <a:prstDash val="solid"/>
          </a:ln>
        </p:spPr>
      </p:sp>
      <p:pic>
        <p:nvPicPr>
          <p:cNvPr id="17" name="Tetap bisa turun ikon" descr="preencoded.png">    </p:cNvPr>
          <p:cNvPicPr>
            <a:picLocks noChangeAspect="1"/>
          </p:cNvPicPr>
          <p:nvPr/>
        </p:nvPicPr>
        <p:blipFill>
          <a:blip r:embed="rId5"/>
          <a:stretch>
            <a:fillRect/>
          </a:stretch>
        </p:blipFill>
        <p:spPr>
          <a:xfrm>
            <a:off x="8115300" y="4850892"/>
            <a:ext cx="320040" cy="320040"/>
          </a:xfrm>
          <a:prstGeom prst="rect">
            <a:avLst/>
          </a:prstGeom>
        </p:spPr>
      </p:pic>
      <p:sp>
        <p:nvSpPr>
          <p:cNvPr id="18" name="Text 12"/>
          <p:cNvSpPr txBox="1"/>
          <p:nvPr/>
        </p:nvSpPr>
        <p:spPr>
          <a:xfrm>
            <a:off x="8778240" y="4507992"/>
            <a:ext cx="2743200" cy="347472"/>
          </a:xfrm>
          <a:prstGeom prst="rect">
            <a:avLst/>
          </a:prstGeom>
          <a:noFill/>
          <a:ln/>
        </p:spPr>
        <p:txBody>
          <a:bodyPr wrap="square" lIns="0" tIns="0" rIns="0" bIns="0" rtlCol="0" anchor="t"/>
          <a:lstStyle/>
          <a:p>
            <a:pPr indent="0" marL="0">
              <a:buNone/>
            </a:pPr>
            <a:r>
              <a:rPr lang="en-US" sz="1350" b="1" dirty="0">
                <a:solidFill>
                  <a:schemeClr val="tx1"/>
                </a:solidFill>
              </a:rPr>
              <a:t>Tetap bisa turun</a:t>
            </a:r>
            <a:endParaRPr lang="en-US" sz="1350" dirty="0"/>
          </a:p>
        </p:txBody>
      </p:sp>
      <p:sp>
        <p:nvSpPr>
          <p:cNvPr id="19" name="Text 13"/>
          <p:cNvSpPr txBox="1"/>
          <p:nvPr/>
        </p:nvSpPr>
        <p:spPr>
          <a:xfrm>
            <a:off x="8778240" y="4846320"/>
            <a:ext cx="2788920" cy="841248"/>
          </a:xfrm>
          <a:prstGeom prst="rect">
            <a:avLst/>
          </a:prstGeom>
          <a:noFill/>
          <a:ln/>
        </p:spPr>
        <p:txBody>
          <a:bodyPr wrap="square" lIns="0" tIns="0" rIns="0" bIns="0" rtlCol="0" anchor="t"/>
          <a:lstStyle/>
          <a:p>
            <a:pPr indent="0" marL="0">
              <a:buNone/>
            </a:pPr>
            <a:r>
              <a:rPr lang="en-US" sz="1050" dirty="0">
                <a:solidFill>
                  <a:schemeClr val="accent5"/>
                </a:solidFill>
              </a:rPr>
              <a:t>Kalau ada penerbit surat utang yang gagal bayar, NAB/UP bisa turun. Jarang, tapi pernah terjadi.</a:t>
            </a:r>
            <a:endParaRPr lang="en-US" sz="1050" dirty="0"/>
          </a:p>
        </p:txBody>
      </p:sp>
      <p:sp>
        <p:nvSpPr>
          <p:cNvPr id="20" name="Text 14"/>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Grafik adalah ilustrasi pola, bukan data produk. RDPU memakai asumsi 4,5% per tahun.</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Alur beli dan jual</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Garis alur"/>
          <p:cNvSpPr/>
          <p:nvPr/>
        </p:nvSpPr>
        <p:spPr>
          <a:xfrm>
            <a:off x="1097280" y="2148840"/>
            <a:ext cx="9966960" cy="0"/>
          </a:xfrm>
          <a:prstGeom prst="line">
            <a:avLst/>
          </a:prstGeom>
          <a:noFill/>
          <a:ln w="38100">
            <a:solidFill>
              <a:schemeClr val="accent6"/>
            </a:solidFill>
            <a:prstDash val="solid"/>
          </a:ln>
        </p:spPr>
      </p:sp>
      <p:sp>
        <p:nvSpPr>
          <p:cNvPr id="5" name="Pilih produk lingkaran"/>
          <p:cNvSpPr/>
          <p:nvPr/>
        </p:nvSpPr>
        <p:spPr>
          <a:xfrm>
            <a:off x="1115568" y="1600200"/>
            <a:ext cx="1051560" cy="1051560"/>
          </a:xfrm>
          <a:prstGeom prst="ellipse">
            <a:avLst/>
          </a:prstGeom>
          <a:solidFill>
            <a:schemeClr val="accent1"/>
          </a:solidFill>
          <a:ln w="12700">
            <a:solidFill>
              <a:schemeClr val="accent1"/>
            </a:solidFill>
            <a:prstDash val="solid"/>
          </a:ln>
        </p:spPr>
      </p:sp>
      <p:pic>
        <p:nvPicPr>
          <p:cNvPr id="6" name="Pilih produk ikon" descr="preencoded.png">    </p:cNvPr>
          <p:cNvPicPr>
            <a:picLocks noChangeAspect="1"/>
          </p:cNvPicPr>
          <p:nvPr/>
        </p:nvPicPr>
        <p:blipFill>
          <a:blip r:embed="rId2"/>
          <a:stretch>
            <a:fillRect/>
          </a:stretch>
        </p:blipFill>
        <p:spPr>
          <a:xfrm>
            <a:off x="1378458" y="1863090"/>
            <a:ext cx="525780" cy="525780"/>
          </a:xfrm>
          <a:prstGeom prst="rect">
            <a:avLst/>
          </a:prstGeom>
        </p:spPr>
      </p:pic>
      <p:sp>
        <p:nvSpPr>
          <p:cNvPr id="7" name="Nomor 1"/>
          <p:cNvSpPr txBox="1"/>
          <p:nvPr/>
        </p:nvSpPr>
        <p:spPr>
          <a:xfrm>
            <a:off x="1920240"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8" name="Langkah 1"/>
          <p:cNvSpPr/>
          <p:nvPr/>
        </p:nvSpPr>
        <p:spPr>
          <a:xfrm>
            <a:off x="548640" y="2926080"/>
            <a:ext cx="21031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9" name="Text 6"/>
          <p:cNvSpPr txBox="1"/>
          <p:nvPr/>
        </p:nvSpPr>
        <p:spPr>
          <a:xfrm>
            <a:off x="685800" y="3063240"/>
            <a:ext cx="1828800" cy="548640"/>
          </a:xfrm>
          <a:prstGeom prst="rect">
            <a:avLst/>
          </a:prstGeom>
          <a:noFill/>
          <a:ln/>
        </p:spPr>
        <p:txBody>
          <a:bodyPr wrap="square" lIns="0" tIns="0" rIns="0" bIns="0" rtlCol="0" anchor="t"/>
          <a:lstStyle/>
          <a:p>
            <a:pPr algn="ctr" indent="0" marL="0">
              <a:buNone/>
            </a:pPr>
            <a:r>
              <a:rPr lang="en-US" sz="1400" b="1" dirty="0">
                <a:solidFill>
                  <a:schemeClr val="tx1"/>
                </a:solidFill>
              </a:rPr>
              <a:t>Pilih produk</a:t>
            </a:r>
            <a:endParaRPr lang="en-US" sz="1400" dirty="0"/>
          </a:p>
        </p:txBody>
      </p:sp>
      <p:sp>
        <p:nvSpPr>
          <p:cNvPr id="10" name="Text 7"/>
          <p:cNvSpPr txBox="1"/>
          <p:nvPr/>
        </p:nvSpPr>
        <p:spPr>
          <a:xfrm>
            <a:off x="685800" y="3611880"/>
            <a:ext cx="1828800" cy="1234440"/>
          </a:xfrm>
          <a:prstGeom prst="rect">
            <a:avLst/>
          </a:prstGeom>
          <a:noFill/>
          <a:ln/>
        </p:spPr>
        <p:txBody>
          <a:bodyPr wrap="square" lIns="0" tIns="0" rIns="0" bIns="0" rtlCol="0" anchor="t"/>
          <a:lstStyle/>
          <a:p>
            <a:pPr algn="ctr" indent="0" marL="0">
              <a:buNone/>
            </a:pPr>
            <a:r>
              <a:rPr lang="en-US" sz="1200" dirty="0">
                <a:solidFill>
                  <a:schemeClr val="accent5"/>
                </a:solidFill>
              </a:rPr>
              <a:t>Baca fund fact sheet dan prospektus.</a:t>
            </a:r>
            <a:endParaRPr lang="en-US" sz="1200" dirty="0"/>
          </a:p>
        </p:txBody>
      </p:sp>
      <p:sp>
        <p:nvSpPr>
          <p:cNvPr id="11" name="Beli (subscription) lingkaran"/>
          <p:cNvSpPr/>
          <p:nvPr/>
        </p:nvSpPr>
        <p:spPr>
          <a:xfrm>
            <a:off x="3383280" y="1600200"/>
            <a:ext cx="1051560" cy="1051560"/>
          </a:xfrm>
          <a:prstGeom prst="ellipse">
            <a:avLst/>
          </a:prstGeom>
          <a:solidFill>
            <a:schemeClr val="accent1"/>
          </a:solidFill>
          <a:ln w="12700">
            <a:solidFill>
              <a:schemeClr val="accent1"/>
            </a:solidFill>
            <a:prstDash val="solid"/>
          </a:ln>
        </p:spPr>
      </p:sp>
      <p:pic>
        <p:nvPicPr>
          <p:cNvPr id="12" name="Beli (subscription) ikon" descr="preencoded.png">    </p:cNvPr>
          <p:cNvPicPr>
            <a:picLocks noChangeAspect="1"/>
          </p:cNvPicPr>
          <p:nvPr/>
        </p:nvPicPr>
        <p:blipFill>
          <a:blip r:embed="rId3"/>
          <a:stretch>
            <a:fillRect/>
          </a:stretch>
        </p:blipFill>
        <p:spPr>
          <a:xfrm>
            <a:off x="3646170" y="1863090"/>
            <a:ext cx="525780" cy="525780"/>
          </a:xfrm>
          <a:prstGeom prst="rect">
            <a:avLst/>
          </a:prstGeom>
        </p:spPr>
      </p:pic>
      <p:sp>
        <p:nvSpPr>
          <p:cNvPr id="13" name="Nomor 2"/>
          <p:cNvSpPr txBox="1"/>
          <p:nvPr/>
        </p:nvSpPr>
        <p:spPr>
          <a:xfrm>
            <a:off x="4187952"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14" name="Langkah 2"/>
          <p:cNvSpPr/>
          <p:nvPr/>
        </p:nvSpPr>
        <p:spPr>
          <a:xfrm>
            <a:off x="2816352" y="2926080"/>
            <a:ext cx="21031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Text 11"/>
          <p:cNvSpPr txBox="1"/>
          <p:nvPr/>
        </p:nvSpPr>
        <p:spPr>
          <a:xfrm>
            <a:off x="2953512" y="3063240"/>
            <a:ext cx="1828800" cy="548640"/>
          </a:xfrm>
          <a:prstGeom prst="rect">
            <a:avLst/>
          </a:prstGeom>
          <a:noFill/>
          <a:ln/>
        </p:spPr>
        <p:txBody>
          <a:bodyPr wrap="square" lIns="0" tIns="0" rIns="0" bIns="0" rtlCol="0" anchor="t"/>
          <a:lstStyle/>
          <a:p>
            <a:pPr algn="ctr" indent="0" marL="0">
              <a:buNone/>
            </a:pPr>
            <a:r>
              <a:rPr lang="en-US" sz="1400" b="1" dirty="0">
                <a:solidFill>
                  <a:schemeClr val="tx1"/>
                </a:solidFill>
              </a:rPr>
              <a:t>Beli (subscription)</a:t>
            </a:r>
            <a:endParaRPr lang="en-US" sz="1400" dirty="0"/>
          </a:p>
        </p:txBody>
      </p:sp>
      <p:sp>
        <p:nvSpPr>
          <p:cNvPr id="16" name="Text 12"/>
          <p:cNvSpPr txBox="1"/>
          <p:nvPr/>
        </p:nvSpPr>
        <p:spPr>
          <a:xfrm>
            <a:off x="2953512" y="3611880"/>
            <a:ext cx="1828800" cy="1234440"/>
          </a:xfrm>
          <a:prstGeom prst="rect">
            <a:avLst/>
          </a:prstGeom>
          <a:noFill/>
          <a:ln/>
        </p:spPr>
        <p:txBody>
          <a:bodyPr wrap="square" lIns="0" tIns="0" rIns="0" bIns="0" rtlCol="0" anchor="t"/>
          <a:lstStyle/>
          <a:p>
            <a:pPr algn="ctr" indent="0" marL="0">
              <a:buNone/>
            </a:pPr>
            <a:r>
              <a:rPr lang="en-US" sz="1200" dirty="0">
                <a:solidFill>
                  <a:schemeClr val="accent5"/>
                </a:solidFill>
              </a:rPr>
              <a:t>Order sebelum batas waktu, biasanya pukul 13.00 WIB, memakai NAB/UP hari itu.</a:t>
            </a:r>
            <a:endParaRPr lang="en-US" sz="1200" dirty="0"/>
          </a:p>
        </p:txBody>
      </p:sp>
      <p:sp>
        <p:nvSpPr>
          <p:cNvPr id="17" name="Unit tercatat lingkaran"/>
          <p:cNvSpPr/>
          <p:nvPr/>
        </p:nvSpPr>
        <p:spPr>
          <a:xfrm>
            <a:off x="5650992" y="1600200"/>
            <a:ext cx="1051560" cy="1051560"/>
          </a:xfrm>
          <a:prstGeom prst="ellipse">
            <a:avLst/>
          </a:prstGeom>
          <a:solidFill>
            <a:schemeClr val="accent1"/>
          </a:solidFill>
          <a:ln w="12700">
            <a:solidFill>
              <a:schemeClr val="accent1"/>
            </a:solidFill>
            <a:prstDash val="solid"/>
          </a:ln>
        </p:spPr>
      </p:sp>
      <p:pic>
        <p:nvPicPr>
          <p:cNvPr id="18" name="Unit tercatat ikon" descr="preencoded.png">    </p:cNvPr>
          <p:cNvPicPr>
            <a:picLocks noChangeAspect="1"/>
          </p:cNvPicPr>
          <p:nvPr/>
        </p:nvPicPr>
        <p:blipFill>
          <a:blip r:embed="rId4"/>
          <a:stretch>
            <a:fillRect/>
          </a:stretch>
        </p:blipFill>
        <p:spPr>
          <a:xfrm>
            <a:off x="5913882" y="1863090"/>
            <a:ext cx="525780" cy="525780"/>
          </a:xfrm>
          <a:prstGeom prst="rect">
            <a:avLst/>
          </a:prstGeom>
        </p:spPr>
      </p:pic>
      <p:sp>
        <p:nvSpPr>
          <p:cNvPr id="19" name="Nomor 3"/>
          <p:cNvSpPr txBox="1"/>
          <p:nvPr/>
        </p:nvSpPr>
        <p:spPr>
          <a:xfrm>
            <a:off x="6455664"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20" name="Langkah 3"/>
          <p:cNvSpPr/>
          <p:nvPr/>
        </p:nvSpPr>
        <p:spPr>
          <a:xfrm>
            <a:off x="5084064" y="2926080"/>
            <a:ext cx="21031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1" name="Text 16"/>
          <p:cNvSpPr txBox="1"/>
          <p:nvPr/>
        </p:nvSpPr>
        <p:spPr>
          <a:xfrm>
            <a:off x="5221224" y="3063240"/>
            <a:ext cx="1828800" cy="548640"/>
          </a:xfrm>
          <a:prstGeom prst="rect">
            <a:avLst/>
          </a:prstGeom>
          <a:noFill/>
          <a:ln/>
        </p:spPr>
        <p:txBody>
          <a:bodyPr wrap="square" lIns="0" tIns="0" rIns="0" bIns="0" rtlCol="0" anchor="t"/>
          <a:lstStyle/>
          <a:p>
            <a:pPr algn="ctr" indent="0" marL="0">
              <a:buNone/>
            </a:pPr>
            <a:r>
              <a:rPr lang="en-US" sz="1400" b="1" dirty="0">
                <a:solidFill>
                  <a:schemeClr val="tx1"/>
                </a:solidFill>
              </a:rPr>
              <a:t>Unit tercatat</a:t>
            </a:r>
            <a:endParaRPr lang="en-US" sz="1400" dirty="0"/>
          </a:p>
        </p:txBody>
      </p:sp>
      <p:sp>
        <p:nvSpPr>
          <p:cNvPr id="22" name="Text 17"/>
          <p:cNvSpPr txBox="1"/>
          <p:nvPr/>
        </p:nvSpPr>
        <p:spPr>
          <a:xfrm>
            <a:off x="5221224" y="3611880"/>
            <a:ext cx="1828800" cy="1234440"/>
          </a:xfrm>
          <a:prstGeom prst="rect">
            <a:avLst/>
          </a:prstGeom>
          <a:noFill/>
          <a:ln/>
        </p:spPr>
        <p:txBody>
          <a:bodyPr wrap="square" lIns="0" tIns="0" rIns="0" bIns="0" rtlCol="0" anchor="t"/>
          <a:lstStyle/>
          <a:p>
            <a:pPr algn="ctr" indent="0" marL="0">
              <a:buNone/>
            </a:pPr>
            <a:r>
              <a:rPr lang="en-US" sz="1200" dirty="0">
                <a:solidFill>
                  <a:schemeClr val="accent5"/>
                </a:solidFill>
              </a:rPr>
              <a:t>Unit masuk atas nama SID kamu di KSEI. Ada konfirmasi transaksi.</a:t>
            </a:r>
            <a:endParaRPr lang="en-US" sz="1200" dirty="0"/>
          </a:p>
        </p:txBody>
      </p:sp>
      <p:sp>
        <p:nvSpPr>
          <p:cNvPr id="23" name="Pantau lingkaran"/>
          <p:cNvSpPr/>
          <p:nvPr/>
        </p:nvSpPr>
        <p:spPr>
          <a:xfrm>
            <a:off x="7918704" y="1600200"/>
            <a:ext cx="1051560" cy="1051560"/>
          </a:xfrm>
          <a:prstGeom prst="ellipse">
            <a:avLst/>
          </a:prstGeom>
          <a:solidFill>
            <a:schemeClr val="accent1"/>
          </a:solidFill>
          <a:ln w="12700">
            <a:solidFill>
              <a:schemeClr val="accent1"/>
            </a:solidFill>
            <a:prstDash val="solid"/>
          </a:ln>
        </p:spPr>
      </p:sp>
      <p:pic>
        <p:nvPicPr>
          <p:cNvPr id="24" name="Pantau ikon" descr="preencoded.png">    </p:cNvPr>
          <p:cNvPicPr>
            <a:picLocks noChangeAspect="1"/>
          </p:cNvPicPr>
          <p:nvPr/>
        </p:nvPicPr>
        <p:blipFill>
          <a:blip r:embed="rId5"/>
          <a:stretch>
            <a:fillRect/>
          </a:stretch>
        </p:blipFill>
        <p:spPr>
          <a:xfrm>
            <a:off x="8181594" y="1863090"/>
            <a:ext cx="525780" cy="525780"/>
          </a:xfrm>
          <a:prstGeom prst="rect">
            <a:avLst/>
          </a:prstGeom>
        </p:spPr>
      </p:pic>
      <p:sp>
        <p:nvSpPr>
          <p:cNvPr id="25" name="Nomor 4"/>
          <p:cNvSpPr txBox="1"/>
          <p:nvPr/>
        </p:nvSpPr>
        <p:spPr>
          <a:xfrm>
            <a:off x="8723376"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26" name="Langkah 4"/>
          <p:cNvSpPr/>
          <p:nvPr/>
        </p:nvSpPr>
        <p:spPr>
          <a:xfrm>
            <a:off x="7351776" y="2926080"/>
            <a:ext cx="21031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7" name="Text 21"/>
          <p:cNvSpPr txBox="1"/>
          <p:nvPr/>
        </p:nvSpPr>
        <p:spPr>
          <a:xfrm>
            <a:off x="7488936" y="3063240"/>
            <a:ext cx="1828800" cy="548640"/>
          </a:xfrm>
          <a:prstGeom prst="rect">
            <a:avLst/>
          </a:prstGeom>
          <a:noFill/>
          <a:ln/>
        </p:spPr>
        <p:txBody>
          <a:bodyPr wrap="square" lIns="0" tIns="0" rIns="0" bIns="0" rtlCol="0" anchor="t"/>
          <a:lstStyle/>
          <a:p>
            <a:pPr algn="ctr" indent="0" marL="0">
              <a:buNone/>
            </a:pPr>
            <a:r>
              <a:rPr lang="en-US" sz="1400" b="1" dirty="0">
                <a:solidFill>
                  <a:schemeClr val="tx1"/>
                </a:solidFill>
              </a:rPr>
              <a:t>Pantau</a:t>
            </a:r>
            <a:endParaRPr lang="en-US" sz="1400" dirty="0"/>
          </a:p>
        </p:txBody>
      </p:sp>
      <p:sp>
        <p:nvSpPr>
          <p:cNvPr id="28" name="Text 22"/>
          <p:cNvSpPr txBox="1"/>
          <p:nvPr/>
        </p:nvSpPr>
        <p:spPr>
          <a:xfrm>
            <a:off x="7488936" y="3611880"/>
            <a:ext cx="1828800" cy="1234440"/>
          </a:xfrm>
          <a:prstGeom prst="rect">
            <a:avLst/>
          </a:prstGeom>
          <a:noFill/>
          <a:ln/>
        </p:spPr>
        <p:txBody>
          <a:bodyPr wrap="square" lIns="0" tIns="0" rIns="0" bIns="0" rtlCol="0" anchor="t"/>
          <a:lstStyle/>
          <a:p>
            <a:pPr algn="ctr" indent="0" marL="0">
              <a:buNone/>
            </a:pPr>
            <a:r>
              <a:rPr lang="en-US" sz="1200" dirty="0">
                <a:solidFill>
                  <a:schemeClr val="accent5"/>
                </a:solidFill>
              </a:rPr>
              <a:t>Nilai = jumlah unit × NAB/UP terbaru.</a:t>
            </a:r>
            <a:endParaRPr lang="en-US" sz="1200" dirty="0"/>
          </a:p>
        </p:txBody>
      </p:sp>
      <p:sp>
        <p:nvSpPr>
          <p:cNvPr id="29" name="Jual (redemption) lingkaran"/>
          <p:cNvSpPr/>
          <p:nvPr/>
        </p:nvSpPr>
        <p:spPr>
          <a:xfrm>
            <a:off x="10186416" y="1600200"/>
            <a:ext cx="1051560" cy="1051560"/>
          </a:xfrm>
          <a:prstGeom prst="ellipse">
            <a:avLst/>
          </a:prstGeom>
          <a:solidFill>
            <a:schemeClr val="accent1"/>
          </a:solidFill>
          <a:ln w="12700">
            <a:solidFill>
              <a:schemeClr val="accent1"/>
            </a:solidFill>
            <a:prstDash val="solid"/>
          </a:ln>
        </p:spPr>
      </p:sp>
      <p:pic>
        <p:nvPicPr>
          <p:cNvPr id="30" name="Jual (redemption) ikon" descr="preencoded.png">    </p:cNvPr>
          <p:cNvPicPr>
            <a:picLocks noChangeAspect="1"/>
          </p:cNvPicPr>
          <p:nvPr/>
        </p:nvPicPr>
        <p:blipFill>
          <a:blip r:embed="rId6"/>
          <a:stretch>
            <a:fillRect/>
          </a:stretch>
        </p:blipFill>
        <p:spPr>
          <a:xfrm>
            <a:off x="10449306" y="1863090"/>
            <a:ext cx="525780" cy="525780"/>
          </a:xfrm>
          <a:prstGeom prst="rect">
            <a:avLst/>
          </a:prstGeom>
        </p:spPr>
      </p:pic>
      <p:sp>
        <p:nvSpPr>
          <p:cNvPr id="31" name="Nomor 5"/>
          <p:cNvSpPr txBox="1"/>
          <p:nvPr/>
        </p:nvSpPr>
        <p:spPr>
          <a:xfrm>
            <a:off x="10991088" y="1463040"/>
            <a:ext cx="384048" cy="384048"/>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32" name="Langkah 5"/>
          <p:cNvSpPr/>
          <p:nvPr/>
        </p:nvSpPr>
        <p:spPr>
          <a:xfrm>
            <a:off x="9619488" y="2926080"/>
            <a:ext cx="2103120" cy="1965960"/>
          </a:xfrm>
          <a:prstGeom prst="roundRect">
            <a:avLst>
              <a:gd name="adj" fmla="val 5581"/>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3" name="Text 26"/>
          <p:cNvSpPr txBox="1"/>
          <p:nvPr/>
        </p:nvSpPr>
        <p:spPr>
          <a:xfrm>
            <a:off x="9756648" y="3063240"/>
            <a:ext cx="1828800" cy="548640"/>
          </a:xfrm>
          <a:prstGeom prst="rect">
            <a:avLst/>
          </a:prstGeom>
          <a:noFill/>
          <a:ln/>
        </p:spPr>
        <p:txBody>
          <a:bodyPr wrap="square" lIns="0" tIns="0" rIns="0" bIns="0" rtlCol="0" anchor="t"/>
          <a:lstStyle/>
          <a:p>
            <a:pPr algn="ctr" indent="0" marL="0">
              <a:buNone/>
            </a:pPr>
            <a:r>
              <a:rPr lang="en-US" sz="1400" b="1" dirty="0">
                <a:solidFill>
                  <a:schemeClr val="tx1"/>
                </a:solidFill>
              </a:rPr>
              <a:t>Jual (redemption)</a:t>
            </a:r>
            <a:endParaRPr lang="en-US" sz="1400" dirty="0"/>
          </a:p>
        </p:txBody>
      </p:sp>
      <p:sp>
        <p:nvSpPr>
          <p:cNvPr id="34" name="Text 27"/>
          <p:cNvSpPr txBox="1"/>
          <p:nvPr/>
        </p:nvSpPr>
        <p:spPr>
          <a:xfrm>
            <a:off x="9756648" y="3611880"/>
            <a:ext cx="1828800" cy="1234440"/>
          </a:xfrm>
          <a:prstGeom prst="rect">
            <a:avLst/>
          </a:prstGeom>
          <a:noFill/>
          <a:ln/>
        </p:spPr>
        <p:txBody>
          <a:bodyPr wrap="square" lIns="0" tIns="0" rIns="0" bIns="0" rtlCol="0" anchor="t"/>
          <a:lstStyle/>
          <a:p>
            <a:pPr algn="ctr" indent="0" marL="0">
              <a:buNone/>
            </a:pPr>
            <a:r>
              <a:rPr lang="en-US" sz="1200" dirty="0">
                <a:solidFill>
                  <a:schemeClr val="accent5"/>
                </a:solidFill>
              </a:rPr>
              <a:t>Aturan OJK: dana dibayar paling lambat 7 hari bursa. RDPU umumnya 1 sampai 2 hari bursa.</a:t>
            </a:r>
            <a:endParaRPr lang="en-US" sz="1200" dirty="0"/>
          </a:p>
        </p:txBody>
      </p:sp>
      <p:sp>
        <p:nvSpPr>
          <p:cNvPr id="35" name="Catatan cut off"/>
          <p:cNvSpPr/>
          <p:nvPr/>
        </p:nvSpPr>
        <p:spPr>
          <a:xfrm>
            <a:off x="548640" y="5166360"/>
            <a:ext cx="11109960" cy="548640"/>
          </a:xfrm>
          <a:prstGeom prst="roundRect">
            <a:avLst>
              <a:gd name="adj" fmla="val 20000"/>
            </a:avLst>
          </a:prstGeom>
          <a:solidFill>
            <a:schemeClr val="bg2"/>
          </a:solidFill>
          <a:ln w="12700">
            <a:solidFill>
              <a:schemeClr val="bg2"/>
            </a:solidFill>
            <a:prstDash val="solid"/>
          </a:ln>
        </p:spPr>
      </p:sp>
      <p:sp>
        <p:nvSpPr>
          <p:cNvPr id="36" name="Text 29"/>
          <p:cNvSpPr txBox="1"/>
          <p:nvPr/>
        </p:nvSpPr>
        <p:spPr>
          <a:xfrm>
            <a:off x="777240" y="5212080"/>
            <a:ext cx="10698480" cy="457200"/>
          </a:xfrm>
          <a:prstGeom prst="rect">
            <a:avLst/>
          </a:prstGeom>
          <a:noFill/>
          <a:ln/>
        </p:spPr>
        <p:txBody>
          <a:bodyPr wrap="square" lIns="0" tIns="0" rIns="0" bIns="0" rtlCol="0" anchor="ctr"/>
          <a:lstStyle/>
          <a:p>
            <a:pPr indent="0" marL="0">
              <a:buNone/>
            </a:pPr>
            <a:r>
              <a:rPr lang="en-US" sz="1300" dirty="0">
                <a:solidFill>
                  <a:schemeClr val="tx1"/>
                </a:solidFill>
              </a:rPr>
              <a:t>Order setelah batas waktu diproses memakai NAB/UP hari bursa berikutnya. Hari libur bursa tidak dihitung.</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04</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Untung, biaya, pajak, dan risiko</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Bagian yang paling sering disalahpahami. Pelan-pelan saja.</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04</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Sumber untung, biaya, dan pajak</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olom Sumber keuntungan"/>
          <p:cNvSpPr/>
          <p:nvPr/>
        </p:nvSpPr>
        <p:spPr>
          <a:xfrm>
            <a:off x="548640" y="1371600"/>
            <a:ext cx="3520440" cy="448056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Sumber keuntungan lingkaran"/>
          <p:cNvSpPr/>
          <p:nvPr/>
        </p:nvSpPr>
        <p:spPr>
          <a:xfrm>
            <a:off x="822960" y="1600200"/>
            <a:ext cx="731520" cy="731520"/>
          </a:xfrm>
          <a:prstGeom prst="ellipse">
            <a:avLst/>
          </a:prstGeom>
          <a:solidFill>
            <a:schemeClr val="accent1"/>
          </a:solidFill>
          <a:ln w="12700">
            <a:solidFill>
              <a:schemeClr val="accent1"/>
            </a:solidFill>
            <a:prstDash val="solid"/>
          </a:ln>
        </p:spPr>
      </p:sp>
      <p:pic>
        <p:nvPicPr>
          <p:cNvPr id="6" name="Sumber keuntungan ikon" descr="preencoded.png">    </p:cNvPr>
          <p:cNvPicPr>
            <a:picLocks noChangeAspect="1"/>
          </p:cNvPicPr>
          <p:nvPr/>
        </p:nvPicPr>
        <p:blipFill>
          <a:blip r:embed="rId2"/>
          <a:stretch>
            <a:fillRect/>
          </a:stretch>
        </p:blipFill>
        <p:spPr>
          <a:xfrm>
            <a:off x="1005840" y="1783080"/>
            <a:ext cx="365760" cy="365760"/>
          </a:xfrm>
          <a:prstGeom prst="rect">
            <a:avLst/>
          </a:prstGeom>
        </p:spPr>
      </p:pic>
      <p:sp>
        <p:nvSpPr>
          <p:cNvPr id="7" name="Text 4"/>
          <p:cNvSpPr txBox="1"/>
          <p:nvPr/>
        </p:nvSpPr>
        <p:spPr>
          <a:xfrm>
            <a:off x="1691640" y="1783080"/>
            <a:ext cx="2286000" cy="411480"/>
          </a:xfrm>
          <a:prstGeom prst="rect">
            <a:avLst/>
          </a:prstGeom>
          <a:noFill/>
          <a:ln/>
        </p:spPr>
        <p:txBody>
          <a:bodyPr wrap="square" lIns="0" tIns="0" rIns="0" bIns="0" rtlCol="0" anchor="t"/>
          <a:lstStyle/>
          <a:p>
            <a:pPr indent="0" marL="0">
              <a:buNone/>
            </a:pPr>
            <a:r>
              <a:rPr lang="en-US" sz="1800" b="1" dirty="0">
                <a:solidFill>
                  <a:schemeClr val="tx1"/>
                </a:solidFill>
              </a:rPr>
              <a:t>Sumber keuntungan</a:t>
            </a:r>
            <a:endParaRPr lang="en-US" sz="1800" dirty="0"/>
          </a:p>
        </p:txBody>
      </p:sp>
      <p:sp>
        <p:nvSpPr>
          <p:cNvPr id="8" name="Text 5"/>
          <p:cNvSpPr txBox="1"/>
          <p:nvPr/>
        </p:nvSpPr>
        <p:spPr>
          <a:xfrm>
            <a:off x="822960" y="2560320"/>
            <a:ext cx="3017520" cy="3200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1"/>
                </a:solidFill>
              </a:rPr>
              <a:t>Bunga deposito dan kupon surat utang yang masuk ke portofolio setiap hari.</a:t>
            </a:r>
            <a:endParaRPr lang="en-US" sz="1350" dirty="0"/>
          </a:p>
          <a:p>
            <a:pPr marL="177800" indent="-177800">
              <a:spcAft>
                <a:spcPts val="800"/>
              </a:spcAft>
              <a:buSzPct val="100000"/>
              <a:buChar char="•"/>
            </a:pPr>
            <a:r>
              <a:rPr lang="en-US" sz="1350" dirty="0">
                <a:solidFill>
                  <a:schemeClr val="tx1"/>
                </a:solidFill>
              </a:rPr>
              <a:t>Keuntungan kamu terlihat dari kenaikan NAB/UP, bukan dari transfer bunga bulanan.</a:t>
            </a:r>
            <a:endParaRPr lang="en-US" sz="1350" dirty="0"/>
          </a:p>
          <a:p>
            <a:pPr marL="177800" indent="-177800">
              <a:spcAft>
                <a:spcPts val="800"/>
              </a:spcAft>
              <a:buSzPct val="100000"/>
              <a:buChar char="•"/>
            </a:pPr>
            <a:r>
              <a:rPr lang="en-US" sz="1350" dirty="0">
                <a:solidFill>
                  <a:schemeClr val="tx1"/>
                </a:solidFill>
              </a:rPr>
              <a:t>Return 1 tahun RDPU per pertengahan 2026 umumnya di kisaran 4 sampai 5% per tahun, tergantung produk.</a:t>
            </a:r>
            <a:endParaRPr lang="en-US" sz="1350" dirty="0"/>
          </a:p>
        </p:txBody>
      </p:sp>
      <p:sp>
        <p:nvSpPr>
          <p:cNvPr id="9" name="Kolom Biaya"/>
          <p:cNvSpPr/>
          <p:nvPr/>
        </p:nvSpPr>
        <p:spPr>
          <a:xfrm>
            <a:off x="4297680" y="1371600"/>
            <a:ext cx="3520440" cy="448056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0" name="Biaya lingkaran"/>
          <p:cNvSpPr/>
          <p:nvPr/>
        </p:nvSpPr>
        <p:spPr>
          <a:xfrm>
            <a:off x="4572000" y="1600200"/>
            <a:ext cx="731520" cy="731520"/>
          </a:xfrm>
          <a:prstGeom prst="ellipse">
            <a:avLst/>
          </a:prstGeom>
          <a:solidFill>
            <a:schemeClr val="accent1"/>
          </a:solidFill>
          <a:ln w="12700">
            <a:solidFill>
              <a:schemeClr val="accent1"/>
            </a:solidFill>
            <a:prstDash val="solid"/>
          </a:ln>
        </p:spPr>
      </p:sp>
      <p:pic>
        <p:nvPicPr>
          <p:cNvPr id="11" name="Biaya ikon" descr="preencoded.png">    </p:cNvPr>
          <p:cNvPicPr>
            <a:picLocks noChangeAspect="1"/>
          </p:cNvPicPr>
          <p:nvPr/>
        </p:nvPicPr>
        <p:blipFill>
          <a:blip r:embed="rId3"/>
          <a:stretch>
            <a:fillRect/>
          </a:stretch>
        </p:blipFill>
        <p:spPr>
          <a:xfrm>
            <a:off x="4754880" y="1783080"/>
            <a:ext cx="365760" cy="365760"/>
          </a:xfrm>
          <a:prstGeom prst="rect">
            <a:avLst/>
          </a:prstGeom>
        </p:spPr>
      </p:pic>
      <p:sp>
        <p:nvSpPr>
          <p:cNvPr id="12" name="Text 8"/>
          <p:cNvSpPr txBox="1"/>
          <p:nvPr/>
        </p:nvSpPr>
        <p:spPr>
          <a:xfrm>
            <a:off x="5440680" y="1783080"/>
            <a:ext cx="2286000" cy="411480"/>
          </a:xfrm>
          <a:prstGeom prst="rect">
            <a:avLst/>
          </a:prstGeom>
          <a:noFill/>
          <a:ln/>
        </p:spPr>
        <p:txBody>
          <a:bodyPr wrap="square" lIns="0" tIns="0" rIns="0" bIns="0" rtlCol="0" anchor="t"/>
          <a:lstStyle/>
          <a:p>
            <a:pPr indent="0" marL="0">
              <a:buNone/>
            </a:pPr>
            <a:r>
              <a:rPr lang="en-US" sz="1800" b="1" dirty="0">
                <a:solidFill>
                  <a:schemeClr val="tx1"/>
                </a:solidFill>
              </a:rPr>
              <a:t>Biaya</a:t>
            </a:r>
            <a:endParaRPr lang="en-US" sz="1800" dirty="0"/>
          </a:p>
        </p:txBody>
      </p:sp>
      <p:sp>
        <p:nvSpPr>
          <p:cNvPr id="13" name="Text 9"/>
          <p:cNvSpPr txBox="1"/>
          <p:nvPr/>
        </p:nvSpPr>
        <p:spPr>
          <a:xfrm>
            <a:off x="4572000" y="2560320"/>
            <a:ext cx="3017520" cy="3200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1"/>
                </a:solidFill>
              </a:rPr>
              <a:t>Biaya pengelolaan MI dan biaya kustodian dipotong dari NAB, jadi return yang kamu lihat sudah bersih dari biaya ini.</a:t>
            </a:r>
            <a:endParaRPr lang="en-US" sz="1350" dirty="0"/>
          </a:p>
          <a:p>
            <a:pPr marL="177800" indent="-177800">
              <a:spcAft>
                <a:spcPts val="800"/>
              </a:spcAft>
              <a:buSzPct val="100000"/>
              <a:buChar char="•"/>
            </a:pPr>
            <a:r>
              <a:rPr lang="en-US" sz="1350" dirty="0">
                <a:solidFill>
                  <a:schemeClr val="tx1"/>
                </a:solidFill>
              </a:rPr>
              <a:t>Biaya beli dan jual RDPU di banyak APERD umumnya Rp0. Tetap cek di prospektus.</a:t>
            </a:r>
            <a:endParaRPr lang="en-US" sz="1350" dirty="0"/>
          </a:p>
          <a:p>
            <a:pPr marL="177800" indent="-177800">
              <a:spcAft>
                <a:spcPts val="800"/>
              </a:spcAft>
              <a:buSzPct val="100000"/>
              <a:buChar char="•"/>
            </a:pPr>
            <a:r>
              <a:rPr lang="en-US" sz="1350" dirty="0">
                <a:solidFill>
                  <a:schemeClr val="tx1"/>
                </a:solidFill>
              </a:rPr>
              <a:t>Hati-hati biaya transfer bank atau biaya platform, kalau ada.</a:t>
            </a:r>
            <a:endParaRPr lang="en-US" sz="1350" dirty="0"/>
          </a:p>
        </p:txBody>
      </p:sp>
      <p:sp>
        <p:nvSpPr>
          <p:cNvPr id="14" name="Kolom Pajak"/>
          <p:cNvSpPr/>
          <p:nvPr/>
        </p:nvSpPr>
        <p:spPr>
          <a:xfrm>
            <a:off x="8046720" y="1371600"/>
            <a:ext cx="3520440" cy="448056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Pajak lingkaran"/>
          <p:cNvSpPr/>
          <p:nvPr/>
        </p:nvSpPr>
        <p:spPr>
          <a:xfrm>
            <a:off x="8321040" y="1600200"/>
            <a:ext cx="731520" cy="731520"/>
          </a:xfrm>
          <a:prstGeom prst="ellipse">
            <a:avLst/>
          </a:prstGeom>
          <a:solidFill>
            <a:schemeClr val="accent2"/>
          </a:solidFill>
          <a:ln w="12700">
            <a:solidFill>
              <a:schemeClr val="accent2"/>
            </a:solidFill>
            <a:prstDash val="solid"/>
          </a:ln>
        </p:spPr>
      </p:sp>
      <p:pic>
        <p:nvPicPr>
          <p:cNvPr id="16" name="Pajak ikon" descr="preencoded.png">    </p:cNvPr>
          <p:cNvPicPr>
            <a:picLocks noChangeAspect="1"/>
          </p:cNvPicPr>
          <p:nvPr/>
        </p:nvPicPr>
        <p:blipFill>
          <a:blip r:embed="rId4"/>
          <a:stretch>
            <a:fillRect/>
          </a:stretch>
        </p:blipFill>
        <p:spPr>
          <a:xfrm>
            <a:off x="8503920" y="1783080"/>
            <a:ext cx="365760" cy="365760"/>
          </a:xfrm>
          <a:prstGeom prst="rect">
            <a:avLst/>
          </a:prstGeom>
        </p:spPr>
      </p:pic>
      <p:sp>
        <p:nvSpPr>
          <p:cNvPr id="17" name="Text 12"/>
          <p:cNvSpPr txBox="1"/>
          <p:nvPr/>
        </p:nvSpPr>
        <p:spPr>
          <a:xfrm>
            <a:off x="9189720" y="1783080"/>
            <a:ext cx="2286000" cy="411480"/>
          </a:xfrm>
          <a:prstGeom prst="rect">
            <a:avLst/>
          </a:prstGeom>
          <a:noFill/>
          <a:ln/>
        </p:spPr>
        <p:txBody>
          <a:bodyPr wrap="square" lIns="0" tIns="0" rIns="0" bIns="0" rtlCol="0" anchor="t"/>
          <a:lstStyle/>
          <a:p>
            <a:pPr indent="0" marL="0">
              <a:buNone/>
            </a:pPr>
            <a:r>
              <a:rPr lang="en-US" sz="1800" b="1" dirty="0">
                <a:solidFill>
                  <a:schemeClr val="tx1"/>
                </a:solidFill>
              </a:rPr>
              <a:t>Pajak</a:t>
            </a:r>
            <a:endParaRPr lang="en-US" sz="1800" dirty="0"/>
          </a:p>
        </p:txBody>
      </p:sp>
      <p:sp>
        <p:nvSpPr>
          <p:cNvPr id="18" name="Text 13"/>
          <p:cNvSpPr txBox="1"/>
          <p:nvPr/>
        </p:nvSpPr>
        <p:spPr>
          <a:xfrm>
            <a:off x="8321040" y="2560320"/>
            <a:ext cx="3017520" cy="32004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chemeClr val="tx1"/>
                </a:solidFill>
              </a:rPr>
              <a:t>Keuntungan yang diterima pemegang unit reksa dana bukan objek pajak (UU PPh Pasal 4 ayat 3).</a:t>
            </a:r>
            <a:endParaRPr lang="en-US" sz="1350" dirty="0"/>
          </a:p>
          <a:p>
            <a:pPr marL="177800" indent="-177800">
              <a:spcAft>
                <a:spcPts val="800"/>
              </a:spcAft>
              <a:buSzPct val="100000"/>
              <a:buChar char="•"/>
            </a:pPr>
            <a:r>
              <a:rPr lang="en-US" sz="1350" dirty="0">
                <a:solidFill>
                  <a:schemeClr val="tx1"/>
                </a:solidFill>
              </a:rPr>
              <a:t>Pajak sudah dipotong di dalam portofolio: bunga deposito 20% final, bunga obligasi 10% final (PP 91/2021).</a:t>
            </a:r>
            <a:endParaRPr lang="en-US" sz="1350" dirty="0"/>
          </a:p>
          <a:p>
            <a:pPr marL="177800" indent="-177800">
              <a:spcAft>
                <a:spcPts val="800"/>
              </a:spcAft>
              <a:buSzPct val="100000"/>
              <a:buChar char="•"/>
            </a:pPr>
            <a:r>
              <a:rPr lang="en-US" sz="1350" dirty="0">
                <a:solidFill>
                  <a:schemeClr val="tx1"/>
                </a:solidFill>
              </a:rPr>
              <a:t>Jadi kamu tidak perlu menyetor pajak lagi atas untung RDPU.</a:t>
            </a:r>
            <a:endParaRPr lang="en-US" sz="1350" dirty="0"/>
          </a:p>
        </p:txBody>
      </p:sp>
      <p:sp>
        <p:nvSpPr>
          <p:cNvPr id="19" name="Text 14"/>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UU PPh Pasal 4 ayat (3); PP 131/2000 (bunga deposito); PP 91/2021 (bunga obligasi); data return RDPU dari Kontan dan Bareksa, 2026.</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RDPU dibanding tabungan dan deposito</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graphicFrame>
        <p:nvGraphicFramePr>
          <p:cNvPr id="18" name="Tabel perbandingan"/>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914400"/>
        </p:xfrm>
        <a:graphic>
          <a:graphicData uri="http://schemas.openxmlformats.org/drawingml/2006/table">
            <a:tbl>
              <a:tblPr/>
              <a:tblGrid>
                <a:gridCol w="1965960"/>
                <a:gridCol w="2926080"/>
                <a:gridCol w="3017520"/>
                <a:gridCol w="320040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Aspek</a:t>
                      </a:r>
                      <a:endParaRPr lang="en-US" sz="14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B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Tabungan</a:t>
                      </a:r>
                      <a:endParaRPr lang="en-US" sz="14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B2C"/>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Deposito</a:t>
                      </a:r>
                      <a:endParaRPr lang="en-US" sz="14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B2C"/>
                    </a:solidFill>
                  </a:tcPr>
                </a:tc>
                <a:tc>
                  <a:txBody>
                    <a:bodyPr/>
                    <a:lstStyle/>
                    <a:p>
                      <a:pPr algn="ctr" indent="0" marL="0">
                        <a:buNone/>
                      </a:pPr>
                      <a:r>
                        <a:rPr lang="en-US" sz="1400" b="1" dirty="0">
                          <a:solidFill>
                            <a:srgbClr val="F2B33D"/>
                          </a:solidFill>
                          <a:latin typeface="Calibri" pitchFamily="34" charset="0"/>
                          <a:ea typeface="Calibri" pitchFamily="34" charset="-122"/>
                          <a:cs typeface="Calibri" pitchFamily="34" charset="-120"/>
                        </a:rPr>
                        <a:t>RDPU</a:t>
                      </a:r>
                      <a:endParaRPr lang="en-US" sz="14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1B2C"/>
                    </a:solidFill>
                  </a:tcPr>
                </a:tc>
              </a:tr>
              <a:tr h="658368">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Modal awal</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Kecil, sesuai syarat bank</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Umumnya jutaan rupiah</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Mulai sekitar Rp10.000 di banyak aplikasi</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4EF"/>
                    </a:solidFill>
                  </a:tcPr>
                </a:tc>
              </a:tr>
              <a:tr h="658368">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Imbal hasil</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Rendah, sering di bawah 1% per tahun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Bunga tetap selama tenor</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Mengikuti isi portofolio, tidak dijamin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4EF"/>
                    </a:solidFill>
                  </a:tcPr>
                </a:tc>
              </a:tr>
              <a:tr h="658368">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Pajak</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Bunga kena 20% final (saldo di atas Rp7,5 juta)</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Bunga kena 20% final</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Untung bukan objek pajak bagi investor</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4EF"/>
                    </a:solidFill>
                  </a:tcPr>
                </a:tc>
              </a:tr>
              <a:tr h="731520">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Pencairan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Kapan saja</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Saat jatuh tempo, cair lebih awal biasanya kena penalti</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Kapan saja, dana masuk umumnya 1 sampai 2 hari bursa</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4EF"/>
                    </a:solidFill>
                  </a:tcPr>
                </a:tc>
              </a:tr>
              <a:tr h="804672">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Penjaminan LPS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Ya, sampai Rp2 miliar per nasabah per bank, jika bunga sesuai batas LPS</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Ya, dengan syarat yang sama</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Tidak. Dilindungi lewat pengawasan OJK dan Bank Kustodian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E6E5"/>
                    </a:solidFill>
                  </a:tcPr>
                </a:tc>
              </a:tr>
              <a:tr h="658368">
                <a:tc>
                  <a:txBody>
                    <a:bodyPr/>
                    <a:lstStyle/>
                    <a:p>
                      <a:pPr indent="0" marL="0">
                        <a:buNone/>
                      </a:pPr>
                      <a:r>
                        <a:rPr lang="en-US" sz="1200" b="1" dirty="0">
                          <a:solidFill>
                            <a:srgbClr val="0E1B2C"/>
                          </a:solidFill>
                          <a:latin typeface="Calibri" pitchFamily="34" charset="0"/>
                          <a:ea typeface="Calibri" pitchFamily="34" charset="-122"/>
                          <a:cs typeface="Calibri" pitchFamily="34" charset="-120"/>
                        </a:rPr>
                        <a:t>Cocok untuk</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4F2"/>
                    </a:solidFill>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Transaksi harian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Dana yang pasti tidak dipakai selama tenor</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0E1B2C"/>
                          </a:solidFill>
                          <a:latin typeface="Calibri" pitchFamily="34" charset="0"/>
                          <a:ea typeface="Calibri" pitchFamily="34" charset="-122"/>
                          <a:cs typeface="Calibri" pitchFamily="34" charset="-120"/>
                        </a:rPr>
                        <a:t>Dana darurat dan tujuan di bawah 1 tahun</a:t>
                      </a:r>
                      <a:endParaRPr lang="en-US" sz="1200" dirty="0">
                        <a:latin typeface="Calibri" charset="0"/>
                        <a:ea typeface="Calibri" charset="0"/>
                        <a:cs typeface="Calibri" charset="0"/>
                      </a:endParaRPr>
                    </a:p>
                  </a:txBody>
                  <a:tcPr marL="73152" marR="73152" marT="73152" marB="7315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F4EF"/>
                    </a:solidFill>
                  </a:tcPr>
                </a:tc>
              </a:tr>
            </a:tbl>
          </a:graphicData>
        </a:graphic>
      </p:graphicFrame>
      <p:sp>
        <p:nvSpPr>
          <p:cNvPr id="5" name="Text 2"/>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LPS (ketentuan penjaminan simpanan), PP 131/2000, prospektus RDPU. Syarat tiap bank dan produk bisa berbeda.</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Simulasi: Rp10 juta disimpan selama 1 tahun</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graphicFrame>
        <p:nvGraphicFramePr>
          <p:cNvPr id="4" name="Chart 0" descr=""/>
          <p:cNvGraphicFramePr/>
          <p:nvPr/>
        </p:nvGraphicFramePr>
        <p:xfrm>
          <a:off x="548640" y="1325880"/>
          <a:ext cx="6675120" cy="4526280"/>
        </p:xfrm>
        <a:graphic xmlns:a="http://schemas.openxmlformats.org/drawingml/2006/main">
          <a:graphicData uri="http://schemas.openxmlformats.org/drawingml/2006/chart">
            <c:chart xmlns:c="http://schemas.openxmlformats.org/drawingml/2006/chart" r:id="rId2"/>
          </a:graphicData>
        </a:graphic>
      </p:graphicFrame>
      <p:sp>
        <p:nvSpPr>
          <p:cNvPr id="5" name="Kartu cara hitung"/>
          <p:cNvSpPr/>
          <p:nvPr/>
        </p:nvSpPr>
        <p:spPr>
          <a:xfrm>
            <a:off x="7498080" y="1371600"/>
            <a:ext cx="4160520" cy="2880360"/>
          </a:xfrm>
          <a:prstGeom prst="roundRect">
            <a:avLst>
              <a:gd name="adj" fmla="val 3810"/>
            </a:avLst>
          </a:prstGeom>
          <a:solidFill>
            <a:schemeClr val="bg2"/>
          </a:solidFill>
          <a:ln w="12700">
            <a:solidFill>
              <a:schemeClr val="bg2"/>
            </a:solidFill>
            <a:prstDash val="solid"/>
          </a:ln>
        </p:spPr>
      </p:sp>
      <p:sp>
        <p:nvSpPr>
          <p:cNvPr id="6" name="Text 3"/>
          <p:cNvSpPr txBox="1"/>
          <p:nvPr/>
        </p:nvSpPr>
        <p:spPr>
          <a:xfrm>
            <a:off x="7772400" y="1554480"/>
            <a:ext cx="3657600" cy="365760"/>
          </a:xfrm>
          <a:prstGeom prst="rect">
            <a:avLst/>
          </a:prstGeom>
          <a:noFill/>
          <a:ln/>
        </p:spPr>
        <p:txBody>
          <a:bodyPr wrap="square" lIns="0" tIns="0" rIns="0" bIns="0" rtlCol="0" anchor="t"/>
          <a:lstStyle/>
          <a:p>
            <a:pPr indent="0" marL="0">
              <a:buNone/>
            </a:pPr>
            <a:r>
              <a:rPr lang="en-US" sz="1600" b="1" dirty="0">
                <a:solidFill>
                  <a:schemeClr val="accent1"/>
                </a:solidFill>
              </a:rPr>
              <a:t>Cara menghitungnya</a:t>
            </a:r>
            <a:endParaRPr lang="en-US" sz="1600" dirty="0"/>
          </a:p>
        </p:txBody>
      </p:sp>
      <p:sp>
        <p:nvSpPr>
          <p:cNvPr id="7" name="Text 4"/>
          <p:cNvSpPr txBox="1"/>
          <p:nvPr/>
        </p:nvSpPr>
        <p:spPr>
          <a:xfrm>
            <a:off x="7772400" y="2011680"/>
            <a:ext cx="3703320" cy="2194560"/>
          </a:xfrm>
          <a:prstGeom prst="rect">
            <a:avLst/>
          </a:prstGeom>
          <a:noFill/>
          <a:ln/>
        </p:spPr>
        <p:txBody>
          <a:bodyPr wrap="square" lIns="0" tIns="0" rIns="0" bIns="0" rtlCol="0" anchor="t"/>
          <a:lstStyle/>
          <a:p>
            <a:pPr indent="0" marL="0">
              <a:spcAft>
                <a:spcPts val="1000"/>
              </a:spcAft>
              <a:buNone/>
            </a:pPr>
            <a:r>
              <a:rPr lang="en-US" sz="1450" dirty="0">
                <a:solidFill>
                  <a:schemeClr val="tx1"/>
                </a:solidFill>
              </a:rPr>
              <a:t>Tabungan: 10 juta × 0,5% = Rp50.000</a:t>
            </a:r>
            <a:endParaRPr lang="en-US" sz="1450" dirty="0"/>
          </a:p>
          <a:p>
            <a:pPr indent="0" marL="0">
              <a:spcAft>
                <a:spcPts val="1000"/>
              </a:spcAft>
              <a:buNone/>
            </a:pPr>
            <a:r>
              <a:rPr lang="en-US" sz="1450" dirty="0">
                <a:solidFill>
                  <a:schemeClr val="tx1"/>
                </a:solidFill>
              </a:rPr>
              <a:t>Deposito: 10 juta × 3,75% = Rp375.000, dipotong pajak 20% = Rp300.000</a:t>
            </a:r>
            <a:endParaRPr lang="en-US" sz="1450" dirty="0"/>
          </a:p>
          <a:p>
            <a:pPr indent="0" marL="0">
              <a:spcAft>
                <a:spcPts val="1000"/>
              </a:spcAft>
              <a:buNone/>
            </a:pPr>
            <a:r>
              <a:rPr lang="en-US" sz="1450" dirty="0">
                <a:solidFill>
                  <a:schemeClr val="tx1"/>
                </a:solidFill>
              </a:rPr>
              <a:t>RDPU: 10 juta × 4,5% = Rp450.000, tanpa pajak tambahan</a:t>
            </a:r>
            <a:endParaRPr lang="en-US" sz="1450" dirty="0"/>
          </a:p>
        </p:txBody>
      </p:sp>
      <p:sp>
        <p:nvSpPr>
          <p:cNvPr id="8" name="Kartu peringatan"/>
          <p:cNvSpPr/>
          <p:nvPr/>
        </p:nvSpPr>
        <p:spPr>
          <a:xfrm>
            <a:off x="7498080" y="4434840"/>
            <a:ext cx="4160520" cy="1417320"/>
          </a:xfrm>
          <a:prstGeom prst="roundRect">
            <a:avLst>
              <a:gd name="adj" fmla="val 7742"/>
            </a:avLst>
          </a:prstGeom>
          <a:solidFill>
            <a:schemeClr val="tx1"/>
          </a:solidFill>
          <a:ln w="12700">
            <a:solidFill>
              <a:schemeClr val="tx1"/>
            </a:solidFill>
            <a:prstDash val="solid"/>
          </a:ln>
        </p:spPr>
      </p:sp>
      <p:sp>
        <p:nvSpPr>
          <p:cNvPr id="9" name="Text 6"/>
          <p:cNvSpPr txBox="1"/>
          <p:nvPr/>
        </p:nvSpPr>
        <p:spPr>
          <a:xfrm>
            <a:off x="7726680" y="4526280"/>
            <a:ext cx="3749040" cy="777240"/>
          </a:xfrm>
          <a:prstGeom prst="rect">
            <a:avLst/>
          </a:prstGeom>
          <a:noFill/>
          <a:ln/>
        </p:spPr>
        <p:txBody>
          <a:bodyPr wrap="square" lIns="0" tIns="0" rIns="0" bIns="0" rtlCol="0" anchor="t"/>
          <a:lstStyle/>
          <a:p>
            <a:pPr indent="0" marL="0">
              <a:buNone/>
            </a:pPr>
            <a:r>
              <a:rPr lang="en-US" sz="1200" dirty="0">
                <a:solidFill>
                  <a:schemeClr val="bg1"/>
                </a:solidFill>
              </a:rPr>
              <a:t>Ini ilustrasi dengan asumsi tetap. Return RDPU bisa lebih tinggi atau lebih rendah, dan tidak dijamin.</a:t>
            </a:r>
            <a:endParaRPr lang="en-US" sz="1200" dirty="0"/>
          </a:p>
        </p:txBody>
      </p:sp>
      <p:sp>
        <p:nvSpPr>
          <p:cNvPr id="10" name="Link simulator"/>
          <p:cNvSpPr txBox="1"/>
          <p:nvPr/>
        </p:nvSpPr>
        <p:spPr>
          <a:xfrm>
            <a:off x="7726680" y="5166360"/>
            <a:ext cx="3749040" cy="320040"/>
          </a:xfrm>
          <a:prstGeom prst="rect">
            <a:avLst/>
          </a:prstGeom>
          <a:noFill/>
          <a:ln/>
        </p:spPr>
        <p:txBody>
          <a:bodyPr wrap="square" lIns="0" tIns="0" rIns="0" bIns="0" rtlCol="0" anchor="ctr"/>
          <a:lstStyle/>
          <a:p>
            <a:pPr indent="0" marL="0">
              <a:buNone/>
            </a:pPr>
            <a:r>
              <a:rPr lang="en-US" sz="1300" b="1" u="sng" dirty="0">
                <a:solidFill>
                  <a:schemeClr val="accent2"/>
                </a:solidFill>
                <a:hlinkClick r:id="rId3" invalidUrl="" action="" tgtFrame="" tooltip="Buka simulator di browser" history="1" highlightClick="0" endSnd="0">
                  <a:extLst>
                    <a:ext uri="{A12FA001-AC4F-418D-AE19-62706E023703}">
                      <ahyp:hlinkClr xmlns:ahyp="http://schemas.microsoft.com/office/drawing/2018/hyperlinkcolor" val="tx"/>
                    </a:ext>
                  </a:extLst>
                </a:hlinkClick>
              </a:rPr>
              <a:t>Coba simulator interaktif</a:t>
            </a:r>
            <a:endParaRPr lang="en-US" sz="1300" dirty="0"/>
          </a:p>
        </p:txBody>
      </p:sp>
      <p:sp>
        <p:nvSpPr>
          <p:cNvPr id="11" name="Text 8"/>
          <p:cNvSpPr txBox="1"/>
          <p:nvPr/>
        </p:nvSpPr>
        <p:spPr>
          <a:xfrm>
            <a:off x="7726680" y="5486400"/>
            <a:ext cx="3749040" cy="274320"/>
          </a:xfrm>
          <a:prstGeom prst="rect">
            <a:avLst/>
          </a:prstGeom>
          <a:noFill/>
          <a:ln/>
        </p:spPr>
        <p:txBody>
          <a:bodyPr wrap="square" lIns="0" tIns="0" rIns="0" bIns="0" rtlCol="0" anchor="t"/>
          <a:lstStyle/>
          <a:p>
            <a:pPr indent="0" marL="0">
              <a:buNone/>
            </a:pPr>
            <a:r>
              <a:rPr lang="en-US" sz="1050" dirty="0">
                <a:solidFill>
                  <a:schemeClr val="accent6"/>
                </a:solidFill>
              </a:rPr>
              <a:t>Versi offline: buka file Simulator_RDPU.html di browser.</a:t>
            </a:r>
            <a:endParaRPr lang="en-US" sz="1050" dirty="0"/>
          </a:p>
        </p:txBody>
      </p:sp>
      <p:sp>
        <p:nvSpPr>
          <p:cNvPr id="12" name="Text 9"/>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Asumsi ilustrasi: tabungan 0,5% bersih, deposito 3,75% (setara batas penjaminan LPS Juli sampai September 2026), RDPU 4,5% bersih.</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Risikonya rendah, tapi bukan nol</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Risiko Imbal hasil tidak pasti"/>
          <p:cNvSpPr/>
          <p:nvPr/>
        </p:nvSpPr>
        <p:spPr>
          <a:xfrm>
            <a:off x="548640" y="137160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Imbal hasil tidak pasti lingkaran"/>
          <p:cNvSpPr/>
          <p:nvPr/>
        </p:nvSpPr>
        <p:spPr>
          <a:xfrm>
            <a:off x="777240" y="1600200"/>
            <a:ext cx="640080" cy="640080"/>
          </a:xfrm>
          <a:prstGeom prst="ellipse">
            <a:avLst/>
          </a:prstGeom>
          <a:solidFill>
            <a:schemeClr val="accent4"/>
          </a:solidFill>
          <a:ln w="12700">
            <a:solidFill>
              <a:schemeClr val="accent4"/>
            </a:solidFill>
            <a:prstDash val="solid"/>
          </a:ln>
        </p:spPr>
      </p:sp>
      <p:pic>
        <p:nvPicPr>
          <p:cNvPr id="6" name="Imbal hasil tidak pasti ikon" descr="preencoded.png">    </p:cNvPr>
          <p:cNvPicPr>
            <a:picLocks noChangeAspect="1"/>
          </p:cNvPicPr>
          <p:nvPr/>
        </p:nvPicPr>
        <p:blipFill>
          <a:blip r:embed="rId2"/>
          <a:stretch>
            <a:fillRect/>
          </a:stretch>
        </p:blipFill>
        <p:spPr>
          <a:xfrm>
            <a:off x="937260" y="1760220"/>
            <a:ext cx="320040" cy="320040"/>
          </a:xfrm>
          <a:prstGeom prst="rect">
            <a:avLst/>
          </a:prstGeom>
        </p:spPr>
      </p:pic>
      <p:sp>
        <p:nvSpPr>
          <p:cNvPr id="7" name="Text 4"/>
          <p:cNvSpPr txBox="1"/>
          <p:nvPr/>
        </p:nvSpPr>
        <p:spPr>
          <a:xfrm>
            <a:off x="1554480" y="169164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Imbal hasil tidak pasti</a:t>
            </a:r>
            <a:endParaRPr lang="en-US" sz="1500" dirty="0"/>
          </a:p>
        </p:txBody>
      </p:sp>
      <p:sp>
        <p:nvSpPr>
          <p:cNvPr id="8" name="Text 5"/>
          <p:cNvSpPr txBox="1"/>
          <p:nvPr/>
        </p:nvSpPr>
        <p:spPr>
          <a:xfrm>
            <a:off x="777240" y="237744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Saat suku bunga turun, return RDPU ikut turun pelan-pelan.</a:t>
            </a:r>
            <a:endParaRPr lang="en-US" sz="1200" dirty="0"/>
          </a:p>
        </p:txBody>
      </p:sp>
      <p:sp>
        <p:nvSpPr>
          <p:cNvPr id="9" name="Risiko Gagal bayar penerbit"/>
          <p:cNvSpPr/>
          <p:nvPr/>
        </p:nvSpPr>
        <p:spPr>
          <a:xfrm>
            <a:off x="4297680" y="137160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0" name="Gagal bayar penerbit lingkaran"/>
          <p:cNvSpPr/>
          <p:nvPr/>
        </p:nvSpPr>
        <p:spPr>
          <a:xfrm>
            <a:off x="4526280" y="1600200"/>
            <a:ext cx="640080" cy="640080"/>
          </a:xfrm>
          <a:prstGeom prst="ellipse">
            <a:avLst/>
          </a:prstGeom>
          <a:solidFill>
            <a:schemeClr val="accent4"/>
          </a:solidFill>
          <a:ln w="12700">
            <a:solidFill>
              <a:schemeClr val="accent4"/>
            </a:solidFill>
            <a:prstDash val="solid"/>
          </a:ln>
        </p:spPr>
      </p:sp>
      <p:pic>
        <p:nvPicPr>
          <p:cNvPr id="11" name="Gagal bayar penerbit ikon" descr="preencoded.png">    </p:cNvPr>
          <p:cNvPicPr>
            <a:picLocks noChangeAspect="1"/>
          </p:cNvPicPr>
          <p:nvPr/>
        </p:nvPicPr>
        <p:blipFill>
          <a:blip r:embed="rId3"/>
          <a:stretch>
            <a:fillRect/>
          </a:stretch>
        </p:blipFill>
        <p:spPr>
          <a:xfrm>
            <a:off x="4686300" y="1760220"/>
            <a:ext cx="320040" cy="320040"/>
          </a:xfrm>
          <a:prstGeom prst="rect">
            <a:avLst/>
          </a:prstGeom>
        </p:spPr>
      </p:pic>
      <p:sp>
        <p:nvSpPr>
          <p:cNvPr id="12" name="Text 8"/>
          <p:cNvSpPr txBox="1"/>
          <p:nvPr/>
        </p:nvSpPr>
        <p:spPr>
          <a:xfrm>
            <a:off x="5303520" y="169164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Gagal bayar penerbit</a:t>
            </a:r>
            <a:endParaRPr lang="en-US" sz="1500" dirty="0"/>
          </a:p>
        </p:txBody>
      </p:sp>
      <p:sp>
        <p:nvSpPr>
          <p:cNvPr id="13" name="Text 9"/>
          <p:cNvSpPr txBox="1"/>
          <p:nvPr/>
        </p:nvSpPr>
        <p:spPr>
          <a:xfrm>
            <a:off x="4526280" y="237744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Jika penerbit obligasi di portofolio gagal bayar, NAB/UP bisa turun.</a:t>
            </a:r>
            <a:endParaRPr lang="en-US" sz="1200" dirty="0"/>
          </a:p>
        </p:txBody>
      </p:sp>
      <p:sp>
        <p:nvSpPr>
          <p:cNvPr id="14" name="Risiko Risiko likuiditas"/>
          <p:cNvSpPr/>
          <p:nvPr/>
        </p:nvSpPr>
        <p:spPr>
          <a:xfrm>
            <a:off x="8046720" y="137160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Risiko likuiditas lingkaran"/>
          <p:cNvSpPr/>
          <p:nvPr/>
        </p:nvSpPr>
        <p:spPr>
          <a:xfrm>
            <a:off x="8275320" y="1600200"/>
            <a:ext cx="640080" cy="640080"/>
          </a:xfrm>
          <a:prstGeom prst="ellipse">
            <a:avLst/>
          </a:prstGeom>
          <a:solidFill>
            <a:schemeClr val="accent4"/>
          </a:solidFill>
          <a:ln w="12700">
            <a:solidFill>
              <a:schemeClr val="accent4"/>
            </a:solidFill>
            <a:prstDash val="solid"/>
          </a:ln>
        </p:spPr>
      </p:sp>
      <p:pic>
        <p:nvPicPr>
          <p:cNvPr id="16" name="Risiko likuiditas ikon" descr="preencoded.png">    </p:cNvPr>
          <p:cNvPicPr>
            <a:picLocks noChangeAspect="1"/>
          </p:cNvPicPr>
          <p:nvPr/>
        </p:nvPicPr>
        <p:blipFill>
          <a:blip r:embed="rId4"/>
          <a:stretch>
            <a:fillRect/>
          </a:stretch>
        </p:blipFill>
        <p:spPr>
          <a:xfrm>
            <a:off x="8435340" y="1760220"/>
            <a:ext cx="320040" cy="320040"/>
          </a:xfrm>
          <a:prstGeom prst="rect">
            <a:avLst/>
          </a:prstGeom>
        </p:spPr>
      </p:pic>
      <p:sp>
        <p:nvSpPr>
          <p:cNvPr id="17" name="Text 12"/>
          <p:cNvSpPr txBox="1"/>
          <p:nvPr/>
        </p:nvSpPr>
        <p:spPr>
          <a:xfrm>
            <a:off x="9052560" y="169164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Risiko likuiditas</a:t>
            </a:r>
            <a:endParaRPr lang="en-US" sz="1500" dirty="0"/>
          </a:p>
        </p:txBody>
      </p:sp>
      <p:sp>
        <p:nvSpPr>
          <p:cNvPr id="18" name="Text 13"/>
          <p:cNvSpPr txBox="1"/>
          <p:nvPr/>
        </p:nvSpPr>
        <p:spPr>
          <a:xfrm>
            <a:off x="8275320" y="237744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Kalau penarikan dana besar terjadi serentak, MI harus menjual aset lebih cepat.</a:t>
            </a:r>
            <a:endParaRPr lang="en-US" sz="1200" dirty="0"/>
          </a:p>
        </p:txBody>
      </p:sp>
      <p:sp>
        <p:nvSpPr>
          <p:cNvPr id="19" name="Risiko Tidak dijamin LPS"/>
          <p:cNvSpPr/>
          <p:nvPr/>
        </p:nvSpPr>
        <p:spPr>
          <a:xfrm>
            <a:off x="548640" y="361188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0" name="Tidak dijamin LPS lingkaran"/>
          <p:cNvSpPr/>
          <p:nvPr/>
        </p:nvSpPr>
        <p:spPr>
          <a:xfrm>
            <a:off x="777240" y="3840480"/>
            <a:ext cx="640080" cy="640080"/>
          </a:xfrm>
          <a:prstGeom prst="ellipse">
            <a:avLst/>
          </a:prstGeom>
          <a:solidFill>
            <a:schemeClr val="accent4"/>
          </a:solidFill>
          <a:ln w="12700">
            <a:solidFill>
              <a:schemeClr val="accent4"/>
            </a:solidFill>
            <a:prstDash val="solid"/>
          </a:ln>
        </p:spPr>
      </p:sp>
      <p:pic>
        <p:nvPicPr>
          <p:cNvPr id="21" name="Tidak dijamin LPS ikon" descr="preencoded.png">    </p:cNvPr>
          <p:cNvPicPr>
            <a:picLocks noChangeAspect="1"/>
          </p:cNvPicPr>
          <p:nvPr/>
        </p:nvPicPr>
        <p:blipFill>
          <a:blip r:embed="rId5"/>
          <a:stretch>
            <a:fillRect/>
          </a:stretch>
        </p:blipFill>
        <p:spPr>
          <a:xfrm>
            <a:off x="937260" y="4000500"/>
            <a:ext cx="320040" cy="320040"/>
          </a:xfrm>
          <a:prstGeom prst="rect">
            <a:avLst/>
          </a:prstGeom>
        </p:spPr>
      </p:pic>
      <p:sp>
        <p:nvSpPr>
          <p:cNvPr id="22" name="Text 16"/>
          <p:cNvSpPr txBox="1"/>
          <p:nvPr/>
        </p:nvSpPr>
        <p:spPr>
          <a:xfrm>
            <a:off x="1554480" y="393192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Tidak dijamin LPS</a:t>
            </a:r>
            <a:endParaRPr lang="en-US" sz="1500" dirty="0"/>
          </a:p>
        </p:txBody>
      </p:sp>
      <p:sp>
        <p:nvSpPr>
          <p:cNvPr id="23" name="Text 17"/>
          <p:cNvSpPr txBox="1"/>
          <p:nvPr/>
        </p:nvSpPr>
        <p:spPr>
          <a:xfrm>
            <a:off x="777240" y="461772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Berbeda dari deposito. Perlindungannya lewat aturan OJK dan pemisahan aset di kustodian.</a:t>
            </a:r>
            <a:endParaRPr lang="en-US" sz="1200" dirty="0"/>
          </a:p>
        </p:txBody>
      </p:sp>
      <p:sp>
        <p:nvSpPr>
          <p:cNvPr id="24" name="Risiko Pembubaran"/>
          <p:cNvSpPr/>
          <p:nvPr/>
        </p:nvSpPr>
        <p:spPr>
          <a:xfrm>
            <a:off x="4297680" y="361188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5" name="Pembubaran lingkaran"/>
          <p:cNvSpPr/>
          <p:nvPr/>
        </p:nvSpPr>
        <p:spPr>
          <a:xfrm>
            <a:off x="4526280" y="3840480"/>
            <a:ext cx="640080" cy="640080"/>
          </a:xfrm>
          <a:prstGeom prst="ellipse">
            <a:avLst/>
          </a:prstGeom>
          <a:solidFill>
            <a:schemeClr val="accent4"/>
          </a:solidFill>
          <a:ln w="12700">
            <a:solidFill>
              <a:schemeClr val="accent4"/>
            </a:solidFill>
            <a:prstDash val="solid"/>
          </a:ln>
        </p:spPr>
      </p:sp>
      <p:pic>
        <p:nvPicPr>
          <p:cNvPr id="26" name="Pembubaran ikon" descr="preencoded.png">    </p:cNvPr>
          <p:cNvPicPr>
            <a:picLocks noChangeAspect="1"/>
          </p:cNvPicPr>
          <p:nvPr/>
        </p:nvPicPr>
        <p:blipFill>
          <a:blip r:embed="rId6"/>
          <a:stretch>
            <a:fillRect/>
          </a:stretch>
        </p:blipFill>
        <p:spPr>
          <a:xfrm>
            <a:off x="4686300" y="4000500"/>
            <a:ext cx="320040" cy="320040"/>
          </a:xfrm>
          <a:prstGeom prst="rect">
            <a:avLst/>
          </a:prstGeom>
        </p:spPr>
      </p:pic>
      <p:sp>
        <p:nvSpPr>
          <p:cNvPr id="27" name="Text 20"/>
          <p:cNvSpPr txBox="1"/>
          <p:nvPr/>
        </p:nvSpPr>
        <p:spPr>
          <a:xfrm>
            <a:off x="5303520" y="393192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Pembubaran</a:t>
            </a:r>
            <a:endParaRPr lang="en-US" sz="1500" dirty="0"/>
          </a:p>
        </p:txBody>
      </p:sp>
      <p:sp>
        <p:nvSpPr>
          <p:cNvPr id="28" name="Text 21"/>
          <p:cNvSpPr txBox="1"/>
          <p:nvPr/>
        </p:nvSpPr>
        <p:spPr>
          <a:xfrm>
            <a:off x="4526280" y="461772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Reksa dana wajib bubar jika NAB di bawah Rp10 miliar selama 120 hari bursa berturut-turut. Dana dikembalikan sesuai hasil likuidasi.</a:t>
            </a:r>
            <a:endParaRPr lang="en-US" sz="1200" dirty="0"/>
          </a:p>
        </p:txBody>
      </p:sp>
      <p:sp>
        <p:nvSpPr>
          <p:cNvPr id="29" name="Risiko Perubahan aturan"/>
          <p:cNvSpPr/>
          <p:nvPr/>
        </p:nvSpPr>
        <p:spPr>
          <a:xfrm>
            <a:off x="8046720" y="3611880"/>
            <a:ext cx="3520440" cy="2011680"/>
          </a:xfrm>
          <a:prstGeom prst="roundRect">
            <a:avLst>
              <a:gd name="adj" fmla="val 5455"/>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0" name="Perubahan aturan lingkaran"/>
          <p:cNvSpPr/>
          <p:nvPr/>
        </p:nvSpPr>
        <p:spPr>
          <a:xfrm>
            <a:off x="8275320" y="3840480"/>
            <a:ext cx="640080" cy="640080"/>
          </a:xfrm>
          <a:prstGeom prst="ellipse">
            <a:avLst/>
          </a:prstGeom>
          <a:solidFill>
            <a:schemeClr val="accent4"/>
          </a:solidFill>
          <a:ln w="12700">
            <a:solidFill>
              <a:schemeClr val="accent4"/>
            </a:solidFill>
            <a:prstDash val="solid"/>
          </a:ln>
        </p:spPr>
      </p:sp>
      <p:pic>
        <p:nvPicPr>
          <p:cNvPr id="31" name="Perubahan aturan ikon" descr="preencoded.png">    </p:cNvPr>
          <p:cNvPicPr>
            <a:picLocks noChangeAspect="1"/>
          </p:cNvPicPr>
          <p:nvPr/>
        </p:nvPicPr>
        <p:blipFill>
          <a:blip r:embed="rId7"/>
          <a:stretch>
            <a:fillRect/>
          </a:stretch>
        </p:blipFill>
        <p:spPr>
          <a:xfrm>
            <a:off x="8435340" y="4000500"/>
            <a:ext cx="320040" cy="320040"/>
          </a:xfrm>
          <a:prstGeom prst="rect">
            <a:avLst/>
          </a:prstGeom>
        </p:spPr>
      </p:pic>
      <p:sp>
        <p:nvSpPr>
          <p:cNvPr id="32" name="Text 24"/>
          <p:cNvSpPr txBox="1"/>
          <p:nvPr/>
        </p:nvSpPr>
        <p:spPr>
          <a:xfrm>
            <a:off x="9052560" y="3931920"/>
            <a:ext cx="2377440" cy="457200"/>
          </a:xfrm>
          <a:prstGeom prst="rect">
            <a:avLst/>
          </a:prstGeom>
          <a:noFill/>
          <a:ln/>
        </p:spPr>
        <p:txBody>
          <a:bodyPr wrap="square" lIns="0" tIns="0" rIns="0" bIns="0" rtlCol="0" anchor="ctr"/>
          <a:lstStyle/>
          <a:p>
            <a:pPr indent="0" marL="0">
              <a:buNone/>
            </a:pPr>
            <a:r>
              <a:rPr lang="en-US" sz="1500" b="1" dirty="0">
                <a:solidFill>
                  <a:schemeClr val="tx1"/>
                </a:solidFill>
              </a:rPr>
              <a:t>Perubahan aturan</a:t>
            </a:r>
            <a:endParaRPr lang="en-US" sz="1500" dirty="0"/>
          </a:p>
        </p:txBody>
      </p:sp>
      <p:sp>
        <p:nvSpPr>
          <p:cNvPr id="33" name="Text 25"/>
          <p:cNvSpPr txBox="1"/>
          <p:nvPr/>
        </p:nvSpPr>
        <p:spPr>
          <a:xfrm>
            <a:off x="8275320" y="4617720"/>
            <a:ext cx="3108960" cy="960120"/>
          </a:xfrm>
          <a:prstGeom prst="rect">
            <a:avLst/>
          </a:prstGeom>
          <a:noFill/>
          <a:ln/>
        </p:spPr>
        <p:txBody>
          <a:bodyPr wrap="square" lIns="0" tIns="0" rIns="0" bIns="0" rtlCol="0" anchor="t"/>
          <a:lstStyle/>
          <a:p>
            <a:pPr indent="0" marL="0">
              <a:buNone/>
            </a:pPr>
            <a:r>
              <a:rPr lang="en-US" sz="1200" dirty="0">
                <a:solidFill>
                  <a:schemeClr val="accent5"/>
                </a:solidFill>
              </a:rPr>
              <a:t>Misalnya aturan pajak berubah, sehingga hasil bersih ikut berubah.</a:t>
            </a:r>
            <a:endParaRPr lang="en-US" sz="1200" dirty="0"/>
          </a:p>
        </p:txBody>
      </p:sp>
      <p:sp>
        <p:nvSpPr>
          <p:cNvPr id="34" name="Text 26"/>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POJK 23/POJK.04/2016 Pasal 45; bagian faktor risiko pada prospektus RDPU.</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2026: suku bunga naik, apa efeknya ke RDPU?</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graphicFrame>
        <p:nvGraphicFramePr>
          <p:cNvPr id="4" name="Chart 0" descr=""/>
          <p:cNvGraphicFramePr/>
          <p:nvPr/>
        </p:nvGraphicFramePr>
        <p:xfrm>
          <a:off x="548640" y="1325880"/>
          <a:ext cx="6949440" cy="4526280"/>
        </p:xfrm>
        <a:graphic xmlns:a="http://schemas.openxmlformats.org/drawingml/2006/main">
          <a:graphicData uri="http://schemas.openxmlformats.org/drawingml/2006/chart">
            <c:chart xmlns:c="http://schemas.openxmlformats.org/drawingml/2006/chart" r:id="rId2"/>
          </a:graphicData>
        </a:graphic>
      </p:graphicFrame>
      <p:sp>
        <p:nvSpPr>
          <p:cNvPr id="5" name="Konteks 2025"/>
          <p:cNvSpPr/>
          <p:nvPr/>
        </p:nvSpPr>
        <p:spPr>
          <a:xfrm>
            <a:off x="7772400" y="1371600"/>
            <a:ext cx="3886200" cy="960120"/>
          </a:xfrm>
          <a:prstGeom prst="roundRect">
            <a:avLst>
              <a:gd name="adj" fmla="val 11429"/>
            </a:avLst>
          </a:prstGeom>
          <a:solidFill>
            <a:schemeClr val="bg2"/>
          </a:solidFill>
          <a:ln w="12700">
            <a:solidFill>
              <a:schemeClr val="bg2"/>
            </a:solidFill>
            <a:prstDash val="solid"/>
          </a:ln>
        </p:spPr>
      </p:sp>
      <p:sp>
        <p:nvSpPr>
          <p:cNvPr id="6" name="Text 3"/>
          <p:cNvSpPr txBox="1"/>
          <p:nvPr/>
        </p:nvSpPr>
        <p:spPr>
          <a:xfrm>
            <a:off x="8001000" y="1481328"/>
            <a:ext cx="3474720" cy="320040"/>
          </a:xfrm>
          <a:prstGeom prst="rect">
            <a:avLst/>
          </a:prstGeom>
          <a:noFill/>
          <a:ln/>
        </p:spPr>
        <p:txBody>
          <a:bodyPr wrap="square" lIns="0" tIns="0" rIns="0" bIns="0" rtlCol="0" anchor="t"/>
          <a:lstStyle/>
          <a:p>
            <a:pPr indent="0" marL="0">
              <a:buNone/>
            </a:pPr>
            <a:r>
              <a:rPr lang="en-US" sz="1350" b="1" dirty="0">
                <a:solidFill>
                  <a:schemeClr val="accent1"/>
                </a:solidFill>
              </a:rPr>
              <a:t>2025</a:t>
            </a:r>
            <a:endParaRPr lang="en-US" sz="1350" dirty="0"/>
          </a:p>
        </p:txBody>
      </p:sp>
      <p:sp>
        <p:nvSpPr>
          <p:cNvPr id="7" name="Text 4"/>
          <p:cNvSpPr txBox="1"/>
          <p:nvPr/>
        </p:nvSpPr>
        <p:spPr>
          <a:xfrm>
            <a:off x="8001000" y="1801368"/>
            <a:ext cx="3474720" cy="484632"/>
          </a:xfrm>
          <a:prstGeom prst="rect">
            <a:avLst/>
          </a:prstGeom>
          <a:noFill/>
          <a:ln/>
        </p:spPr>
        <p:txBody>
          <a:bodyPr wrap="square" lIns="0" tIns="0" rIns="0" bIns="0" rtlCol="0" anchor="t"/>
          <a:lstStyle/>
          <a:p>
            <a:pPr indent="0" marL="0">
              <a:buNone/>
            </a:pPr>
            <a:r>
              <a:rPr lang="en-US" sz="1150" dirty="0">
                <a:solidFill>
                  <a:schemeClr val="tx1"/>
                </a:solidFill>
              </a:rPr>
              <a:t>BI memangkas suku bunga 5 kali, dari 6,00% ke 4,75%. Return RDPU ikut melandai.</a:t>
            </a:r>
            <a:endParaRPr lang="en-US" sz="1150" dirty="0"/>
          </a:p>
        </p:txBody>
      </p:sp>
      <p:sp>
        <p:nvSpPr>
          <p:cNvPr id="8" name="Konteks Mei sampai Juni 2026"/>
          <p:cNvSpPr/>
          <p:nvPr/>
        </p:nvSpPr>
        <p:spPr>
          <a:xfrm>
            <a:off x="7772400" y="2468880"/>
            <a:ext cx="3886200" cy="1143000"/>
          </a:xfrm>
          <a:prstGeom prst="roundRect">
            <a:avLst>
              <a:gd name="adj" fmla="val 9600"/>
            </a:avLst>
          </a:prstGeom>
          <a:solidFill>
            <a:schemeClr val="bg2"/>
          </a:solidFill>
          <a:ln w="12700">
            <a:solidFill>
              <a:schemeClr val="bg2"/>
            </a:solidFill>
            <a:prstDash val="solid"/>
          </a:ln>
        </p:spPr>
      </p:sp>
      <p:sp>
        <p:nvSpPr>
          <p:cNvPr id="9" name="Text 6"/>
          <p:cNvSpPr txBox="1"/>
          <p:nvPr/>
        </p:nvSpPr>
        <p:spPr>
          <a:xfrm>
            <a:off x="8001000" y="2578608"/>
            <a:ext cx="3474720" cy="320040"/>
          </a:xfrm>
          <a:prstGeom prst="rect">
            <a:avLst/>
          </a:prstGeom>
          <a:noFill/>
          <a:ln/>
        </p:spPr>
        <p:txBody>
          <a:bodyPr wrap="square" lIns="0" tIns="0" rIns="0" bIns="0" rtlCol="0" anchor="t"/>
          <a:lstStyle/>
          <a:p>
            <a:pPr indent="0" marL="0">
              <a:buNone/>
            </a:pPr>
            <a:r>
              <a:rPr lang="en-US" sz="1350" b="1" dirty="0">
                <a:solidFill>
                  <a:schemeClr val="accent1"/>
                </a:solidFill>
              </a:rPr>
              <a:t>Mei sampai Juni 2026</a:t>
            </a:r>
            <a:endParaRPr lang="en-US" sz="1350" dirty="0"/>
          </a:p>
        </p:txBody>
      </p:sp>
      <p:sp>
        <p:nvSpPr>
          <p:cNvPr id="10" name="Text 7"/>
          <p:cNvSpPr txBox="1"/>
          <p:nvPr/>
        </p:nvSpPr>
        <p:spPr>
          <a:xfrm>
            <a:off x="8001000" y="2898648"/>
            <a:ext cx="3474720" cy="667512"/>
          </a:xfrm>
          <a:prstGeom prst="rect">
            <a:avLst/>
          </a:prstGeom>
          <a:noFill/>
          <a:ln/>
        </p:spPr>
        <p:txBody>
          <a:bodyPr wrap="square" lIns="0" tIns="0" rIns="0" bIns="0" rtlCol="0" anchor="t"/>
          <a:lstStyle/>
          <a:p>
            <a:pPr indent="0" marL="0">
              <a:buNone/>
            </a:pPr>
            <a:r>
              <a:rPr lang="en-US" sz="1150" dirty="0">
                <a:solidFill>
                  <a:schemeClr val="tx1"/>
                </a:solidFill>
              </a:rPr>
              <a:t>BI menaikkan BI Rate total 100 bps ke 5,75% untuk menjaga rupiah. Ditahan sampai September 2026.</a:t>
            </a:r>
            <a:endParaRPr lang="en-US" sz="1150" dirty="0"/>
          </a:p>
        </p:txBody>
      </p:sp>
      <p:sp>
        <p:nvSpPr>
          <p:cNvPr id="11" name="Konteks Artinya"/>
          <p:cNvSpPr/>
          <p:nvPr/>
        </p:nvSpPr>
        <p:spPr>
          <a:xfrm>
            <a:off x="7772400" y="3749040"/>
            <a:ext cx="3886200" cy="2103120"/>
          </a:xfrm>
          <a:prstGeom prst="roundRect">
            <a:avLst>
              <a:gd name="adj" fmla="val 5217"/>
            </a:avLst>
          </a:prstGeom>
          <a:solidFill>
            <a:schemeClr val="tx1"/>
          </a:solidFill>
          <a:ln w="12700">
            <a:solidFill>
              <a:schemeClr val="tx1"/>
            </a:solidFill>
            <a:prstDash val="solid"/>
          </a:ln>
        </p:spPr>
      </p:sp>
      <p:sp>
        <p:nvSpPr>
          <p:cNvPr id="12" name="Text 9"/>
          <p:cNvSpPr txBox="1"/>
          <p:nvPr/>
        </p:nvSpPr>
        <p:spPr>
          <a:xfrm>
            <a:off x="8001000" y="3858768"/>
            <a:ext cx="3474720" cy="320040"/>
          </a:xfrm>
          <a:prstGeom prst="rect">
            <a:avLst/>
          </a:prstGeom>
          <a:noFill/>
          <a:ln/>
        </p:spPr>
        <p:txBody>
          <a:bodyPr wrap="square" lIns="0" tIns="0" rIns="0" bIns="0" rtlCol="0" anchor="t"/>
          <a:lstStyle/>
          <a:p>
            <a:pPr indent="0" marL="0">
              <a:buNone/>
            </a:pPr>
            <a:r>
              <a:rPr lang="en-US" sz="1350" b="1" dirty="0">
                <a:solidFill>
                  <a:schemeClr val="accent2"/>
                </a:solidFill>
              </a:rPr>
              <a:t>Artinya</a:t>
            </a:r>
            <a:endParaRPr lang="en-US" sz="1350" dirty="0"/>
          </a:p>
        </p:txBody>
      </p:sp>
      <p:sp>
        <p:nvSpPr>
          <p:cNvPr id="13" name="Text 10"/>
          <p:cNvSpPr txBox="1"/>
          <p:nvPr/>
        </p:nvSpPr>
        <p:spPr>
          <a:xfrm>
            <a:off x="8001000" y="4178808"/>
            <a:ext cx="3474720" cy="1627632"/>
          </a:xfrm>
          <a:prstGeom prst="rect">
            <a:avLst/>
          </a:prstGeom>
          <a:noFill/>
          <a:ln/>
        </p:spPr>
        <p:txBody>
          <a:bodyPr wrap="square" lIns="0" tIns="0" rIns="0" bIns="0" rtlCol="0" anchor="t"/>
          <a:lstStyle/>
          <a:p>
            <a:pPr indent="0" marL="0">
              <a:buNone/>
            </a:pPr>
            <a:r>
              <a:rPr lang="en-US" sz="1150" dirty="0">
                <a:solidFill>
                  <a:schemeClr val="bg1"/>
                </a:solidFill>
              </a:rPr>
              <a:t>RDPU menempatkan ulang dana ke deposito dan surat utang baru dengan bunga lebih tinggi, jadi return-nya cenderung ikut naik dengan jeda. Reksa dana pendapatan tetap justru bisa tertekan karena harga obligasi turun saat bunga naik.</a:t>
            </a:r>
            <a:endParaRPr lang="en-US" sz="1150" dirty="0"/>
          </a:p>
        </p:txBody>
      </p:sp>
      <p:sp>
        <p:nvSpPr>
          <p:cNvPr id="14" name="Text 11"/>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Sumber: Bank Indonesia, hasil RDG 2024 sampai September 2026 (dirangkum dari Bisnis.com, Kontan, Investor Trust).</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05</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Dari paham ke praktik</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Cara memilih produk, mengenali investasi bodong, dan memulai dengan aman.</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05</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Enam hal yang dicek sebelum memilih RDPU</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Cek Legal"/>
          <p:cNvSpPr/>
          <p:nvPr/>
        </p:nvSpPr>
        <p:spPr>
          <a:xfrm>
            <a:off x="548640" y="137160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Centang 0 lingkaran"/>
          <p:cNvSpPr/>
          <p:nvPr/>
        </p:nvSpPr>
        <p:spPr>
          <a:xfrm>
            <a:off x="822960" y="1691640"/>
            <a:ext cx="685800" cy="685800"/>
          </a:xfrm>
          <a:prstGeom prst="ellipse">
            <a:avLst/>
          </a:prstGeom>
          <a:solidFill>
            <a:schemeClr val="accent1"/>
          </a:solidFill>
          <a:ln w="12700">
            <a:solidFill>
              <a:schemeClr val="accent1"/>
            </a:solidFill>
            <a:prstDash val="solid"/>
          </a:ln>
        </p:spPr>
      </p:sp>
      <p:pic>
        <p:nvPicPr>
          <p:cNvPr id="6" name="Centang 0 ikon" descr="preencoded.png">    </p:cNvPr>
          <p:cNvPicPr>
            <a:picLocks noChangeAspect="1"/>
          </p:cNvPicPr>
          <p:nvPr/>
        </p:nvPicPr>
        <p:blipFill>
          <a:blip r:embed="rId2"/>
          <a:stretch>
            <a:fillRect/>
          </a:stretch>
        </p:blipFill>
        <p:spPr>
          <a:xfrm>
            <a:off x="994410" y="1863090"/>
            <a:ext cx="342900" cy="342900"/>
          </a:xfrm>
          <a:prstGeom prst="rect">
            <a:avLst/>
          </a:prstGeom>
        </p:spPr>
      </p:pic>
      <p:sp>
        <p:nvSpPr>
          <p:cNvPr id="7" name="Text 4"/>
          <p:cNvSpPr txBox="1"/>
          <p:nvPr/>
        </p:nvSpPr>
        <p:spPr>
          <a:xfrm>
            <a:off x="1737360" y="1536192"/>
            <a:ext cx="4023360" cy="365760"/>
          </a:xfrm>
          <a:prstGeom prst="rect">
            <a:avLst/>
          </a:prstGeom>
          <a:noFill/>
          <a:ln/>
        </p:spPr>
        <p:txBody>
          <a:bodyPr wrap="square" lIns="0" tIns="0" rIns="0" bIns="0" rtlCol="0" anchor="t"/>
          <a:lstStyle/>
          <a:p>
            <a:pPr indent="0" marL="0">
              <a:buNone/>
            </a:pPr>
            <a:r>
              <a:rPr lang="en-US" sz="1500" b="1" dirty="0">
                <a:solidFill>
                  <a:schemeClr val="tx1"/>
                </a:solidFill>
              </a:rPr>
              <a:t>Legal</a:t>
            </a:r>
            <a:endParaRPr lang="en-US" sz="1500" dirty="0"/>
          </a:p>
        </p:txBody>
      </p:sp>
      <p:sp>
        <p:nvSpPr>
          <p:cNvPr id="8" name="Text 5"/>
          <p:cNvSpPr txBox="1"/>
          <p:nvPr/>
        </p:nvSpPr>
        <p:spPr>
          <a:xfrm>
            <a:off x="1737360" y="190195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Manajer Investasi dan APERD terdaftar dan diawasi OJK. Cek di situs OJK.</a:t>
            </a:r>
            <a:endParaRPr lang="en-US" sz="1250" dirty="0"/>
          </a:p>
        </p:txBody>
      </p:sp>
      <p:sp>
        <p:nvSpPr>
          <p:cNvPr id="9" name="Cek Dana kelolaan"/>
          <p:cNvSpPr/>
          <p:nvPr/>
        </p:nvSpPr>
        <p:spPr>
          <a:xfrm>
            <a:off x="6172200" y="137160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0" name="Centang 1 lingkaran"/>
          <p:cNvSpPr/>
          <p:nvPr/>
        </p:nvSpPr>
        <p:spPr>
          <a:xfrm>
            <a:off x="6446520" y="1691640"/>
            <a:ext cx="685800" cy="685800"/>
          </a:xfrm>
          <a:prstGeom prst="ellipse">
            <a:avLst/>
          </a:prstGeom>
          <a:solidFill>
            <a:schemeClr val="accent1"/>
          </a:solidFill>
          <a:ln w="12700">
            <a:solidFill>
              <a:schemeClr val="accent1"/>
            </a:solidFill>
            <a:prstDash val="solid"/>
          </a:ln>
        </p:spPr>
      </p:sp>
      <p:pic>
        <p:nvPicPr>
          <p:cNvPr id="11" name="Centang 1 ikon" descr="preencoded.png">    </p:cNvPr>
          <p:cNvPicPr>
            <a:picLocks noChangeAspect="1"/>
          </p:cNvPicPr>
          <p:nvPr/>
        </p:nvPicPr>
        <p:blipFill>
          <a:blip r:embed="rId3"/>
          <a:stretch>
            <a:fillRect/>
          </a:stretch>
        </p:blipFill>
        <p:spPr>
          <a:xfrm>
            <a:off x="6617970" y="1863090"/>
            <a:ext cx="342900" cy="342900"/>
          </a:xfrm>
          <a:prstGeom prst="rect">
            <a:avLst/>
          </a:prstGeom>
        </p:spPr>
      </p:pic>
      <p:sp>
        <p:nvSpPr>
          <p:cNvPr id="12" name="Text 8"/>
          <p:cNvSpPr txBox="1"/>
          <p:nvPr/>
        </p:nvSpPr>
        <p:spPr>
          <a:xfrm>
            <a:off x="7360920" y="1536192"/>
            <a:ext cx="4023360" cy="365760"/>
          </a:xfrm>
          <a:prstGeom prst="rect">
            <a:avLst/>
          </a:prstGeom>
          <a:noFill/>
          <a:ln/>
        </p:spPr>
        <p:txBody>
          <a:bodyPr wrap="square" lIns="0" tIns="0" rIns="0" bIns="0" rtlCol="0" anchor="t"/>
          <a:lstStyle/>
          <a:p>
            <a:pPr indent="0" marL="0">
              <a:buNone/>
            </a:pPr>
            <a:r>
              <a:rPr lang="en-US" sz="1500" b="1" dirty="0">
                <a:solidFill>
                  <a:schemeClr val="tx1"/>
                </a:solidFill>
              </a:rPr>
              <a:t>Dana kelolaan</a:t>
            </a:r>
            <a:endParaRPr lang="en-US" sz="1500" dirty="0"/>
          </a:p>
        </p:txBody>
      </p:sp>
      <p:sp>
        <p:nvSpPr>
          <p:cNvPr id="13" name="Text 9"/>
          <p:cNvSpPr txBox="1"/>
          <p:nvPr/>
        </p:nvSpPr>
        <p:spPr>
          <a:xfrm>
            <a:off x="7360920" y="190195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Pilih yang AUM-nya besar dan stabil, jauh di atas batas bubar Rp10 miliar.</a:t>
            </a:r>
            <a:endParaRPr lang="en-US" sz="1250" dirty="0"/>
          </a:p>
        </p:txBody>
      </p:sp>
      <p:sp>
        <p:nvSpPr>
          <p:cNvPr id="14" name="Cek Konsistensi kinerja"/>
          <p:cNvSpPr/>
          <p:nvPr/>
        </p:nvSpPr>
        <p:spPr>
          <a:xfrm>
            <a:off x="548640" y="288036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5" name="Centang 2 lingkaran"/>
          <p:cNvSpPr/>
          <p:nvPr/>
        </p:nvSpPr>
        <p:spPr>
          <a:xfrm>
            <a:off x="822960" y="3200400"/>
            <a:ext cx="685800" cy="685800"/>
          </a:xfrm>
          <a:prstGeom prst="ellipse">
            <a:avLst/>
          </a:prstGeom>
          <a:solidFill>
            <a:schemeClr val="accent1"/>
          </a:solidFill>
          <a:ln w="12700">
            <a:solidFill>
              <a:schemeClr val="accent1"/>
            </a:solidFill>
            <a:prstDash val="solid"/>
          </a:ln>
        </p:spPr>
      </p:sp>
      <p:pic>
        <p:nvPicPr>
          <p:cNvPr id="16" name="Centang 2 ikon" descr="preencoded.png">    </p:cNvPr>
          <p:cNvPicPr>
            <a:picLocks noChangeAspect="1"/>
          </p:cNvPicPr>
          <p:nvPr/>
        </p:nvPicPr>
        <p:blipFill>
          <a:blip r:embed="rId4"/>
          <a:stretch>
            <a:fillRect/>
          </a:stretch>
        </p:blipFill>
        <p:spPr>
          <a:xfrm>
            <a:off x="994410" y="3371850"/>
            <a:ext cx="342900" cy="342900"/>
          </a:xfrm>
          <a:prstGeom prst="rect">
            <a:avLst/>
          </a:prstGeom>
        </p:spPr>
      </p:pic>
      <p:sp>
        <p:nvSpPr>
          <p:cNvPr id="17" name="Text 12"/>
          <p:cNvSpPr txBox="1"/>
          <p:nvPr/>
        </p:nvSpPr>
        <p:spPr>
          <a:xfrm>
            <a:off x="1737360" y="3044952"/>
            <a:ext cx="4023360" cy="365760"/>
          </a:xfrm>
          <a:prstGeom prst="rect">
            <a:avLst/>
          </a:prstGeom>
          <a:noFill/>
          <a:ln/>
        </p:spPr>
        <p:txBody>
          <a:bodyPr wrap="square" lIns="0" tIns="0" rIns="0" bIns="0" rtlCol="0" anchor="t"/>
          <a:lstStyle/>
          <a:p>
            <a:pPr indent="0" marL="0">
              <a:buNone/>
            </a:pPr>
            <a:r>
              <a:rPr lang="en-US" sz="1500" b="1" dirty="0">
                <a:solidFill>
                  <a:schemeClr val="tx1"/>
                </a:solidFill>
              </a:rPr>
              <a:t>Konsistensi kinerja</a:t>
            </a:r>
            <a:endParaRPr lang="en-US" sz="1500" dirty="0"/>
          </a:p>
        </p:txBody>
      </p:sp>
      <p:sp>
        <p:nvSpPr>
          <p:cNvPr id="18" name="Text 13"/>
          <p:cNvSpPr txBox="1"/>
          <p:nvPr/>
        </p:nvSpPr>
        <p:spPr>
          <a:xfrm>
            <a:off x="1737360" y="341071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Lihat return 1 tahun dan 3 tahun. Yang stabil lebih penting dari yang paling tinggi sesaat.</a:t>
            </a:r>
            <a:endParaRPr lang="en-US" sz="1250" dirty="0"/>
          </a:p>
        </p:txBody>
      </p:sp>
      <p:sp>
        <p:nvSpPr>
          <p:cNvPr id="19" name="Cek Isi portofolio"/>
          <p:cNvSpPr/>
          <p:nvPr/>
        </p:nvSpPr>
        <p:spPr>
          <a:xfrm>
            <a:off x="6172200" y="288036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0" name="Centang 3 lingkaran"/>
          <p:cNvSpPr/>
          <p:nvPr/>
        </p:nvSpPr>
        <p:spPr>
          <a:xfrm>
            <a:off x="6446520" y="3200400"/>
            <a:ext cx="685800" cy="685800"/>
          </a:xfrm>
          <a:prstGeom prst="ellipse">
            <a:avLst/>
          </a:prstGeom>
          <a:solidFill>
            <a:schemeClr val="accent1"/>
          </a:solidFill>
          <a:ln w="12700">
            <a:solidFill>
              <a:schemeClr val="accent1"/>
            </a:solidFill>
            <a:prstDash val="solid"/>
          </a:ln>
        </p:spPr>
      </p:sp>
      <p:pic>
        <p:nvPicPr>
          <p:cNvPr id="21" name="Centang 3 ikon" descr="preencoded.png">    </p:cNvPr>
          <p:cNvPicPr>
            <a:picLocks noChangeAspect="1"/>
          </p:cNvPicPr>
          <p:nvPr/>
        </p:nvPicPr>
        <p:blipFill>
          <a:blip r:embed="rId5"/>
          <a:stretch>
            <a:fillRect/>
          </a:stretch>
        </p:blipFill>
        <p:spPr>
          <a:xfrm>
            <a:off x="6617970" y="3371850"/>
            <a:ext cx="342900" cy="342900"/>
          </a:xfrm>
          <a:prstGeom prst="rect">
            <a:avLst/>
          </a:prstGeom>
        </p:spPr>
      </p:pic>
      <p:sp>
        <p:nvSpPr>
          <p:cNvPr id="22" name="Text 16"/>
          <p:cNvSpPr txBox="1"/>
          <p:nvPr/>
        </p:nvSpPr>
        <p:spPr>
          <a:xfrm>
            <a:off x="7360920" y="3044952"/>
            <a:ext cx="4023360" cy="365760"/>
          </a:xfrm>
          <a:prstGeom prst="rect">
            <a:avLst/>
          </a:prstGeom>
          <a:noFill/>
          <a:ln/>
        </p:spPr>
        <p:txBody>
          <a:bodyPr wrap="square" lIns="0" tIns="0" rIns="0" bIns="0" rtlCol="0" anchor="t"/>
          <a:lstStyle/>
          <a:p>
            <a:pPr indent="0" marL="0">
              <a:buNone/>
            </a:pPr>
            <a:r>
              <a:rPr lang="en-US" sz="1500" b="1" dirty="0">
                <a:solidFill>
                  <a:schemeClr val="tx1"/>
                </a:solidFill>
              </a:rPr>
              <a:t>Isi portofolio</a:t>
            </a:r>
            <a:endParaRPr lang="en-US" sz="1500" dirty="0"/>
          </a:p>
        </p:txBody>
      </p:sp>
      <p:sp>
        <p:nvSpPr>
          <p:cNvPr id="23" name="Text 17"/>
          <p:cNvSpPr txBox="1"/>
          <p:nvPr/>
        </p:nvSpPr>
        <p:spPr>
          <a:xfrm>
            <a:off x="7360920" y="341071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Baca fund fact sheet: ke bank atau penerbit mana saja dananya ditempatkan.</a:t>
            </a:r>
            <a:endParaRPr lang="en-US" sz="1250" dirty="0"/>
          </a:p>
        </p:txBody>
      </p:sp>
      <p:sp>
        <p:nvSpPr>
          <p:cNvPr id="24" name="Cek Biaya dan pencairan"/>
          <p:cNvSpPr/>
          <p:nvPr/>
        </p:nvSpPr>
        <p:spPr>
          <a:xfrm>
            <a:off x="548640" y="438912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5" name="Centang 4 lingkaran"/>
          <p:cNvSpPr/>
          <p:nvPr/>
        </p:nvSpPr>
        <p:spPr>
          <a:xfrm>
            <a:off x="822960" y="4709160"/>
            <a:ext cx="685800" cy="685800"/>
          </a:xfrm>
          <a:prstGeom prst="ellipse">
            <a:avLst/>
          </a:prstGeom>
          <a:solidFill>
            <a:schemeClr val="accent1"/>
          </a:solidFill>
          <a:ln w="12700">
            <a:solidFill>
              <a:schemeClr val="accent1"/>
            </a:solidFill>
            <a:prstDash val="solid"/>
          </a:ln>
        </p:spPr>
      </p:sp>
      <p:pic>
        <p:nvPicPr>
          <p:cNvPr id="26" name="Centang 4 ikon" descr="preencoded.png">    </p:cNvPr>
          <p:cNvPicPr>
            <a:picLocks noChangeAspect="1"/>
          </p:cNvPicPr>
          <p:nvPr/>
        </p:nvPicPr>
        <p:blipFill>
          <a:blip r:embed="rId6"/>
          <a:stretch>
            <a:fillRect/>
          </a:stretch>
        </p:blipFill>
        <p:spPr>
          <a:xfrm>
            <a:off x="994410" y="4880610"/>
            <a:ext cx="342900" cy="342900"/>
          </a:xfrm>
          <a:prstGeom prst="rect">
            <a:avLst/>
          </a:prstGeom>
        </p:spPr>
      </p:pic>
      <p:sp>
        <p:nvSpPr>
          <p:cNvPr id="27" name="Text 20"/>
          <p:cNvSpPr txBox="1"/>
          <p:nvPr/>
        </p:nvSpPr>
        <p:spPr>
          <a:xfrm>
            <a:off x="1737360" y="4553712"/>
            <a:ext cx="4023360" cy="365760"/>
          </a:xfrm>
          <a:prstGeom prst="rect">
            <a:avLst/>
          </a:prstGeom>
          <a:noFill/>
          <a:ln/>
        </p:spPr>
        <p:txBody>
          <a:bodyPr wrap="square" lIns="0" tIns="0" rIns="0" bIns="0" rtlCol="0" anchor="t"/>
          <a:lstStyle/>
          <a:p>
            <a:pPr indent="0" marL="0">
              <a:buNone/>
            </a:pPr>
            <a:r>
              <a:rPr lang="en-US" sz="1500" b="1" dirty="0">
                <a:solidFill>
                  <a:schemeClr val="tx1"/>
                </a:solidFill>
              </a:rPr>
              <a:t>Biaya dan pencairan</a:t>
            </a:r>
            <a:endParaRPr lang="en-US" sz="1500" dirty="0"/>
          </a:p>
        </p:txBody>
      </p:sp>
      <p:sp>
        <p:nvSpPr>
          <p:cNvPr id="28" name="Text 21"/>
          <p:cNvSpPr txBox="1"/>
          <p:nvPr/>
        </p:nvSpPr>
        <p:spPr>
          <a:xfrm>
            <a:off x="1737360" y="491947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Cek biaya pengelolaan, biaya beli dan jual, serta berapa hari dana cair.</a:t>
            </a:r>
            <a:endParaRPr lang="en-US" sz="1250" dirty="0"/>
          </a:p>
        </p:txBody>
      </p:sp>
      <p:sp>
        <p:nvSpPr>
          <p:cNvPr id="29" name="Cek Konvensional atau syariah"/>
          <p:cNvSpPr/>
          <p:nvPr/>
        </p:nvSpPr>
        <p:spPr>
          <a:xfrm>
            <a:off x="6172200" y="438912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0" name="Centang 5 lingkaran"/>
          <p:cNvSpPr/>
          <p:nvPr/>
        </p:nvSpPr>
        <p:spPr>
          <a:xfrm>
            <a:off x="6446520" y="4709160"/>
            <a:ext cx="685800" cy="685800"/>
          </a:xfrm>
          <a:prstGeom prst="ellipse">
            <a:avLst/>
          </a:prstGeom>
          <a:solidFill>
            <a:schemeClr val="accent1"/>
          </a:solidFill>
          <a:ln w="12700">
            <a:solidFill>
              <a:schemeClr val="accent1"/>
            </a:solidFill>
            <a:prstDash val="solid"/>
          </a:ln>
        </p:spPr>
      </p:sp>
      <p:pic>
        <p:nvPicPr>
          <p:cNvPr id="31" name="Centang 5 ikon" descr="preencoded.png">    </p:cNvPr>
          <p:cNvPicPr>
            <a:picLocks noChangeAspect="1"/>
          </p:cNvPicPr>
          <p:nvPr/>
        </p:nvPicPr>
        <p:blipFill>
          <a:blip r:embed="rId7"/>
          <a:stretch>
            <a:fillRect/>
          </a:stretch>
        </p:blipFill>
        <p:spPr>
          <a:xfrm>
            <a:off x="6617970" y="4880610"/>
            <a:ext cx="342900" cy="342900"/>
          </a:xfrm>
          <a:prstGeom prst="rect">
            <a:avLst/>
          </a:prstGeom>
        </p:spPr>
      </p:pic>
      <p:sp>
        <p:nvSpPr>
          <p:cNvPr id="32" name="Text 24"/>
          <p:cNvSpPr txBox="1"/>
          <p:nvPr/>
        </p:nvSpPr>
        <p:spPr>
          <a:xfrm>
            <a:off x="7360920" y="4553712"/>
            <a:ext cx="4023360" cy="365760"/>
          </a:xfrm>
          <a:prstGeom prst="rect">
            <a:avLst/>
          </a:prstGeom>
          <a:noFill/>
          <a:ln/>
        </p:spPr>
        <p:txBody>
          <a:bodyPr wrap="square" lIns="0" tIns="0" rIns="0" bIns="0" rtlCol="0" anchor="t"/>
          <a:lstStyle/>
          <a:p>
            <a:pPr indent="0" marL="0">
              <a:buNone/>
            </a:pPr>
            <a:r>
              <a:rPr lang="en-US" sz="1500" b="1" dirty="0">
                <a:solidFill>
                  <a:schemeClr val="tx1"/>
                </a:solidFill>
              </a:rPr>
              <a:t>Konvensional atau syariah</a:t>
            </a:r>
            <a:endParaRPr lang="en-US" sz="1500" dirty="0"/>
          </a:p>
        </p:txBody>
      </p:sp>
      <p:sp>
        <p:nvSpPr>
          <p:cNvPr id="33" name="Text 25"/>
          <p:cNvSpPr txBox="1"/>
          <p:nvPr/>
        </p:nvSpPr>
        <p:spPr>
          <a:xfrm>
            <a:off x="7360920" y="4919472"/>
            <a:ext cx="4023360" cy="731520"/>
          </a:xfrm>
          <a:prstGeom prst="rect">
            <a:avLst/>
          </a:prstGeom>
          <a:noFill/>
          <a:ln/>
        </p:spPr>
        <p:txBody>
          <a:bodyPr wrap="square" lIns="0" tIns="0" rIns="0" bIns="0" rtlCol="0" anchor="t"/>
          <a:lstStyle/>
          <a:p>
            <a:pPr indent="0" marL="0">
              <a:buNone/>
            </a:pPr>
            <a:r>
              <a:rPr lang="en-US" sz="1250" dirty="0">
                <a:solidFill>
                  <a:schemeClr val="accent5"/>
                </a:solidFill>
              </a:rPr>
              <a:t>Sesuaikan dengan preferensi kamu. Prinsip kerja dan risikonya mirip.</a:t>
            </a:r>
            <a:endParaRPr lang="en-US" sz="1250" dirty="0"/>
          </a:p>
        </p:txBody>
      </p:sp>
      <p:sp>
        <p:nvSpPr>
          <p:cNvPr id="34" name="Text 26"/>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5"/>
                </a:solidFill>
              </a:rPr>
              <a:t>Fund fact sheet terbit tiap bulan di situs Manajer Investasi atau di aplikasi APERD.</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Waspada janji untung pasti</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Kartu kasus"/>
          <p:cNvSpPr/>
          <p:nvPr/>
        </p:nvSpPr>
        <p:spPr>
          <a:xfrm>
            <a:off x="548640" y="1371600"/>
            <a:ext cx="5486400" cy="4434840"/>
          </a:xfrm>
          <a:prstGeom prst="roundRect">
            <a:avLst>
              <a:gd name="adj" fmla="val 2474"/>
            </a:avLst>
          </a:prstGeom>
          <a:solidFill>
            <a:schemeClr val="tx2"/>
          </a:solidFill>
          <a:ln w="12700">
            <a:solidFill>
              <a:schemeClr val="tx2"/>
            </a:solidFill>
            <a:prstDash val="solid"/>
          </a:ln>
        </p:spPr>
      </p:sp>
      <p:sp>
        <p:nvSpPr>
          <p:cNvPr id="5" name="Peringatan lingkaran"/>
          <p:cNvSpPr/>
          <p:nvPr/>
        </p:nvSpPr>
        <p:spPr>
          <a:xfrm>
            <a:off x="822960" y="1645920"/>
            <a:ext cx="777240" cy="777240"/>
          </a:xfrm>
          <a:prstGeom prst="ellipse">
            <a:avLst/>
          </a:prstGeom>
          <a:solidFill>
            <a:schemeClr val="accent4"/>
          </a:solidFill>
          <a:ln w="12700">
            <a:solidFill>
              <a:schemeClr val="accent4"/>
            </a:solidFill>
            <a:prstDash val="solid"/>
          </a:ln>
        </p:spPr>
      </p:sp>
      <p:pic>
        <p:nvPicPr>
          <p:cNvPr id="6" name="Peringatan ikon" descr="preencoded.png">    </p:cNvPr>
          <p:cNvPicPr>
            <a:picLocks noChangeAspect="1"/>
          </p:cNvPicPr>
          <p:nvPr/>
        </p:nvPicPr>
        <p:blipFill>
          <a:blip r:embed="rId2"/>
          <a:stretch>
            <a:fillRect/>
          </a:stretch>
        </p:blipFill>
        <p:spPr>
          <a:xfrm>
            <a:off x="1017270" y="1840230"/>
            <a:ext cx="388620" cy="388620"/>
          </a:xfrm>
          <a:prstGeom prst="rect">
            <a:avLst/>
          </a:prstGeom>
        </p:spPr>
      </p:pic>
      <p:sp>
        <p:nvSpPr>
          <p:cNvPr id="7" name="Text 4"/>
          <p:cNvSpPr txBox="1"/>
          <p:nvPr/>
        </p:nvSpPr>
        <p:spPr>
          <a:xfrm>
            <a:off x="1783080" y="1783080"/>
            <a:ext cx="4114800" cy="457200"/>
          </a:xfrm>
          <a:prstGeom prst="rect">
            <a:avLst/>
          </a:prstGeom>
          <a:noFill/>
          <a:ln/>
        </p:spPr>
        <p:txBody>
          <a:bodyPr wrap="square" lIns="0" tIns="0" rIns="0" bIns="0" rtlCol="0" anchor="t"/>
          <a:lstStyle/>
          <a:p>
            <a:pPr indent="0" marL="0">
              <a:buNone/>
            </a:pPr>
            <a:r>
              <a:rPr lang="en-US" sz="1800" b="1" dirty="0">
                <a:solidFill>
                  <a:schemeClr val="accent2"/>
                </a:solidFill>
              </a:rPr>
              <a:t>Pelajaran dari kasus nyata</a:t>
            </a:r>
            <a:endParaRPr lang="en-US" sz="1800" dirty="0"/>
          </a:p>
        </p:txBody>
      </p:sp>
      <p:sp>
        <p:nvSpPr>
          <p:cNvPr id="8" name="Text 5"/>
          <p:cNvSpPr txBox="1"/>
          <p:nvPr/>
        </p:nvSpPr>
        <p:spPr>
          <a:xfrm>
            <a:off x="822960" y="2606040"/>
            <a:ext cx="4937760" cy="2011680"/>
          </a:xfrm>
          <a:prstGeom prst="rect">
            <a:avLst/>
          </a:prstGeom>
          <a:noFill/>
          <a:ln/>
        </p:spPr>
        <p:txBody>
          <a:bodyPr wrap="square" lIns="0" tIns="0" rIns="0" bIns="0" rtlCol="0" anchor="t"/>
          <a:lstStyle/>
          <a:p>
            <a:pPr indent="0" marL="0">
              <a:buNone/>
            </a:pPr>
            <a:r>
              <a:rPr lang="en-US" sz="1400" dirty="0">
                <a:solidFill>
                  <a:schemeClr val="bg1"/>
                </a:solidFill>
              </a:rPr>
              <a:t>Pada November 2019, OJK memerintahkan PT Minna Padi Aset Manajemen membubarkan enam reksa dananya. Salah satu alasannya: produk tersebut dipasarkan dengan janji imbal hasil pasti, padahal reksa dana tidak boleh menjanjikan hasil tetap.</a:t>
            </a:r>
            <a:endParaRPr lang="en-US" sz="1400" dirty="0"/>
          </a:p>
        </p:txBody>
      </p:sp>
      <p:sp>
        <p:nvSpPr>
          <p:cNvPr id="9" name="Text 6"/>
          <p:cNvSpPr txBox="1"/>
          <p:nvPr/>
        </p:nvSpPr>
        <p:spPr>
          <a:xfrm>
            <a:off x="822960" y="4754880"/>
            <a:ext cx="4937760" cy="822960"/>
          </a:xfrm>
          <a:prstGeom prst="rect">
            <a:avLst/>
          </a:prstGeom>
          <a:noFill/>
          <a:ln/>
        </p:spPr>
        <p:txBody>
          <a:bodyPr wrap="square" lIns="0" tIns="0" rIns="0" bIns="0" rtlCol="0" anchor="t"/>
          <a:lstStyle/>
          <a:p>
            <a:pPr indent="0" marL="0">
              <a:buNone/>
            </a:pPr>
            <a:r>
              <a:rPr lang="en-US" sz="1400" b="1" dirty="0">
                <a:solidFill>
                  <a:schemeClr val="accent6"/>
                </a:solidFill>
              </a:rPr>
              <a:t>Kalau ada yang bilang "RDPU pasti 10% setahun", itu tanda bahaya.</a:t>
            </a:r>
            <a:endParaRPr lang="en-US" sz="1400" dirty="0"/>
          </a:p>
        </p:txBody>
      </p:sp>
      <p:sp>
        <p:nvSpPr>
          <p:cNvPr id="10" name="Tanda 0"/>
          <p:cNvSpPr/>
          <p:nvPr/>
        </p:nvSpPr>
        <p:spPr>
          <a:xfrm>
            <a:off x="6355080" y="1371600"/>
            <a:ext cx="5303520" cy="749808"/>
          </a:xfrm>
          <a:prstGeom prst="roundRect">
            <a:avLst>
              <a:gd name="adj" fmla="val 14634"/>
            </a:avLst>
          </a:prstGeom>
          <a:solidFill>
            <a:schemeClr val="tx2"/>
          </a:solidFill>
          <a:ln w="12700">
            <a:solidFill>
              <a:schemeClr val="tx2"/>
            </a:solidFill>
            <a:prstDash val="solid"/>
          </a:ln>
        </p:spPr>
      </p:sp>
      <p:sp>
        <p:nvSpPr>
          <p:cNvPr id="11" name="Tanda ikon 0 lingkaran"/>
          <p:cNvSpPr/>
          <p:nvPr/>
        </p:nvSpPr>
        <p:spPr>
          <a:xfrm>
            <a:off x="6537960" y="1517904"/>
            <a:ext cx="457200" cy="457200"/>
          </a:xfrm>
          <a:prstGeom prst="ellipse">
            <a:avLst/>
          </a:prstGeom>
          <a:solidFill>
            <a:schemeClr val="accent4"/>
          </a:solidFill>
          <a:ln w="12700">
            <a:solidFill>
              <a:schemeClr val="accent4"/>
            </a:solidFill>
            <a:prstDash val="solid"/>
          </a:ln>
        </p:spPr>
      </p:sp>
      <p:pic>
        <p:nvPicPr>
          <p:cNvPr id="12" name="Tanda ikon 0 ikon" descr="preencoded.png">    </p:cNvPr>
          <p:cNvPicPr>
            <a:picLocks noChangeAspect="1"/>
          </p:cNvPicPr>
          <p:nvPr/>
        </p:nvPicPr>
        <p:blipFill>
          <a:blip r:embed="rId3"/>
          <a:stretch>
            <a:fillRect/>
          </a:stretch>
        </p:blipFill>
        <p:spPr>
          <a:xfrm>
            <a:off x="6652260" y="1632204"/>
            <a:ext cx="228600" cy="228600"/>
          </a:xfrm>
          <a:prstGeom prst="rect">
            <a:avLst/>
          </a:prstGeom>
        </p:spPr>
      </p:pic>
      <p:sp>
        <p:nvSpPr>
          <p:cNvPr id="13" name="Text 9"/>
          <p:cNvSpPr txBox="1"/>
          <p:nvPr/>
        </p:nvSpPr>
        <p:spPr>
          <a:xfrm>
            <a:off x="7178040" y="1426464"/>
            <a:ext cx="4343400" cy="640080"/>
          </a:xfrm>
          <a:prstGeom prst="rect">
            <a:avLst/>
          </a:prstGeom>
          <a:noFill/>
          <a:ln/>
        </p:spPr>
        <p:txBody>
          <a:bodyPr wrap="square" lIns="0" tIns="0" rIns="0" bIns="0" rtlCol="0" anchor="ctr"/>
          <a:lstStyle/>
          <a:p>
            <a:pPr indent="0" marL="0">
              <a:buNone/>
            </a:pPr>
            <a:r>
              <a:rPr lang="en-US" sz="1250" dirty="0">
                <a:solidFill>
                  <a:schemeClr val="bg1"/>
                </a:solidFill>
              </a:rPr>
              <a:t>Janji untung tetap dan tinggi</a:t>
            </a:r>
            <a:endParaRPr lang="en-US" sz="1250" dirty="0"/>
          </a:p>
        </p:txBody>
      </p:sp>
      <p:sp>
        <p:nvSpPr>
          <p:cNvPr id="14" name="Tanda 1"/>
          <p:cNvSpPr/>
          <p:nvPr/>
        </p:nvSpPr>
        <p:spPr>
          <a:xfrm>
            <a:off x="6355080" y="2276856"/>
            <a:ext cx="5303520" cy="749808"/>
          </a:xfrm>
          <a:prstGeom prst="roundRect">
            <a:avLst>
              <a:gd name="adj" fmla="val 14634"/>
            </a:avLst>
          </a:prstGeom>
          <a:solidFill>
            <a:schemeClr val="tx2"/>
          </a:solidFill>
          <a:ln w="12700">
            <a:solidFill>
              <a:schemeClr val="tx2"/>
            </a:solidFill>
            <a:prstDash val="solid"/>
          </a:ln>
        </p:spPr>
      </p:sp>
      <p:sp>
        <p:nvSpPr>
          <p:cNvPr id="15" name="Tanda ikon 1 lingkaran"/>
          <p:cNvSpPr/>
          <p:nvPr/>
        </p:nvSpPr>
        <p:spPr>
          <a:xfrm>
            <a:off x="6537960" y="2423160"/>
            <a:ext cx="457200" cy="457200"/>
          </a:xfrm>
          <a:prstGeom prst="ellipse">
            <a:avLst/>
          </a:prstGeom>
          <a:solidFill>
            <a:schemeClr val="accent4"/>
          </a:solidFill>
          <a:ln w="12700">
            <a:solidFill>
              <a:schemeClr val="accent4"/>
            </a:solidFill>
            <a:prstDash val="solid"/>
          </a:ln>
        </p:spPr>
      </p:sp>
      <p:pic>
        <p:nvPicPr>
          <p:cNvPr id="16" name="Tanda ikon 1 ikon" descr="preencoded.png">    </p:cNvPr>
          <p:cNvPicPr>
            <a:picLocks noChangeAspect="1"/>
          </p:cNvPicPr>
          <p:nvPr/>
        </p:nvPicPr>
        <p:blipFill>
          <a:blip r:embed="rId4"/>
          <a:stretch>
            <a:fillRect/>
          </a:stretch>
        </p:blipFill>
        <p:spPr>
          <a:xfrm>
            <a:off x="6652260" y="2537460"/>
            <a:ext cx="228600" cy="228600"/>
          </a:xfrm>
          <a:prstGeom prst="rect">
            <a:avLst/>
          </a:prstGeom>
        </p:spPr>
      </p:pic>
      <p:sp>
        <p:nvSpPr>
          <p:cNvPr id="17" name="Text 12"/>
          <p:cNvSpPr txBox="1"/>
          <p:nvPr/>
        </p:nvSpPr>
        <p:spPr>
          <a:xfrm>
            <a:off x="7178040" y="2331720"/>
            <a:ext cx="4343400" cy="640080"/>
          </a:xfrm>
          <a:prstGeom prst="rect">
            <a:avLst/>
          </a:prstGeom>
          <a:noFill/>
          <a:ln/>
        </p:spPr>
        <p:txBody>
          <a:bodyPr wrap="square" lIns="0" tIns="0" rIns="0" bIns="0" rtlCol="0" anchor="ctr"/>
          <a:lstStyle/>
          <a:p>
            <a:pPr indent="0" marL="0">
              <a:buNone/>
            </a:pPr>
            <a:r>
              <a:rPr lang="en-US" sz="1250" dirty="0">
                <a:solidFill>
                  <a:schemeClr val="bg1"/>
                </a:solidFill>
              </a:rPr>
              <a:t>Transfer ke rekening pribadi, bukan ke rekening reksa dana di bank kustodian</a:t>
            </a:r>
            <a:endParaRPr lang="en-US" sz="1250" dirty="0"/>
          </a:p>
        </p:txBody>
      </p:sp>
      <p:sp>
        <p:nvSpPr>
          <p:cNvPr id="18" name="Tanda 2"/>
          <p:cNvSpPr/>
          <p:nvPr/>
        </p:nvSpPr>
        <p:spPr>
          <a:xfrm>
            <a:off x="6355080" y="3182112"/>
            <a:ext cx="5303520" cy="749808"/>
          </a:xfrm>
          <a:prstGeom prst="roundRect">
            <a:avLst>
              <a:gd name="adj" fmla="val 14634"/>
            </a:avLst>
          </a:prstGeom>
          <a:solidFill>
            <a:schemeClr val="tx2"/>
          </a:solidFill>
          <a:ln w="12700">
            <a:solidFill>
              <a:schemeClr val="tx2"/>
            </a:solidFill>
            <a:prstDash val="solid"/>
          </a:ln>
        </p:spPr>
      </p:sp>
      <p:sp>
        <p:nvSpPr>
          <p:cNvPr id="19" name="Tanda ikon 2 lingkaran"/>
          <p:cNvSpPr/>
          <p:nvPr/>
        </p:nvSpPr>
        <p:spPr>
          <a:xfrm>
            <a:off x="6537960" y="3328416"/>
            <a:ext cx="457200" cy="457200"/>
          </a:xfrm>
          <a:prstGeom prst="ellipse">
            <a:avLst/>
          </a:prstGeom>
          <a:solidFill>
            <a:schemeClr val="accent4"/>
          </a:solidFill>
          <a:ln w="12700">
            <a:solidFill>
              <a:schemeClr val="accent4"/>
            </a:solidFill>
            <a:prstDash val="solid"/>
          </a:ln>
        </p:spPr>
      </p:sp>
      <p:pic>
        <p:nvPicPr>
          <p:cNvPr id="20" name="Tanda ikon 2 ikon" descr="preencoded.png">    </p:cNvPr>
          <p:cNvPicPr>
            <a:picLocks noChangeAspect="1"/>
          </p:cNvPicPr>
          <p:nvPr/>
        </p:nvPicPr>
        <p:blipFill>
          <a:blip r:embed="rId5"/>
          <a:stretch>
            <a:fillRect/>
          </a:stretch>
        </p:blipFill>
        <p:spPr>
          <a:xfrm>
            <a:off x="6652260" y="3442716"/>
            <a:ext cx="228600" cy="228600"/>
          </a:xfrm>
          <a:prstGeom prst="rect">
            <a:avLst/>
          </a:prstGeom>
        </p:spPr>
      </p:pic>
      <p:sp>
        <p:nvSpPr>
          <p:cNvPr id="21" name="Text 15"/>
          <p:cNvSpPr txBox="1"/>
          <p:nvPr/>
        </p:nvSpPr>
        <p:spPr>
          <a:xfrm>
            <a:off x="7178040" y="3236976"/>
            <a:ext cx="4343400" cy="640080"/>
          </a:xfrm>
          <a:prstGeom prst="rect">
            <a:avLst/>
          </a:prstGeom>
          <a:noFill/>
          <a:ln/>
        </p:spPr>
        <p:txBody>
          <a:bodyPr wrap="square" lIns="0" tIns="0" rIns="0" bIns="0" rtlCol="0" anchor="ctr"/>
          <a:lstStyle/>
          <a:p>
            <a:pPr indent="0" marL="0">
              <a:buNone/>
            </a:pPr>
            <a:r>
              <a:rPr lang="en-US" sz="1250" dirty="0">
                <a:solidFill>
                  <a:schemeClr val="bg1"/>
                </a:solidFill>
              </a:rPr>
              <a:t>Perusahaan atau aplikasi tidak terdaftar di OJK</a:t>
            </a:r>
            <a:endParaRPr lang="en-US" sz="1250" dirty="0"/>
          </a:p>
        </p:txBody>
      </p:sp>
      <p:sp>
        <p:nvSpPr>
          <p:cNvPr id="22" name="Tanda 3"/>
          <p:cNvSpPr/>
          <p:nvPr/>
        </p:nvSpPr>
        <p:spPr>
          <a:xfrm>
            <a:off x="6355080" y="4087368"/>
            <a:ext cx="5303520" cy="749808"/>
          </a:xfrm>
          <a:prstGeom prst="roundRect">
            <a:avLst>
              <a:gd name="adj" fmla="val 14634"/>
            </a:avLst>
          </a:prstGeom>
          <a:solidFill>
            <a:schemeClr val="tx2"/>
          </a:solidFill>
          <a:ln w="12700">
            <a:solidFill>
              <a:schemeClr val="tx2"/>
            </a:solidFill>
            <a:prstDash val="solid"/>
          </a:ln>
        </p:spPr>
      </p:sp>
      <p:sp>
        <p:nvSpPr>
          <p:cNvPr id="23" name="Tanda ikon 3 lingkaran"/>
          <p:cNvSpPr/>
          <p:nvPr/>
        </p:nvSpPr>
        <p:spPr>
          <a:xfrm>
            <a:off x="6537960" y="4233672"/>
            <a:ext cx="457200" cy="457200"/>
          </a:xfrm>
          <a:prstGeom prst="ellipse">
            <a:avLst/>
          </a:prstGeom>
          <a:solidFill>
            <a:schemeClr val="accent1"/>
          </a:solidFill>
          <a:ln w="12700">
            <a:solidFill>
              <a:schemeClr val="accent1"/>
            </a:solidFill>
            <a:prstDash val="solid"/>
          </a:ln>
        </p:spPr>
      </p:sp>
      <p:pic>
        <p:nvPicPr>
          <p:cNvPr id="24" name="Tanda ikon 3 ikon" descr="preencoded.png">    </p:cNvPr>
          <p:cNvPicPr>
            <a:picLocks noChangeAspect="1"/>
          </p:cNvPicPr>
          <p:nvPr/>
        </p:nvPicPr>
        <p:blipFill>
          <a:blip r:embed="rId6"/>
          <a:stretch>
            <a:fillRect/>
          </a:stretch>
        </p:blipFill>
        <p:spPr>
          <a:xfrm>
            <a:off x="6652260" y="4347972"/>
            <a:ext cx="228600" cy="228600"/>
          </a:xfrm>
          <a:prstGeom prst="rect">
            <a:avLst/>
          </a:prstGeom>
        </p:spPr>
      </p:pic>
      <p:sp>
        <p:nvSpPr>
          <p:cNvPr id="25" name="Text 18"/>
          <p:cNvSpPr txBox="1"/>
          <p:nvPr/>
        </p:nvSpPr>
        <p:spPr>
          <a:xfrm>
            <a:off x="7178040" y="4142232"/>
            <a:ext cx="4343400" cy="640080"/>
          </a:xfrm>
          <a:prstGeom prst="rect">
            <a:avLst/>
          </a:prstGeom>
          <a:noFill/>
          <a:ln/>
        </p:spPr>
        <p:txBody>
          <a:bodyPr wrap="square" lIns="0" tIns="0" rIns="0" bIns="0" rtlCol="0" anchor="ctr"/>
          <a:lstStyle/>
          <a:p>
            <a:pPr indent="0" marL="0">
              <a:buNone/>
            </a:pPr>
            <a:r>
              <a:rPr lang="en-US" sz="1250" dirty="0">
                <a:solidFill>
                  <a:schemeClr val="bg1"/>
                </a:solidFill>
              </a:rPr>
              <a:t>Cek legalitas di situs OJK atau Kontak OJK 157</a:t>
            </a:r>
            <a:endParaRPr lang="en-US" sz="1250" dirty="0"/>
          </a:p>
        </p:txBody>
      </p:sp>
      <p:sp>
        <p:nvSpPr>
          <p:cNvPr id="26" name="Tanda 4"/>
          <p:cNvSpPr/>
          <p:nvPr/>
        </p:nvSpPr>
        <p:spPr>
          <a:xfrm>
            <a:off x="6355080" y="4992624"/>
            <a:ext cx="5303520" cy="749808"/>
          </a:xfrm>
          <a:prstGeom prst="roundRect">
            <a:avLst>
              <a:gd name="adj" fmla="val 14634"/>
            </a:avLst>
          </a:prstGeom>
          <a:solidFill>
            <a:schemeClr val="tx2"/>
          </a:solidFill>
          <a:ln w="12700">
            <a:solidFill>
              <a:schemeClr val="tx2"/>
            </a:solidFill>
            <a:prstDash val="solid"/>
          </a:ln>
        </p:spPr>
      </p:sp>
      <p:sp>
        <p:nvSpPr>
          <p:cNvPr id="27" name="Tanda ikon 4 lingkaran"/>
          <p:cNvSpPr/>
          <p:nvPr/>
        </p:nvSpPr>
        <p:spPr>
          <a:xfrm>
            <a:off x="6537960" y="5138928"/>
            <a:ext cx="457200" cy="457200"/>
          </a:xfrm>
          <a:prstGeom prst="ellipse">
            <a:avLst/>
          </a:prstGeom>
          <a:solidFill>
            <a:schemeClr val="accent1"/>
          </a:solidFill>
          <a:ln w="12700">
            <a:solidFill>
              <a:schemeClr val="accent1"/>
            </a:solidFill>
            <a:prstDash val="solid"/>
          </a:ln>
        </p:spPr>
      </p:sp>
      <p:pic>
        <p:nvPicPr>
          <p:cNvPr id="28" name="Tanda ikon 4 ikon" descr="preencoded.png">    </p:cNvPr>
          <p:cNvPicPr>
            <a:picLocks noChangeAspect="1"/>
          </p:cNvPicPr>
          <p:nvPr/>
        </p:nvPicPr>
        <p:blipFill>
          <a:blip r:embed="rId7"/>
          <a:stretch>
            <a:fillRect/>
          </a:stretch>
        </p:blipFill>
        <p:spPr>
          <a:xfrm>
            <a:off x="6652260" y="5253228"/>
            <a:ext cx="228600" cy="228600"/>
          </a:xfrm>
          <a:prstGeom prst="rect">
            <a:avLst/>
          </a:prstGeom>
        </p:spPr>
      </p:pic>
      <p:sp>
        <p:nvSpPr>
          <p:cNvPr id="29" name="Text 21"/>
          <p:cNvSpPr txBox="1"/>
          <p:nvPr/>
        </p:nvSpPr>
        <p:spPr>
          <a:xfrm>
            <a:off x="7178040" y="5047488"/>
            <a:ext cx="4343400" cy="640080"/>
          </a:xfrm>
          <a:prstGeom prst="rect">
            <a:avLst/>
          </a:prstGeom>
          <a:noFill/>
          <a:ln/>
        </p:spPr>
        <p:txBody>
          <a:bodyPr wrap="square" lIns="0" tIns="0" rIns="0" bIns="0" rtlCol="0" anchor="ctr"/>
          <a:lstStyle/>
          <a:p>
            <a:pPr indent="0" marL="0">
              <a:buNone/>
            </a:pPr>
            <a:r>
              <a:rPr lang="en-US" sz="1250" dirty="0">
                <a:solidFill>
                  <a:schemeClr val="bg1"/>
                </a:solidFill>
              </a:rPr>
              <a:t>Laporkan tawaran mencurigakan ke Satgas PASTI (Pemberantasan Aktivitas Keuangan Ilegal)</a:t>
            </a:r>
            <a:endParaRPr lang="en-US" sz="1250" dirty="0"/>
          </a:p>
        </p:txBody>
      </p:sp>
      <p:sp>
        <p:nvSpPr>
          <p:cNvPr id="30" name="Text 22"/>
          <p:cNvSpPr txBox="1"/>
          <p:nvPr/>
        </p:nvSpPr>
        <p:spPr>
          <a:xfrm>
            <a:off x="548640" y="5989320"/>
            <a:ext cx="10515600" cy="274320"/>
          </a:xfrm>
          <a:prstGeom prst="rect">
            <a:avLst/>
          </a:prstGeom>
          <a:noFill/>
          <a:ln/>
        </p:spPr>
        <p:txBody>
          <a:bodyPr wrap="square" lIns="0" tIns="0" rIns="0" bIns="0" rtlCol="0" anchor="t"/>
          <a:lstStyle/>
          <a:p>
            <a:pPr indent="0" marL="0">
              <a:buNone/>
            </a:pPr>
            <a:r>
              <a:rPr lang="en-US" sz="1000" i="1" dirty="0">
                <a:solidFill>
                  <a:schemeClr val="accent6"/>
                </a:solidFill>
              </a:rPr>
              <a:t>Sumber: siaran pers OJK tentang pembubaran reksa dana Minna Padi (2019); OJK.</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Cara mulai dalam lima langkah</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Nomor 1"/>
          <p:cNvSpPr txBox="1"/>
          <p:nvPr/>
        </p:nvSpPr>
        <p:spPr>
          <a:xfrm>
            <a:off x="548640" y="1435608"/>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Langkah mulai 1"/>
          <p:cNvSpPr/>
          <p:nvPr/>
        </p:nvSpPr>
        <p:spPr>
          <a:xfrm>
            <a:off x="1325880" y="1325880"/>
            <a:ext cx="5852160" cy="804672"/>
          </a:xfrm>
          <a:prstGeom prst="roundRect">
            <a:avLst>
              <a:gd name="adj" fmla="val 1363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6" name="Siapkan data lingkaran"/>
          <p:cNvSpPr/>
          <p:nvPr/>
        </p:nvSpPr>
        <p:spPr>
          <a:xfrm>
            <a:off x="1463040" y="1453896"/>
            <a:ext cx="548640" cy="548640"/>
          </a:xfrm>
          <a:prstGeom prst="ellipse">
            <a:avLst/>
          </a:prstGeom>
          <a:solidFill>
            <a:schemeClr val="bg2"/>
          </a:solidFill>
          <a:ln w="12700">
            <a:solidFill>
              <a:schemeClr val="bg2"/>
            </a:solidFill>
            <a:prstDash val="solid"/>
          </a:ln>
        </p:spPr>
      </p:sp>
      <p:pic>
        <p:nvPicPr>
          <p:cNvPr id="7" name="Siapkan data ikon" descr="preencoded.png">    </p:cNvPr>
          <p:cNvPicPr>
            <a:picLocks noChangeAspect="1"/>
          </p:cNvPicPr>
          <p:nvPr/>
        </p:nvPicPr>
        <p:blipFill>
          <a:blip r:embed="rId2"/>
          <a:stretch>
            <a:fillRect/>
          </a:stretch>
        </p:blipFill>
        <p:spPr>
          <a:xfrm>
            <a:off x="1600200" y="1591056"/>
            <a:ext cx="274320" cy="274320"/>
          </a:xfrm>
          <a:prstGeom prst="rect">
            <a:avLst/>
          </a:prstGeom>
        </p:spPr>
      </p:pic>
      <p:sp>
        <p:nvSpPr>
          <p:cNvPr id="8" name="Text 5"/>
          <p:cNvSpPr txBox="1"/>
          <p:nvPr/>
        </p:nvSpPr>
        <p:spPr>
          <a:xfrm>
            <a:off x="2148840" y="1399032"/>
            <a:ext cx="4846320" cy="329184"/>
          </a:xfrm>
          <a:prstGeom prst="rect">
            <a:avLst/>
          </a:prstGeom>
          <a:noFill/>
          <a:ln/>
        </p:spPr>
        <p:txBody>
          <a:bodyPr wrap="square" lIns="0" tIns="0" rIns="0" bIns="0" rtlCol="0" anchor="t"/>
          <a:lstStyle/>
          <a:p>
            <a:pPr indent="0" marL="0">
              <a:buNone/>
            </a:pPr>
            <a:r>
              <a:rPr lang="en-US" sz="1400" b="1" dirty="0">
                <a:solidFill>
                  <a:schemeClr val="tx1"/>
                </a:solidFill>
              </a:rPr>
              <a:t>Siapkan data</a:t>
            </a:r>
            <a:endParaRPr lang="en-US" sz="1400" dirty="0"/>
          </a:p>
        </p:txBody>
      </p:sp>
      <p:sp>
        <p:nvSpPr>
          <p:cNvPr id="9" name="Text 6"/>
          <p:cNvSpPr txBox="1"/>
          <p:nvPr/>
        </p:nvSpPr>
        <p:spPr>
          <a:xfrm>
            <a:off x="2148840" y="1728216"/>
            <a:ext cx="4937760" cy="365760"/>
          </a:xfrm>
          <a:prstGeom prst="rect">
            <a:avLst/>
          </a:prstGeom>
          <a:noFill/>
          <a:ln/>
        </p:spPr>
        <p:txBody>
          <a:bodyPr wrap="square" lIns="0" tIns="0" rIns="0" bIns="0" rtlCol="0" anchor="t"/>
          <a:lstStyle/>
          <a:p>
            <a:pPr indent="0" marL="0">
              <a:buNone/>
            </a:pPr>
            <a:r>
              <a:rPr lang="en-US" sz="1150" dirty="0">
                <a:solidFill>
                  <a:schemeClr val="accent5"/>
                </a:solidFill>
              </a:rPr>
              <a:t>KTP, rekening bank atas nama sendiri, dan NPWP jika punya.</a:t>
            </a:r>
            <a:endParaRPr lang="en-US" sz="1150" dirty="0"/>
          </a:p>
        </p:txBody>
      </p:sp>
      <p:sp>
        <p:nvSpPr>
          <p:cNvPr id="10" name="Nomor 2"/>
          <p:cNvSpPr txBox="1"/>
          <p:nvPr/>
        </p:nvSpPr>
        <p:spPr>
          <a:xfrm>
            <a:off x="548640" y="2377440"/>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Langkah mulai 2"/>
          <p:cNvSpPr/>
          <p:nvPr/>
        </p:nvSpPr>
        <p:spPr>
          <a:xfrm>
            <a:off x="1325880" y="2267712"/>
            <a:ext cx="5852160" cy="804672"/>
          </a:xfrm>
          <a:prstGeom prst="roundRect">
            <a:avLst>
              <a:gd name="adj" fmla="val 1363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2" name="Pilih APERD lingkaran"/>
          <p:cNvSpPr/>
          <p:nvPr/>
        </p:nvSpPr>
        <p:spPr>
          <a:xfrm>
            <a:off x="1463040" y="2395728"/>
            <a:ext cx="548640" cy="548640"/>
          </a:xfrm>
          <a:prstGeom prst="ellipse">
            <a:avLst/>
          </a:prstGeom>
          <a:solidFill>
            <a:schemeClr val="bg2"/>
          </a:solidFill>
          <a:ln w="12700">
            <a:solidFill>
              <a:schemeClr val="bg2"/>
            </a:solidFill>
            <a:prstDash val="solid"/>
          </a:ln>
        </p:spPr>
      </p:sp>
      <p:pic>
        <p:nvPicPr>
          <p:cNvPr id="13" name="Pilih APERD ikon" descr="preencoded.png">    </p:cNvPr>
          <p:cNvPicPr>
            <a:picLocks noChangeAspect="1"/>
          </p:cNvPicPr>
          <p:nvPr/>
        </p:nvPicPr>
        <p:blipFill>
          <a:blip r:embed="rId3"/>
          <a:stretch>
            <a:fillRect/>
          </a:stretch>
        </p:blipFill>
        <p:spPr>
          <a:xfrm>
            <a:off x="1600200" y="2532888"/>
            <a:ext cx="274320" cy="274320"/>
          </a:xfrm>
          <a:prstGeom prst="rect">
            <a:avLst/>
          </a:prstGeom>
        </p:spPr>
      </p:pic>
      <p:sp>
        <p:nvSpPr>
          <p:cNvPr id="14" name="Text 10"/>
          <p:cNvSpPr txBox="1"/>
          <p:nvPr/>
        </p:nvSpPr>
        <p:spPr>
          <a:xfrm>
            <a:off x="2148840" y="2340864"/>
            <a:ext cx="4846320" cy="329184"/>
          </a:xfrm>
          <a:prstGeom prst="rect">
            <a:avLst/>
          </a:prstGeom>
          <a:noFill/>
          <a:ln/>
        </p:spPr>
        <p:txBody>
          <a:bodyPr wrap="square" lIns="0" tIns="0" rIns="0" bIns="0" rtlCol="0" anchor="t"/>
          <a:lstStyle/>
          <a:p>
            <a:pPr indent="0" marL="0">
              <a:buNone/>
            </a:pPr>
            <a:r>
              <a:rPr lang="en-US" sz="1400" b="1" dirty="0">
                <a:solidFill>
                  <a:schemeClr val="tx1"/>
                </a:solidFill>
              </a:rPr>
              <a:t>Pilih APERD</a:t>
            </a:r>
            <a:endParaRPr lang="en-US" sz="1400" dirty="0"/>
          </a:p>
        </p:txBody>
      </p:sp>
      <p:sp>
        <p:nvSpPr>
          <p:cNvPr id="15" name="Text 11"/>
          <p:cNvSpPr txBox="1"/>
          <p:nvPr/>
        </p:nvSpPr>
        <p:spPr>
          <a:xfrm>
            <a:off x="2148840" y="2670048"/>
            <a:ext cx="4937760" cy="365760"/>
          </a:xfrm>
          <a:prstGeom prst="rect">
            <a:avLst/>
          </a:prstGeom>
          <a:noFill/>
          <a:ln/>
        </p:spPr>
        <p:txBody>
          <a:bodyPr wrap="square" lIns="0" tIns="0" rIns="0" bIns="0" rtlCol="0" anchor="t"/>
          <a:lstStyle/>
          <a:p>
            <a:pPr indent="0" marL="0">
              <a:buNone/>
            </a:pPr>
            <a:r>
              <a:rPr lang="en-US" sz="1150" dirty="0">
                <a:solidFill>
                  <a:schemeClr val="accent5"/>
                </a:solidFill>
              </a:rPr>
              <a:t>Bank atau aplikasi investasi yang terdaftar di OJK.</a:t>
            </a:r>
            <a:endParaRPr lang="en-US" sz="1150" dirty="0"/>
          </a:p>
        </p:txBody>
      </p:sp>
      <p:sp>
        <p:nvSpPr>
          <p:cNvPr id="16" name="Nomor 3"/>
          <p:cNvSpPr txBox="1"/>
          <p:nvPr/>
        </p:nvSpPr>
        <p:spPr>
          <a:xfrm>
            <a:off x="548640" y="3319272"/>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Langkah mulai 3"/>
          <p:cNvSpPr/>
          <p:nvPr/>
        </p:nvSpPr>
        <p:spPr>
          <a:xfrm>
            <a:off x="1325880" y="3209544"/>
            <a:ext cx="5852160" cy="804672"/>
          </a:xfrm>
          <a:prstGeom prst="roundRect">
            <a:avLst>
              <a:gd name="adj" fmla="val 1363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8" name="Isi profil risiko lingkaran"/>
          <p:cNvSpPr/>
          <p:nvPr/>
        </p:nvSpPr>
        <p:spPr>
          <a:xfrm>
            <a:off x="1463040" y="3337560"/>
            <a:ext cx="548640" cy="548640"/>
          </a:xfrm>
          <a:prstGeom prst="ellipse">
            <a:avLst/>
          </a:prstGeom>
          <a:solidFill>
            <a:schemeClr val="bg2"/>
          </a:solidFill>
          <a:ln w="12700">
            <a:solidFill>
              <a:schemeClr val="bg2"/>
            </a:solidFill>
            <a:prstDash val="solid"/>
          </a:ln>
        </p:spPr>
      </p:sp>
      <p:pic>
        <p:nvPicPr>
          <p:cNvPr id="19" name="Isi profil risiko ikon" descr="preencoded.png">    </p:cNvPr>
          <p:cNvPicPr>
            <a:picLocks noChangeAspect="1"/>
          </p:cNvPicPr>
          <p:nvPr/>
        </p:nvPicPr>
        <p:blipFill>
          <a:blip r:embed="rId4"/>
          <a:stretch>
            <a:fillRect/>
          </a:stretch>
        </p:blipFill>
        <p:spPr>
          <a:xfrm>
            <a:off x="1600200" y="3474720"/>
            <a:ext cx="274320" cy="274320"/>
          </a:xfrm>
          <a:prstGeom prst="rect">
            <a:avLst/>
          </a:prstGeom>
        </p:spPr>
      </p:pic>
      <p:sp>
        <p:nvSpPr>
          <p:cNvPr id="20" name="Text 15"/>
          <p:cNvSpPr txBox="1"/>
          <p:nvPr/>
        </p:nvSpPr>
        <p:spPr>
          <a:xfrm>
            <a:off x="2148840" y="3282696"/>
            <a:ext cx="4846320" cy="329184"/>
          </a:xfrm>
          <a:prstGeom prst="rect">
            <a:avLst/>
          </a:prstGeom>
          <a:noFill/>
          <a:ln/>
        </p:spPr>
        <p:txBody>
          <a:bodyPr wrap="square" lIns="0" tIns="0" rIns="0" bIns="0" rtlCol="0" anchor="t"/>
          <a:lstStyle/>
          <a:p>
            <a:pPr indent="0" marL="0">
              <a:buNone/>
            </a:pPr>
            <a:r>
              <a:rPr lang="en-US" sz="1400" b="1" dirty="0">
                <a:solidFill>
                  <a:schemeClr val="tx1"/>
                </a:solidFill>
              </a:rPr>
              <a:t>Isi profil risiko</a:t>
            </a:r>
            <a:endParaRPr lang="en-US" sz="1400" dirty="0"/>
          </a:p>
        </p:txBody>
      </p:sp>
      <p:sp>
        <p:nvSpPr>
          <p:cNvPr id="21" name="Text 16"/>
          <p:cNvSpPr txBox="1"/>
          <p:nvPr/>
        </p:nvSpPr>
        <p:spPr>
          <a:xfrm>
            <a:off x="2148840" y="3611880"/>
            <a:ext cx="4937760" cy="365760"/>
          </a:xfrm>
          <a:prstGeom prst="rect">
            <a:avLst/>
          </a:prstGeom>
          <a:noFill/>
          <a:ln/>
        </p:spPr>
        <p:txBody>
          <a:bodyPr wrap="square" lIns="0" tIns="0" rIns="0" bIns="0" rtlCol="0" anchor="t"/>
          <a:lstStyle/>
          <a:p>
            <a:pPr indent="0" marL="0">
              <a:buNone/>
            </a:pPr>
            <a:r>
              <a:rPr lang="en-US" sz="1150" dirty="0">
                <a:solidFill>
                  <a:schemeClr val="accent5"/>
                </a:solidFill>
              </a:rPr>
              <a:t>Jawab kuesioner dengan jujur. RDPU cocok untuk profil konservatif.</a:t>
            </a:r>
            <a:endParaRPr lang="en-US" sz="1150" dirty="0"/>
          </a:p>
        </p:txBody>
      </p:sp>
      <p:sp>
        <p:nvSpPr>
          <p:cNvPr id="22" name="Nomor 4"/>
          <p:cNvSpPr txBox="1"/>
          <p:nvPr/>
        </p:nvSpPr>
        <p:spPr>
          <a:xfrm>
            <a:off x="548640" y="4261104"/>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3" name="Langkah mulai 4"/>
          <p:cNvSpPr/>
          <p:nvPr/>
        </p:nvSpPr>
        <p:spPr>
          <a:xfrm>
            <a:off x="1325880" y="4151376"/>
            <a:ext cx="5852160" cy="804672"/>
          </a:xfrm>
          <a:prstGeom prst="roundRect">
            <a:avLst>
              <a:gd name="adj" fmla="val 1363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4" name="Beli pertama lingkaran"/>
          <p:cNvSpPr/>
          <p:nvPr/>
        </p:nvSpPr>
        <p:spPr>
          <a:xfrm>
            <a:off x="1463040" y="4279392"/>
            <a:ext cx="548640" cy="548640"/>
          </a:xfrm>
          <a:prstGeom prst="ellipse">
            <a:avLst/>
          </a:prstGeom>
          <a:solidFill>
            <a:schemeClr val="bg2"/>
          </a:solidFill>
          <a:ln w="12700">
            <a:solidFill>
              <a:schemeClr val="bg2"/>
            </a:solidFill>
            <a:prstDash val="solid"/>
          </a:ln>
        </p:spPr>
      </p:sp>
      <p:pic>
        <p:nvPicPr>
          <p:cNvPr id="25" name="Beli pertama ikon" descr="preencoded.png">    </p:cNvPr>
          <p:cNvPicPr>
            <a:picLocks noChangeAspect="1"/>
          </p:cNvPicPr>
          <p:nvPr/>
        </p:nvPicPr>
        <p:blipFill>
          <a:blip r:embed="rId5"/>
          <a:stretch>
            <a:fillRect/>
          </a:stretch>
        </p:blipFill>
        <p:spPr>
          <a:xfrm>
            <a:off x="1600200" y="4416552"/>
            <a:ext cx="274320" cy="274320"/>
          </a:xfrm>
          <a:prstGeom prst="rect">
            <a:avLst/>
          </a:prstGeom>
        </p:spPr>
      </p:pic>
      <p:sp>
        <p:nvSpPr>
          <p:cNvPr id="26" name="Text 20"/>
          <p:cNvSpPr txBox="1"/>
          <p:nvPr/>
        </p:nvSpPr>
        <p:spPr>
          <a:xfrm>
            <a:off x="2148840" y="4224528"/>
            <a:ext cx="4846320" cy="329184"/>
          </a:xfrm>
          <a:prstGeom prst="rect">
            <a:avLst/>
          </a:prstGeom>
          <a:noFill/>
          <a:ln/>
        </p:spPr>
        <p:txBody>
          <a:bodyPr wrap="square" lIns="0" tIns="0" rIns="0" bIns="0" rtlCol="0" anchor="t"/>
          <a:lstStyle/>
          <a:p>
            <a:pPr indent="0" marL="0">
              <a:buNone/>
            </a:pPr>
            <a:r>
              <a:rPr lang="en-US" sz="1400" b="1" dirty="0">
                <a:solidFill>
                  <a:schemeClr val="tx1"/>
                </a:solidFill>
              </a:rPr>
              <a:t>Beli pertama</a:t>
            </a:r>
            <a:endParaRPr lang="en-US" sz="1400" dirty="0"/>
          </a:p>
        </p:txBody>
      </p:sp>
      <p:sp>
        <p:nvSpPr>
          <p:cNvPr id="27" name="Text 21"/>
          <p:cNvSpPr txBox="1"/>
          <p:nvPr/>
        </p:nvSpPr>
        <p:spPr>
          <a:xfrm>
            <a:off x="2148840" y="4553712"/>
            <a:ext cx="4937760" cy="365760"/>
          </a:xfrm>
          <a:prstGeom prst="rect">
            <a:avLst/>
          </a:prstGeom>
          <a:noFill/>
          <a:ln/>
        </p:spPr>
        <p:txBody>
          <a:bodyPr wrap="square" lIns="0" tIns="0" rIns="0" bIns="0" rtlCol="0" anchor="t"/>
          <a:lstStyle/>
          <a:p>
            <a:pPr indent="0" marL="0">
              <a:buNone/>
            </a:pPr>
            <a:r>
              <a:rPr lang="en-US" sz="1150" dirty="0">
                <a:solidFill>
                  <a:schemeClr val="accent5"/>
                </a:solidFill>
              </a:rPr>
              <a:t>Mulai dari nominal kecil, banyak aplikasi menerima mulai Rp10.000.</a:t>
            </a:r>
            <a:endParaRPr lang="en-US" sz="1150" dirty="0"/>
          </a:p>
        </p:txBody>
      </p:sp>
      <p:sp>
        <p:nvSpPr>
          <p:cNvPr id="28" name="Nomor 5"/>
          <p:cNvSpPr txBox="1"/>
          <p:nvPr/>
        </p:nvSpPr>
        <p:spPr>
          <a:xfrm>
            <a:off x="548640" y="5202936"/>
            <a:ext cx="594360" cy="5943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9" name="Langkah mulai 5"/>
          <p:cNvSpPr/>
          <p:nvPr/>
        </p:nvSpPr>
        <p:spPr>
          <a:xfrm>
            <a:off x="1325880" y="5093208"/>
            <a:ext cx="5852160" cy="804672"/>
          </a:xfrm>
          <a:prstGeom prst="roundRect">
            <a:avLst>
              <a:gd name="adj" fmla="val 1363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30" name="Rutin dan sabar lingkaran"/>
          <p:cNvSpPr/>
          <p:nvPr/>
        </p:nvSpPr>
        <p:spPr>
          <a:xfrm>
            <a:off x="1463040" y="5221224"/>
            <a:ext cx="548640" cy="548640"/>
          </a:xfrm>
          <a:prstGeom prst="ellipse">
            <a:avLst/>
          </a:prstGeom>
          <a:solidFill>
            <a:schemeClr val="bg2"/>
          </a:solidFill>
          <a:ln w="12700">
            <a:solidFill>
              <a:schemeClr val="bg2"/>
            </a:solidFill>
            <a:prstDash val="solid"/>
          </a:ln>
        </p:spPr>
      </p:sp>
      <p:pic>
        <p:nvPicPr>
          <p:cNvPr id="31" name="Rutin dan sabar ikon" descr="preencoded.png">    </p:cNvPr>
          <p:cNvPicPr>
            <a:picLocks noChangeAspect="1"/>
          </p:cNvPicPr>
          <p:nvPr/>
        </p:nvPicPr>
        <p:blipFill>
          <a:blip r:embed="rId6"/>
          <a:stretch>
            <a:fillRect/>
          </a:stretch>
        </p:blipFill>
        <p:spPr>
          <a:xfrm>
            <a:off x="1600200" y="5358384"/>
            <a:ext cx="274320" cy="274320"/>
          </a:xfrm>
          <a:prstGeom prst="rect">
            <a:avLst/>
          </a:prstGeom>
        </p:spPr>
      </p:pic>
      <p:sp>
        <p:nvSpPr>
          <p:cNvPr id="32" name="Text 25"/>
          <p:cNvSpPr txBox="1"/>
          <p:nvPr/>
        </p:nvSpPr>
        <p:spPr>
          <a:xfrm>
            <a:off x="2148840" y="5166360"/>
            <a:ext cx="4846320" cy="329184"/>
          </a:xfrm>
          <a:prstGeom prst="rect">
            <a:avLst/>
          </a:prstGeom>
          <a:noFill/>
          <a:ln/>
        </p:spPr>
        <p:txBody>
          <a:bodyPr wrap="square" lIns="0" tIns="0" rIns="0" bIns="0" rtlCol="0" anchor="t"/>
          <a:lstStyle/>
          <a:p>
            <a:pPr indent="0" marL="0">
              <a:buNone/>
            </a:pPr>
            <a:r>
              <a:rPr lang="en-US" sz="1400" b="1" dirty="0">
                <a:solidFill>
                  <a:schemeClr val="tx1"/>
                </a:solidFill>
              </a:rPr>
              <a:t>Rutin dan sabar</a:t>
            </a:r>
            <a:endParaRPr lang="en-US" sz="1400" dirty="0"/>
          </a:p>
        </p:txBody>
      </p:sp>
      <p:sp>
        <p:nvSpPr>
          <p:cNvPr id="33" name="Text 26"/>
          <p:cNvSpPr txBox="1"/>
          <p:nvPr/>
        </p:nvSpPr>
        <p:spPr>
          <a:xfrm>
            <a:off x="2148840" y="5495544"/>
            <a:ext cx="4937760" cy="365760"/>
          </a:xfrm>
          <a:prstGeom prst="rect">
            <a:avLst/>
          </a:prstGeom>
          <a:noFill/>
          <a:ln/>
        </p:spPr>
        <p:txBody>
          <a:bodyPr wrap="square" lIns="0" tIns="0" rIns="0" bIns="0" rtlCol="0" anchor="t"/>
          <a:lstStyle/>
          <a:p>
            <a:pPr indent="0" marL="0">
              <a:buNone/>
            </a:pPr>
            <a:r>
              <a:rPr lang="en-US" sz="1150" dirty="0">
                <a:solidFill>
                  <a:schemeClr val="accent5"/>
                </a:solidFill>
              </a:rPr>
              <a:t>Tambah berkala (misalnya tiap bulan) dan cek konfirmasi transaksi dari KSEI.</a:t>
            </a:r>
            <a:endParaRPr lang="en-US" sz="1150" dirty="0"/>
          </a:p>
        </p:txBody>
      </p:sp>
      <p:sp>
        <p:nvSpPr>
          <p:cNvPr id="34" name="Kartu tips"/>
          <p:cNvSpPr/>
          <p:nvPr/>
        </p:nvSpPr>
        <p:spPr>
          <a:xfrm>
            <a:off x="7498080" y="1325880"/>
            <a:ext cx="4160520" cy="4526280"/>
          </a:xfrm>
          <a:prstGeom prst="roundRect">
            <a:avLst>
              <a:gd name="adj" fmla="val 2637"/>
            </a:avLst>
          </a:prstGeom>
          <a:solidFill>
            <a:schemeClr val="tx1"/>
          </a:solidFill>
          <a:ln w="12700">
            <a:solidFill>
              <a:schemeClr val="tx1"/>
            </a:solidFill>
            <a:prstDash val="solid"/>
          </a:ln>
        </p:spPr>
      </p:sp>
      <p:sp>
        <p:nvSpPr>
          <p:cNvPr id="35" name="Tips mahasiswa lingkaran"/>
          <p:cNvSpPr/>
          <p:nvPr/>
        </p:nvSpPr>
        <p:spPr>
          <a:xfrm>
            <a:off x="7772400" y="1600200"/>
            <a:ext cx="731520" cy="731520"/>
          </a:xfrm>
          <a:prstGeom prst="ellipse">
            <a:avLst/>
          </a:prstGeom>
          <a:solidFill>
            <a:schemeClr val="accent2"/>
          </a:solidFill>
          <a:ln w="12700">
            <a:solidFill>
              <a:schemeClr val="accent2"/>
            </a:solidFill>
            <a:prstDash val="solid"/>
          </a:ln>
        </p:spPr>
      </p:sp>
      <p:pic>
        <p:nvPicPr>
          <p:cNvPr id="36" name="Tips mahasiswa ikon" descr="preencoded.png">    </p:cNvPr>
          <p:cNvPicPr>
            <a:picLocks noChangeAspect="1"/>
          </p:cNvPicPr>
          <p:nvPr/>
        </p:nvPicPr>
        <p:blipFill>
          <a:blip r:embed="rId7"/>
          <a:stretch>
            <a:fillRect/>
          </a:stretch>
        </p:blipFill>
        <p:spPr>
          <a:xfrm>
            <a:off x="7955280" y="1783080"/>
            <a:ext cx="365760" cy="365760"/>
          </a:xfrm>
          <a:prstGeom prst="rect">
            <a:avLst/>
          </a:prstGeom>
        </p:spPr>
      </p:pic>
      <p:sp>
        <p:nvSpPr>
          <p:cNvPr id="37" name="Text 29"/>
          <p:cNvSpPr txBox="1"/>
          <p:nvPr/>
        </p:nvSpPr>
        <p:spPr>
          <a:xfrm>
            <a:off x="7772400" y="2468880"/>
            <a:ext cx="3657600" cy="411480"/>
          </a:xfrm>
          <a:prstGeom prst="rect">
            <a:avLst/>
          </a:prstGeom>
          <a:noFill/>
          <a:ln/>
        </p:spPr>
        <p:txBody>
          <a:bodyPr wrap="square" lIns="0" tIns="0" rIns="0" bIns="0" rtlCol="0" anchor="t"/>
          <a:lstStyle/>
          <a:p>
            <a:pPr indent="0" marL="0">
              <a:buNone/>
            </a:pPr>
            <a:r>
              <a:rPr lang="en-US" sz="1800" b="1" dirty="0">
                <a:solidFill>
                  <a:schemeClr val="accent2"/>
                </a:solidFill>
              </a:rPr>
              <a:t>Tips untuk mahasiswa</a:t>
            </a:r>
            <a:endParaRPr lang="en-US" sz="1800" dirty="0"/>
          </a:p>
        </p:txBody>
      </p:sp>
      <p:sp>
        <p:nvSpPr>
          <p:cNvPr id="38" name="Text 30"/>
          <p:cNvSpPr txBox="1"/>
          <p:nvPr/>
        </p:nvSpPr>
        <p:spPr>
          <a:xfrm>
            <a:off x="7772400" y="2971800"/>
            <a:ext cx="3611880" cy="274320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bg1"/>
                </a:solidFill>
              </a:rPr>
              <a:t>Sisihkan di awal, bukan dari sisa uang bulanan.</a:t>
            </a:r>
            <a:endParaRPr lang="en-US" sz="1300" dirty="0"/>
          </a:p>
          <a:p>
            <a:pPr marL="177800" indent="-177800">
              <a:spcAft>
                <a:spcPts val="800"/>
              </a:spcAft>
              <a:buSzPct val="100000"/>
              <a:buChar char="•"/>
            </a:pPr>
            <a:r>
              <a:rPr lang="en-US" sz="1300" dirty="0">
                <a:solidFill>
                  <a:schemeClr val="bg1"/>
                </a:solidFill>
              </a:rPr>
              <a:t>Mulai dari Rp50.000 sampai Rp100.000 per bulan sudah cukup untuk membangun kebiasaan.</a:t>
            </a:r>
            <a:endParaRPr lang="en-US" sz="1300" dirty="0"/>
          </a:p>
          <a:p>
            <a:pPr marL="177800" indent="-177800">
              <a:spcAft>
                <a:spcPts val="800"/>
              </a:spcAft>
              <a:buSzPct val="100000"/>
              <a:buChar char="•"/>
            </a:pPr>
            <a:r>
              <a:rPr lang="en-US" sz="1300" dirty="0">
                <a:solidFill>
                  <a:schemeClr val="bg1"/>
                </a:solidFill>
              </a:rPr>
              <a:t>Pisahkan RDPU untuk dana darurat dari uang jajan.</a:t>
            </a:r>
            <a:endParaRPr lang="en-US" sz="1300" dirty="0"/>
          </a:p>
          <a:p>
            <a:pPr marL="177800" indent="-177800">
              <a:spcAft>
                <a:spcPts val="800"/>
              </a:spcAft>
              <a:buSzPct val="100000"/>
              <a:buChar char="•"/>
            </a:pPr>
            <a:r>
              <a:rPr lang="en-US" sz="1300" dirty="0">
                <a:solidFill>
                  <a:schemeClr val="bg1"/>
                </a:solidFill>
              </a:rPr>
              <a:t>Jangan pakai uang pinjaman untuk berinvestasi.</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Kapan RDPU tepat dipakai, dan kapan tidak</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Text 2"/>
          <p:cNvSpPr txBox="1"/>
          <p:nvPr/>
        </p:nvSpPr>
        <p:spPr>
          <a:xfrm>
            <a:off x="548640" y="1280160"/>
            <a:ext cx="6400800" cy="365760"/>
          </a:xfrm>
          <a:prstGeom prst="rect">
            <a:avLst/>
          </a:prstGeom>
          <a:noFill/>
          <a:ln/>
        </p:spPr>
        <p:txBody>
          <a:bodyPr wrap="square" lIns="0" tIns="0" rIns="0" bIns="0" rtlCol="0" anchor="t"/>
          <a:lstStyle/>
          <a:p>
            <a:pPr indent="0" marL="0">
              <a:buNone/>
            </a:pPr>
            <a:r>
              <a:rPr lang="en-US" sz="1600" b="1" dirty="0">
                <a:solidFill>
                  <a:schemeClr val="accent1"/>
                </a:solidFill>
              </a:rPr>
              <a:t>Tepat dipakai untuk</a:t>
            </a:r>
            <a:endParaRPr lang="en-US" sz="1600" dirty="0"/>
          </a:p>
        </p:txBody>
      </p:sp>
      <p:sp>
        <p:nvSpPr>
          <p:cNvPr id="5" name="Kegunaan Dana darurat"/>
          <p:cNvSpPr/>
          <p:nvPr/>
        </p:nvSpPr>
        <p:spPr>
          <a:xfrm>
            <a:off x="548640" y="1737360"/>
            <a:ext cx="3383280" cy="1828800"/>
          </a:xfrm>
          <a:prstGeom prst="roundRect">
            <a:avLst>
              <a:gd name="adj" fmla="val 6000"/>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6" name="Dana darurat lingkaran"/>
          <p:cNvSpPr/>
          <p:nvPr/>
        </p:nvSpPr>
        <p:spPr>
          <a:xfrm>
            <a:off x="777240" y="1965960"/>
            <a:ext cx="640080" cy="640080"/>
          </a:xfrm>
          <a:prstGeom prst="ellipse">
            <a:avLst/>
          </a:prstGeom>
          <a:solidFill>
            <a:schemeClr val="accent1"/>
          </a:solidFill>
          <a:ln w="12700">
            <a:solidFill>
              <a:schemeClr val="accent1"/>
            </a:solidFill>
            <a:prstDash val="solid"/>
          </a:ln>
        </p:spPr>
      </p:sp>
      <p:pic>
        <p:nvPicPr>
          <p:cNvPr id="7" name="Dana darurat ikon" descr="preencoded.png">    </p:cNvPr>
          <p:cNvPicPr>
            <a:picLocks noChangeAspect="1"/>
          </p:cNvPicPr>
          <p:nvPr/>
        </p:nvPicPr>
        <p:blipFill>
          <a:blip r:embed="rId2"/>
          <a:stretch>
            <a:fillRect/>
          </a:stretch>
        </p:blipFill>
        <p:spPr>
          <a:xfrm>
            <a:off x="937260" y="2125980"/>
            <a:ext cx="320040" cy="320040"/>
          </a:xfrm>
          <a:prstGeom prst="rect">
            <a:avLst/>
          </a:prstGeom>
        </p:spPr>
      </p:pic>
      <p:sp>
        <p:nvSpPr>
          <p:cNvPr id="8" name="Text 5"/>
          <p:cNvSpPr txBox="1"/>
          <p:nvPr/>
        </p:nvSpPr>
        <p:spPr>
          <a:xfrm>
            <a:off x="1554480" y="2011680"/>
            <a:ext cx="2286000" cy="548640"/>
          </a:xfrm>
          <a:prstGeom prst="rect">
            <a:avLst/>
          </a:prstGeom>
          <a:noFill/>
          <a:ln/>
        </p:spPr>
        <p:txBody>
          <a:bodyPr wrap="square" lIns="0" tIns="0" rIns="0" bIns="0" rtlCol="0" anchor="ctr"/>
          <a:lstStyle/>
          <a:p>
            <a:pPr indent="0" marL="0">
              <a:buNone/>
            </a:pPr>
            <a:r>
              <a:rPr lang="en-US" sz="1450" b="1" dirty="0">
                <a:solidFill>
                  <a:schemeClr val="tx1"/>
                </a:solidFill>
              </a:rPr>
              <a:t>Dana darurat</a:t>
            </a:r>
            <a:endParaRPr lang="en-US" sz="1450" dirty="0"/>
          </a:p>
        </p:txBody>
      </p:sp>
      <p:sp>
        <p:nvSpPr>
          <p:cNvPr id="9" name="Text 6"/>
          <p:cNvSpPr txBox="1"/>
          <p:nvPr/>
        </p:nvSpPr>
        <p:spPr>
          <a:xfrm>
            <a:off x="777240" y="2697480"/>
            <a:ext cx="2971800" cy="822960"/>
          </a:xfrm>
          <a:prstGeom prst="rect">
            <a:avLst/>
          </a:prstGeom>
          <a:noFill/>
          <a:ln/>
        </p:spPr>
        <p:txBody>
          <a:bodyPr wrap="square" lIns="0" tIns="0" rIns="0" bIns="0" rtlCol="0" anchor="t"/>
          <a:lstStyle/>
          <a:p>
            <a:pPr indent="0" marL="0">
              <a:buNone/>
            </a:pPr>
            <a:r>
              <a:rPr lang="en-US" sz="1200" dirty="0">
                <a:solidFill>
                  <a:schemeClr val="accent5"/>
                </a:solidFill>
              </a:rPr>
              <a:t>Bisa dicairkan cepat dan nilainya stabil.</a:t>
            </a:r>
            <a:endParaRPr lang="en-US" sz="1200" dirty="0"/>
          </a:p>
        </p:txBody>
      </p:sp>
      <p:sp>
        <p:nvSpPr>
          <p:cNvPr id="10" name="Kegunaan Tujuan di bawah 1 tahun"/>
          <p:cNvSpPr/>
          <p:nvPr/>
        </p:nvSpPr>
        <p:spPr>
          <a:xfrm>
            <a:off x="4160520" y="1737360"/>
            <a:ext cx="3383280" cy="1828800"/>
          </a:xfrm>
          <a:prstGeom prst="roundRect">
            <a:avLst>
              <a:gd name="adj" fmla="val 6000"/>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Tujuan di bawah 1 tahun lingkaran"/>
          <p:cNvSpPr/>
          <p:nvPr/>
        </p:nvSpPr>
        <p:spPr>
          <a:xfrm>
            <a:off x="4389120" y="1965960"/>
            <a:ext cx="640080" cy="640080"/>
          </a:xfrm>
          <a:prstGeom prst="ellipse">
            <a:avLst/>
          </a:prstGeom>
          <a:solidFill>
            <a:schemeClr val="accent1"/>
          </a:solidFill>
          <a:ln w="12700">
            <a:solidFill>
              <a:schemeClr val="accent1"/>
            </a:solidFill>
            <a:prstDash val="solid"/>
          </a:ln>
        </p:spPr>
      </p:sp>
      <p:pic>
        <p:nvPicPr>
          <p:cNvPr id="12" name="Tujuan di bawah 1 tahun ikon" descr="preencoded.png">    </p:cNvPr>
          <p:cNvPicPr>
            <a:picLocks noChangeAspect="1"/>
          </p:cNvPicPr>
          <p:nvPr/>
        </p:nvPicPr>
        <p:blipFill>
          <a:blip r:embed="rId3"/>
          <a:stretch>
            <a:fillRect/>
          </a:stretch>
        </p:blipFill>
        <p:spPr>
          <a:xfrm>
            <a:off x="4549140" y="2125980"/>
            <a:ext cx="320040" cy="320040"/>
          </a:xfrm>
          <a:prstGeom prst="rect">
            <a:avLst/>
          </a:prstGeom>
        </p:spPr>
      </p:pic>
      <p:sp>
        <p:nvSpPr>
          <p:cNvPr id="13" name="Text 9"/>
          <p:cNvSpPr txBox="1"/>
          <p:nvPr/>
        </p:nvSpPr>
        <p:spPr>
          <a:xfrm>
            <a:off x="5166360" y="2011680"/>
            <a:ext cx="2286000" cy="548640"/>
          </a:xfrm>
          <a:prstGeom prst="rect">
            <a:avLst/>
          </a:prstGeom>
          <a:noFill/>
          <a:ln/>
        </p:spPr>
        <p:txBody>
          <a:bodyPr wrap="square" lIns="0" tIns="0" rIns="0" bIns="0" rtlCol="0" anchor="ctr"/>
          <a:lstStyle/>
          <a:p>
            <a:pPr indent="0" marL="0">
              <a:buNone/>
            </a:pPr>
            <a:r>
              <a:rPr lang="en-US" sz="1450" b="1" dirty="0">
                <a:solidFill>
                  <a:schemeClr val="tx1"/>
                </a:solidFill>
              </a:rPr>
              <a:t>Tujuan di bawah 1 tahun</a:t>
            </a:r>
            <a:endParaRPr lang="en-US" sz="1450" dirty="0"/>
          </a:p>
        </p:txBody>
      </p:sp>
      <p:sp>
        <p:nvSpPr>
          <p:cNvPr id="14" name="Text 10"/>
          <p:cNvSpPr txBox="1"/>
          <p:nvPr/>
        </p:nvSpPr>
        <p:spPr>
          <a:xfrm>
            <a:off x="4389120" y="2697480"/>
            <a:ext cx="2971800" cy="822960"/>
          </a:xfrm>
          <a:prstGeom prst="rect">
            <a:avLst/>
          </a:prstGeom>
          <a:noFill/>
          <a:ln/>
        </p:spPr>
        <p:txBody>
          <a:bodyPr wrap="square" lIns="0" tIns="0" rIns="0" bIns="0" rtlCol="0" anchor="t"/>
          <a:lstStyle/>
          <a:p>
            <a:pPr indent="0" marL="0">
              <a:buNone/>
            </a:pPr>
            <a:r>
              <a:rPr lang="en-US" sz="1200" dirty="0">
                <a:solidFill>
                  <a:schemeClr val="accent5"/>
                </a:solidFill>
              </a:rPr>
              <a:t>Contoh: biaya KKN, laptop, atau UKT semester depan.</a:t>
            </a:r>
            <a:endParaRPr lang="en-US" sz="1200" dirty="0"/>
          </a:p>
        </p:txBody>
      </p:sp>
      <p:sp>
        <p:nvSpPr>
          <p:cNvPr id="15" name="Kegunaan Tempat parkir sementara"/>
          <p:cNvSpPr/>
          <p:nvPr/>
        </p:nvSpPr>
        <p:spPr>
          <a:xfrm>
            <a:off x="548640" y="3749040"/>
            <a:ext cx="3383280" cy="1828800"/>
          </a:xfrm>
          <a:prstGeom prst="roundRect">
            <a:avLst>
              <a:gd name="adj" fmla="val 6000"/>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6" name="Tempat parkir sementara lingkaran"/>
          <p:cNvSpPr/>
          <p:nvPr/>
        </p:nvSpPr>
        <p:spPr>
          <a:xfrm>
            <a:off x="777240" y="3977640"/>
            <a:ext cx="640080" cy="640080"/>
          </a:xfrm>
          <a:prstGeom prst="ellipse">
            <a:avLst/>
          </a:prstGeom>
          <a:solidFill>
            <a:schemeClr val="accent1"/>
          </a:solidFill>
          <a:ln w="12700">
            <a:solidFill>
              <a:schemeClr val="accent1"/>
            </a:solidFill>
            <a:prstDash val="solid"/>
          </a:ln>
        </p:spPr>
      </p:sp>
      <p:pic>
        <p:nvPicPr>
          <p:cNvPr id="17" name="Tempat parkir sementara ikon" descr="preencoded.png">    </p:cNvPr>
          <p:cNvPicPr>
            <a:picLocks noChangeAspect="1"/>
          </p:cNvPicPr>
          <p:nvPr/>
        </p:nvPicPr>
        <p:blipFill>
          <a:blip r:embed="rId4"/>
          <a:stretch>
            <a:fillRect/>
          </a:stretch>
        </p:blipFill>
        <p:spPr>
          <a:xfrm>
            <a:off x="937260" y="4137660"/>
            <a:ext cx="320040" cy="320040"/>
          </a:xfrm>
          <a:prstGeom prst="rect">
            <a:avLst/>
          </a:prstGeom>
        </p:spPr>
      </p:pic>
      <p:sp>
        <p:nvSpPr>
          <p:cNvPr id="18" name="Text 13"/>
          <p:cNvSpPr txBox="1"/>
          <p:nvPr/>
        </p:nvSpPr>
        <p:spPr>
          <a:xfrm>
            <a:off x="1554480" y="4023360"/>
            <a:ext cx="2286000" cy="548640"/>
          </a:xfrm>
          <a:prstGeom prst="rect">
            <a:avLst/>
          </a:prstGeom>
          <a:noFill/>
          <a:ln/>
        </p:spPr>
        <p:txBody>
          <a:bodyPr wrap="square" lIns="0" tIns="0" rIns="0" bIns="0" rtlCol="0" anchor="ctr"/>
          <a:lstStyle/>
          <a:p>
            <a:pPr indent="0" marL="0">
              <a:buNone/>
            </a:pPr>
            <a:r>
              <a:rPr lang="en-US" sz="1450" b="1" dirty="0">
                <a:solidFill>
                  <a:schemeClr val="tx1"/>
                </a:solidFill>
              </a:rPr>
              <a:t>Tempat parkir sementara</a:t>
            </a:r>
            <a:endParaRPr lang="en-US" sz="1450" dirty="0"/>
          </a:p>
        </p:txBody>
      </p:sp>
      <p:sp>
        <p:nvSpPr>
          <p:cNvPr id="19" name="Text 14"/>
          <p:cNvSpPr txBox="1"/>
          <p:nvPr/>
        </p:nvSpPr>
        <p:spPr>
          <a:xfrm>
            <a:off x="777240" y="4709160"/>
            <a:ext cx="2971800" cy="822960"/>
          </a:xfrm>
          <a:prstGeom prst="rect">
            <a:avLst/>
          </a:prstGeom>
          <a:noFill/>
          <a:ln/>
        </p:spPr>
        <p:txBody>
          <a:bodyPr wrap="square" lIns="0" tIns="0" rIns="0" bIns="0" rtlCol="0" anchor="t"/>
          <a:lstStyle/>
          <a:p>
            <a:pPr indent="0" marL="0">
              <a:buNone/>
            </a:pPr>
            <a:r>
              <a:rPr lang="en-US" sz="1200" dirty="0">
                <a:solidFill>
                  <a:schemeClr val="accent5"/>
                </a:solidFill>
              </a:rPr>
              <a:t>Menampung dana sebelum dipindah ke instrumen lain.</a:t>
            </a:r>
            <a:endParaRPr lang="en-US" sz="1200" dirty="0"/>
          </a:p>
        </p:txBody>
      </p:sp>
      <p:sp>
        <p:nvSpPr>
          <p:cNvPr id="20" name="Kegunaan Belajar berinvestasi"/>
          <p:cNvSpPr/>
          <p:nvPr/>
        </p:nvSpPr>
        <p:spPr>
          <a:xfrm>
            <a:off x="4160520" y="3749040"/>
            <a:ext cx="3383280" cy="1828800"/>
          </a:xfrm>
          <a:prstGeom prst="roundRect">
            <a:avLst>
              <a:gd name="adj" fmla="val 6000"/>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1" name="Belajar berinvestasi lingkaran"/>
          <p:cNvSpPr/>
          <p:nvPr/>
        </p:nvSpPr>
        <p:spPr>
          <a:xfrm>
            <a:off x="4389120" y="3977640"/>
            <a:ext cx="640080" cy="640080"/>
          </a:xfrm>
          <a:prstGeom prst="ellipse">
            <a:avLst/>
          </a:prstGeom>
          <a:solidFill>
            <a:schemeClr val="accent1"/>
          </a:solidFill>
          <a:ln w="12700">
            <a:solidFill>
              <a:schemeClr val="accent1"/>
            </a:solidFill>
            <a:prstDash val="solid"/>
          </a:ln>
        </p:spPr>
      </p:sp>
      <p:pic>
        <p:nvPicPr>
          <p:cNvPr id="22" name="Belajar berinvestasi ikon" descr="preencoded.png">    </p:cNvPr>
          <p:cNvPicPr>
            <a:picLocks noChangeAspect="1"/>
          </p:cNvPicPr>
          <p:nvPr/>
        </p:nvPicPr>
        <p:blipFill>
          <a:blip r:embed="rId5"/>
          <a:stretch>
            <a:fillRect/>
          </a:stretch>
        </p:blipFill>
        <p:spPr>
          <a:xfrm>
            <a:off x="4549140" y="4137660"/>
            <a:ext cx="320040" cy="320040"/>
          </a:xfrm>
          <a:prstGeom prst="rect">
            <a:avLst/>
          </a:prstGeom>
        </p:spPr>
      </p:pic>
      <p:sp>
        <p:nvSpPr>
          <p:cNvPr id="23" name="Text 17"/>
          <p:cNvSpPr txBox="1"/>
          <p:nvPr/>
        </p:nvSpPr>
        <p:spPr>
          <a:xfrm>
            <a:off x="5166360" y="4023360"/>
            <a:ext cx="2286000" cy="548640"/>
          </a:xfrm>
          <a:prstGeom prst="rect">
            <a:avLst/>
          </a:prstGeom>
          <a:noFill/>
          <a:ln/>
        </p:spPr>
        <p:txBody>
          <a:bodyPr wrap="square" lIns="0" tIns="0" rIns="0" bIns="0" rtlCol="0" anchor="ctr"/>
          <a:lstStyle/>
          <a:p>
            <a:pPr indent="0" marL="0">
              <a:buNone/>
            </a:pPr>
            <a:r>
              <a:rPr lang="en-US" sz="1450" b="1" dirty="0">
                <a:solidFill>
                  <a:schemeClr val="tx1"/>
                </a:solidFill>
              </a:rPr>
              <a:t>Belajar berinvestasi</a:t>
            </a:r>
            <a:endParaRPr lang="en-US" sz="1450" dirty="0"/>
          </a:p>
        </p:txBody>
      </p:sp>
      <p:sp>
        <p:nvSpPr>
          <p:cNvPr id="24" name="Text 18"/>
          <p:cNvSpPr txBox="1"/>
          <p:nvPr/>
        </p:nvSpPr>
        <p:spPr>
          <a:xfrm>
            <a:off x="4389120" y="4709160"/>
            <a:ext cx="2971800" cy="822960"/>
          </a:xfrm>
          <a:prstGeom prst="rect">
            <a:avLst/>
          </a:prstGeom>
          <a:noFill/>
          <a:ln/>
        </p:spPr>
        <p:txBody>
          <a:bodyPr wrap="square" lIns="0" tIns="0" rIns="0" bIns="0" rtlCol="0" anchor="t"/>
          <a:lstStyle/>
          <a:p>
            <a:pPr indent="0" marL="0">
              <a:buNone/>
            </a:pPr>
            <a:r>
              <a:rPr lang="en-US" sz="1200" dirty="0">
                <a:solidFill>
                  <a:schemeClr val="accent5"/>
                </a:solidFill>
              </a:rPr>
              <a:t>Risiko kecil, cocok untuk membiasakan diri membaca NAB dan laporan.</a:t>
            </a:r>
            <a:endParaRPr lang="en-US" sz="1200" dirty="0"/>
          </a:p>
        </p:txBody>
      </p:sp>
      <p:sp>
        <p:nvSpPr>
          <p:cNvPr id="25" name="Kartu kurang tepat"/>
          <p:cNvSpPr/>
          <p:nvPr/>
        </p:nvSpPr>
        <p:spPr>
          <a:xfrm>
            <a:off x="7909560" y="1280160"/>
            <a:ext cx="3749040" cy="4572000"/>
          </a:xfrm>
          <a:prstGeom prst="roundRect">
            <a:avLst>
              <a:gd name="adj" fmla="val 2927"/>
            </a:avLst>
          </a:prstGeom>
          <a:solidFill>
            <a:schemeClr val="bg2"/>
          </a:solidFill>
          <a:ln w="12700">
            <a:solidFill>
              <a:schemeClr val="bg2"/>
            </a:solidFill>
            <a:prstDash val="solid"/>
          </a:ln>
        </p:spPr>
      </p:sp>
      <p:sp>
        <p:nvSpPr>
          <p:cNvPr id="26" name="Text 20"/>
          <p:cNvSpPr txBox="1"/>
          <p:nvPr/>
        </p:nvSpPr>
        <p:spPr>
          <a:xfrm>
            <a:off x="8183880" y="1463040"/>
            <a:ext cx="3291840" cy="365760"/>
          </a:xfrm>
          <a:prstGeom prst="rect">
            <a:avLst/>
          </a:prstGeom>
          <a:noFill/>
          <a:ln/>
        </p:spPr>
        <p:txBody>
          <a:bodyPr wrap="square" lIns="0" tIns="0" rIns="0" bIns="0" rtlCol="0" anchor="t"/>
          <a:lstStyle/>
          <a:p>
            <a:pPr indent="0" marL="0">
              <a:buNone/>
            </a:pPr>
            <a:r>
              <a:rPr lang="en-US" sz="1600" b="1" dirty="0">
                <a:solidFill>
                  <a:schemeClr val="accent4"/>
                </a:solidFill>
              </a:rPr>
              <a:t>Kurang tepat untuk</a:t>
            </a:r>
            <a:endParaRPr lang="en-US" sz="1600" dirty="0"/>
          </a:p>
        </p:txBody>
      </p:sp>
      <p:sp>
        <p:nvSpPr>
          <p:cNvPr id="27" name="Text 21"/>
          <p:cNvSpPr txBox="1"/>
          <p:nvPr/>
        </p:nvSpPr>
        <p:spPr>
          <a:xfrm>
            <a:off x="8183880" y="1965960"/>
            <a:ext cx="3246120" cy="3749040"/>
          </a:xfrm>
          <a:prstGeom prst="rect">
            <a:avLst/>
          </a:prstGeom>
          <a:noFill/>
          <a:ln/>
        </p:spPr>
        <p:txBody>
          <a:bodyPr wrap="square" lIns="0" tIns="0" rIns="0" bIns="0" rtlCol="0" anchor="t"/>
          <a:lstStyle/>
          <a:p>
            <a:pPr marL="177800" indent="-177800">
              <a:spcAft>
                <a:spcPts val="1000"/>
              </a:spcAft>
              <a:buSzPct val="100000"/>
              <a:buChar char="•"/>
            </a:pPr>
            <a:r>
              <a:rPr lang="en-US" sz="1300" dirty="0">
                <a:solidFill>
                  <a:schemeClr val="tx1"/>
                </a:solidFill>
              </a:rPr>
              <a:t>Tujuan jangka panjang di atas 5 tahun, seperti dana pensiun. Return-nya bisa kalah dari instrumen yang lebih agresif.</a:t>
            </a:r>
            <a:endParaRPr lang="en-US" sz="1300" dirty="0"/>
          </a:p>
          <a:p>
            <a:pPr marL="177800" indent="-177800">
              <a:spcAft>
                <a:spcPts val="1000"/>
              </a:spcAft>
              <a:buSzPct val="100000"/>
              <a:buChar char="•"/>
            </a:pPr>
            <a:r>
              <a:rPr lang="en-US" sz="1300" dirty="0">
                <a:solidFill>
                  <a:schemeClr val="tx1"/>
                </a:solidFill>
              </a:rPr>
              <a:t>Mengejar untung besar dalam waktu singkat.</a:t>
            </a:r>
            <a:endParaRPr lang="en-US" sz="1300" dirty="0"/>
          </a:p>
          <a:p>
            <a:pPr marL="177800" indent="-177800">
              <a:spcAft>
                <a:spcPts val="1000"/>
              </a:spcAft>
              <a:buSzPct val="100000"/>
              <a:buChar char="•"/>
            </a:pPr>
            <a:r>
              <a:rPr lang="en-US" sz="1300" dirty="0">
                <a:solidFill>
                  <a:schemeClr val="tx1"/>
                </a:solidFill>
              </a:rPr>
              <a:t>Pengganti tabungan untuk transaksi harian, karena pencairannya butuh 1 sampai 2 hari bursa.</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2240280"/>
            <a:ext cx="3657600" cy="411480"/>
          </a:xfrm>
          <a:prstGeom prst="rect">
            <a:avLst/>
          </a:prstGeom>
          <a:noFill/>
          <a:ln/>
        </p:spPr>
        <p:txBody>
          <a:bodyPr wrap="square" lIns="0" tIns="0" rIns="0" bIns="0" rtlCol="0" anchor="t"/>
          <a:lstStyle/>
          <a:p>
            <a:pPr indent="0" marL="0">
              <a:buNone/>
            </a:pPr>
            <a:r>
              <a:rPr lang="en-US" sz="1400" b="1" spc="400" kern="0" dirty="0">
                <a:solidFill>
                  <a:schemeClr val="accent2"/>
                </a:solidFill>
              </a:rPr>
              <a:t>BAGIAN 06</a:t>
            </a:r>
            <a:endParaRPr lang="en-US" sz="1400" dirty="0"/>
          </a:p>
        </p:txBody>
      </p:sp>
      <p:sp>
        <p:nvSpPr>
          <p:cNvPr id="3" name="Text 0"/>
          <p:cNvSpPr/>
          <p:nvPr>
            <p:ph idx="101" type="title" hasCustomPrompt="1"/>
          </p:nvPr>
        </p:nvSpPr>
        <p:spPr>
          <a:xfrm>
            <a:off x="731520" y="2834640"/>
            <a:ext cx="8229600" cy="118872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Kuis interaktif</a:t>
            </a:r>
            <a:endParaRPr lang="en-US" sz="3600" dirty="0"/>
          </a:p>
        </p:txBody>
      </p:sp>
      <p:sp>
        <p:nvSpPr>
          <p:cNvPr id="4" name="Text 0"/>
          <p:cNvSpPr/>
          <p:nvPr>
            <p:ph idx="102" type="body" hasCustomPrompt="1"/>
          </p:nvPr>
        </p:nvSpPr>
        <p:spPr>
          <a:xfrm>
            <a:off x="731520" y="4069080"/>
            <a:ext cx="7680960" cy="914400"/>
          </a:xfrm>
          <a:prstGeom prst="rect">
            <a:avLst/>
          </a:prstGeom>
          <a:noFill/>
          <a:ln/>
        </p:spPr>
        <p:txBody>
          <a:bodyPr wrap="square" lIns="0" tIns="0" rIns="0" bIns="0" rtlCol="0" anchor="t"/>
          <a:lstStyle/>
          <a:p>
            <a:pPr indent="0" marL="0">
              <a:buNone/>
            </a:pPr>
            <a:r>
              <a:rPr lang="en-US" sz="1800" dirty="0">
                <a:solidFill>
                  <a:schemeClr val="accent6"/>
                </a:solidFill>
              </a:rPr>
              <a:t>Tiga soal. Klik jawaban pilihanmu untuk melihat pembahasannya.</a:t>
            </a:r>
            <a:endParaRPr lang="en-US" sz="1800" dirty="0"/>
          </a:p>
        </p:txBody>
      </p:sp>
      <p:sp>
        <p:nvSpPr>
          <p:cNvPr id="5" name="Text 3"/>
          <p:cNvSpPr txBox="1"/>
          <p:nvPr/>
        </p:nvSpPr>
        <p:spPr>
          <a:xfrm>
            <a:off x="8503920" y="2103120"/>
            <a:ext cx="4754880" cy="2743200"/>
          </a:xfrm>
          <a:prstGeom prst="rect">
            <a:avLst/>
          </a:prstGeom>
          <a:noFill/>
          <a:ln/>
        </p:spPr>
        <p:txBody>
          <a:bodyPr wrap="square" lIns="0" tIns="0" rIns="0" bIns="0" rtlCol="0" anchor="ctr"/>
          <a:lstStyle/>
          <a:p>
            <a:pPr algn="ctr" indent="0" marL="0">
              <a:buNone/>
            </a:pPr>
            <a:r>
              <a:rPr lang="en-US" sz="15000" b="1" dirty="0">
                <a:solidFill>
                  <a:schemeClr val="accent1"/>
                </a:solidFill>
                <a:latin typeface="Cambria" pitchFamily="34" charset="0"/>
                <a:ea typeface="Cambria" pitchFamily="34" charset="-122"/>
                <a:cs typeface="Cambria" pitchFamily="34" charset="-120"/>
              </a:rPr>
              <a:t>06</a:t>
            </a:r>
            <a:endParaRPr lang="en-US" sz="15000" dirty="0"/>
          </a:p>
        </p:txBody>
      </p:sp>
      <p:sp>
        <p:nvSpPr>
          <p:cNvPr id="6"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Soal 1 dari 3</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Text 2"/>
          <p:cNvSpPr txBox="1"/>
          <p:nvPr/>
        </p:nvSpPr>
        <p:spPr>
          <a:xfrm>
            <a:off x="548640" y="1371600"/>
            <a:ext cx="11064240" cy="10972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RDPU hanya boleh membeli efek utang yang jatuh tempo atau sisa jatuh temponya maksimal...</a:t>
            </a:r>
            <a:endParaRPr lang="en-US" sz="2400" dirty="0"/>
          </a:p>
        </p:txBody>
      </p:sp>
      <p:sp>
        <p:nvSpPr>
          <p:cNvPr id="5" name="Pilihan 1.1"/>
          <p:cNvSpPr txBox="1"/>
          <p:nvPr/>
        </p:nvSpPr>
        <p:spPr>
          <a:xfrm>
            <a:off x="548640" y="269748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2" action="ppaction://hlinksldjump" tooltip="Lihat pembahasan">
                  <a:extLst>
                    <a:ext uri="{A12FA001-AC4F-418D-AE19-62706E023703}">
                      <ahyp:hlinkClr xmlns:ahyp="http://schemas.microsoft.com/office/drawing/2018/hyperlinkcolor" val="tx"/>
                    </a:ext>
                  </a:extLst>
                </a:hlinkClick>
              </a:rPr>
              <a:t>A.  3 tahun</a:t>
            </a:r>
            <a:endParaRPr lang="en-US" sz="1800" dirty="0"/>
          </a:p>
        </p:txBody>
      </p:sp>
      <p:sp>
        <p:nvSpPr>
          <p:cNvPr id="6" name="Pilihan 1.2"/>
          <p:cNvSpPr txBox="1"/>
          <p:nvPr/>
        </p:nvSpPr>
        <p:spPr>
          <a:xfrm>
            <a:off x="548640" y="370332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3" action="ppaction://hlinksldjump" tooltip="Lihat pembahasan">
                  <a:extLst>
                    <a:ext uri="{A12FA001-AC4F-418D-AE19-62706E023703}">
                      <ahyp:hlinkClr xmlns:ahyp="http://schemas.microsoft.com/office/drawing/2018/hyperlinkcolor" val="tx"/>
                    </a:ext>
                  </a:extLst>
                </a:hlinkClick>
              </a:rPr>
              <a:t>B.  1 tahun</a:t>
            </a:r>
            <a:endParaRPr lang="en-US" sz="1800" dirty="0"/>
          </a:p>
        </p:txBody>
      </p:sp>
      <p:sp>
        <p:nvSpPr>
          <p:cNvPr id="7" name="Pilihan 1.3"/>
          <p:cNvSpPr txBox="1"/>
          <p:nvPr/>
        </p:nvSpPr>
        <p:spPr>
          <a:xfrm>
            <a:off x="548640" y="470916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4" action="ppaction://hlinksldjump" tooltip="Lihat pembahasan">
                  <a:extLst>
                    <a:ext uri="{A12FA001-AC4F-418D-AE19-62706E023703}">
                      <ahyp:hlinkClr xmlns:ahyp="http://schemas.microsoft.com/office/drawing/2018/hyperlinkcolor" val="tx"/>
                    </a:ext>
                  </a:extLst>
                </a:hlinkClick>
              </a:rPr>
              <a:t>C.  5 tahun</a:t>
            </a:r>
            <a:endParaRPr lang="en-US" sz="1800" dirty="0"/>
          </a:p>
        </p:txBody>
      </p:sp>
      <p:sp>
        <p:nvSpPr>
          <p:cNvPr id="8" name="Ikon soal lingkaran"/>
          <p:cNvSpPr/>
          <p:nvPr/>
        </p:nvSpPr>
        <p:spPr>
          <a:xfrm>
            <a:off x="9144000" y="2743200"/>
            <a:ext cx="2011680" cy="2011680"/>
          </a:xfrm>
          <a:prstGeom prst="ellipse">
            <a:avLst/>
          </a:prstGeom>
          <a:solidFill>
            <a:schemeClr val="accent2"/>
          </a:solidFill>
          <a:ln w="12700">
            <a:solidFill>
              <a:schemeClr val="accent2"/>
            </a:solidFill>
            <a:prstDash val="solid"/>
          </a:ln>
        </p:spPr>
      </p:sp>
      <p:pic>
        <p:nvPicPr>
          <p:cNvPr id="9" name="Ikon soal ikon" descr="preencoded.png">    </p:cNvPr>
          <p:cNvPicPr>
            <a:picLocks noChangeAspect="1"/>
          </p:cNvPicPr>
          <p:nvPr/>
        </p:nvPicPr>
        <p:blipFill>
          <a:blip r:embed="rId5"/>
          <a:stretch>
            <a:fillRect/>
          </a:stretch>
        </p:blipFill>
        <p:spPr>
          <a:xfrm>
            <a:off x="9646920" y="3246120"/>
            <a:ext cx="1005840" cy="1005840"/>
          </a:xfrm>
          <a:prstGeom prst="rect">
            <a:avLst/>
          </a:prstGeom>
        </p:spPr>
      </p:pic>
      <p:sp>
        <p:nvSpPr>
          <p:cNvPr id="10" name="Text 7"/>
          <p:cNvSpPr txBox="1"/>
          <p:nvPr/>
        </p:nvSpPr>
        <p:spPr>
          <a:xfrm>
            <a:off x="8595360" y="4937760"/>
            <a:ext cx="3108960" cy="457200"/>
          </a:xfrm>
          <a:prstGeom prst="rect">
            <a:avLst/>
          </a:prstGeom>
          <a:noFill/>
          <a:ln/>
        </p:spPr>
        <p:txBody>
          <a:bodyPr wrap="square" lIns="0" tIns="0" rIns="0" bIns="0" rtlCol="0" anchor="t"/>
          <a:lstStyle/>
          <a:p>
            <a:pPr algn="ctr" indent="0" marL="0">
              <a:buNone/>
            </a:pPr>
            <a:r>
              <a:rPr lang="en-US" sz="1200" dirty="0">
                <a:solidFill>
                  <a:schemeClr val="accent6"/>
                </a:solidFill>
              </a:rPr>
              <a:t>Diskusikan dulu, lalu klik jawaban.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Pembahasan soal 1</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Opsi 0"/>
          <p:cNvSpPr/>
          <p:nvPr/>
        </p:nvSpPr>
        <p:spPr>
          <a:xfrm>
            <a:off x="548640" y="1371600"/>
            <a:ext cx="6766560" cy="713232"/>
          </a:xfrm>
          <a:prstGeom prst="roundRect">
            <a:avLst>
              <a:gd name="adj" fmla="val 15385"/>
            </a:avLst>
          </a:prstGeom>
          <a:solidFill>
            <a:schemeClr val="bg2"/>
          </a:solidFill>
          <a:ln w="12700">
            <a:solidFill>
              <a:schemeClr val="bg2"/>
            </a:solidFill>
            <a:prstDash val="solid"/>
          </a:ln>
        </p:spPr>
      </p:sp>
      <p:sp>
        <p:nvSpPr>
          <p:cNvPr id="5" name="Text 3"/>
          <p:cNvSpPr txBox="1"/>
          <p:nvPr/>
        </p:nvSpPr>
        <p:spPr>
          <a:xfrm>
            <a:off x="777240" y="137160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A.  3 tahun</a:t>
            </a:r>
            <a:endParaRPr lang="en-US" sz="1400" dirty="0"/>
          </a:p>
        </p:txBody>
      </p:sp>
      <p:sp>
        <p:nvSpPr>
          <p:cNvPr id="6" name="Opsi 1"/>
          <p:cNvSpPr/>
          <p:nvPr/>
        </p:nvSpPr>
        <p:spPr>
          <a:xfrm>
            <a:off x="548640" y="2240280"/>
            <a:ext cx="6766560" cy="713232"/>
          </a:xfrm>
          <a:prstGeom prst="roundRect">
            <a:avLst>
              <a:gd name="adj" fmla="val 15385"/>
            </a:avLst>
          </a:prstGeom>
          <a:solidFill>
            <a:schemeClr val="accent1"/>
          </a:solidFill>
          <a:ln w="12700">
            <a:solidFill>
              <a:schemeClr val="accent1"/>
            </a:solidFill>
            <a:prstDash val="solid"/>
          </a:ln>
        </p:spPr>
      </p:sp>
      <p:sp>
        <p:nvSpPr>
          <p:cNvPr id="7" name="Text 5"/>
          <p:cNvSpPr txBox="1"/>
          <p:nvPr/>
        </p:nvSpPr>
        <p:spPr>
          <a:xfrm>
            <a:off x="777240" y="2240280"/>
            <a:ext cx="5897880" cy="713232"/>
          </a:xfrm>
          <a:prstGeom prst="rect">
            <a:avLst/>
          </a:prstGeom>
          <a:noFill/>
          <a:ln/>
        </p:spPr>
        <p:txBody>
          <a:bodyPr wrap="square" lIns="0" tIns="0" rIns="0" bIns="0" rtlCol="0" anchor="ctr"/>
          <a:lstStyle/>
          <a:p>
            <a:pPr indent="0" marL="0">
              <a:buNone/>
            </a:pPr>
            <a:r>
              <a:rPr lang="en-US" sz="1400" b="1" dirty="0">
                <a:solidFill>
                  <a:schemeClr val="bg1"/>
                </a:solidFill>
              </a:rPr>
              <a:t>B.  1 tahun</a:t>
            </a:r>
            <a:endParaRPr lang="en-US" sz="1400" dirty="0"/>
          </a:p>
        </p:txBody>
      </p:sp>
      <p:sp>
        <p:nvSpPr>
          <p:cNvPr id="8" name="Opsi 2"/>
          <p:cNvSpPr/>
          <p:nvPr/>
        </p:nvSpPr>
        <p:spPr>
          <a:xfrm>
            <a:off x="548640" y="3108960"/>
            <a:ext cx="6766560" cy="713232"/>
          </a:xfrm>
          <a:prstGeom prst="roundRect">
            <a:avLst>
              <a:gd name="adj" fmla="val 15385"/>
            </a:avLst>
          </a:prstGeom>
          <a:solidFill>
            <a:schemeClr val="bg2"/>
          </a:solidFill>
          <a:ln w="12700">
            <a:solidFill>
              <a:schemeClr val="bg2"/>
            </a:solidFill>
            <a:prstDash val="solid"/>
          </a:ln>
        </p:spPr>
      </p:sp>
      <p:sp>
        <p:nvSpPr>
          <p:cNvPr id="9" name="Text 7"/>
          <p:cNvSpPr txBox="1"/>
          <p:nvPr/>
        </p:nvSpPr>
        <p:spPr>
          <a:xfrm>
            <a:off x="777240" y="310896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C.  5 tahun</a:t>
            </a:r>
            <a:endParaRPr lang="en-US" sz="1400" dirty="0"/>
          </a:p>
        </p:txBody>
      </p:sp>
      <p:pic>
        <p:nvPicPr>
          <p:cNvPr id="10" name="Tanda benar" descr="preencoded.png">    </p:cNvPr>
          <p:cNvPicPr>
            <a:picLocks noChangeAspect="1"/>
          </p:cNvPicPr>
          <p:nvPr/>
        </p:nvPicPr>
        <p:blipFill>
          <a:blip r:embed="rId2"/>
          <a:stretch>
            <a:fillRect/>
          </a:stretch>
        </p:blipFill>
        <p:spPr>
          <a:xfrm>
            <a:off x="6766560" y="2423160"/>
            <a:ext cx="347472" cy="347472"/>
          </a:xfrm>
          <a:prstGeom prst="rect">
            <a:avLst/>
          </a:prstGeom>
        </p:spPr>
      </p:pic>
      <p:sp>
        <p:nvSpPr>
          <p:cNvPr id="11" name="Kartu pembahasan"/>
          <p:cNvSpPr/>
          <p:nvPr/>
        </p:nvSpPr>
        <p:spPr>
          <a:xfrm>
            <a:off x="7635240" y="1371600"/>
            <a:ext cx="4023360" cy="2514600"/>
          </a:xfrm>
          <a:prstGeom prst="roundRect">
            <a:avLst>
              <a:gd name="adj" fmla="val 4364"/>
            </a:avLst>
          </a:prstGeom>
          <a:solidFill>
            <a:schemeClr val="tx1"/>
          </a:solidFill>
          <a:ln w="12700">
            <a:solidFill>
              <a:schemeClr val="tx1"/>
            </a:solidFill>
            <a:prstDash val="solid"/>
          </a:ln>
        </p:spPr>
      </p:sp>
      <p:sp>
        <p:nvSpPr>
          <p:cNvPr id="12" name="Text 9"/>
          <p:cNvSpPr txBox="1"/>
          <p:nvPr/>
        </p:nvSpPr>
        <p:spPr>
          <a:xfrm>
            <a:off x="7863840" y="1554480"/>
            <a:ext cx="3611880" cy="2194560"/>
          </a:xfrm>
          <a:prstGeom prst="rect">
            <a:avLst/>
          </a:prstGeom>
          <a:noFill/>
          <a:ln/>
        </p:spPr>
        <p:txBody>
          <a:bodyPr wrap="square" lIns="0" tIns="0" rIns="0" bIns="0" rtlCol="0" anchor="t"/>
          <a:lstStyle/>
          <a:p>
            <a:pPr indent="0" marL="0">
              <a:buNone/>
            </a:pPr>
            <a:r>
              <a:rPr lang="en-US" sz="1500" dirty="0">
                <a:solidFill>
                  <a:schemeClr val="bg1"/>
                </a:solidFill>
              </a:rPr>
              <a:t>Jawaban B, 1 tahun. Batas tenor pendek inilah yang membuat NAB/UP RDPU stabil dan risikonya paling rendah di antara jenis reksa dana lain.</a:t>
            </a:r>
            <a:endParaRPr lang="en-US" sz="1500" dirty="0"/>
          </a:p>
        </p:txBody>
      </p:sp>
      <p:sp>
        <p:nvSpPr>
          <p:cNvPr id="13" name="Tombol lanjut"/>
          <p:cNvSpPr txBox="1"/>
          <p:nvPr/>
        </p:nvSpPr>
        <p:spPr>
          <a:xfrm>
            <a:off x="548640" y="4251960"/>
            <a:ext cx="3291840" cy="54864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500" b="1" u="sng" dirty="0">
                <a:solidFill>
                  <a:schemeClr val="tx1"/>
                </a:solidFill>
                <a:hlinkClick r:id="rId3" action="ppaction://hlinksldjump" tooltip="Lanjut ke soal 2">
                  <a:extLst>
                    <a:ext uri="{A12FA001-AC4F-418D-AE19-62706E023703}">
                      <ahyp:hlinkClr xmlns:ahyp="http://schemas.microsoft.com/office/drawing/2018/hyperlinkcolor" val="tx"/>
                    </a:ext>
                  </a:extLst>
                </a:hlinkClick>
              </a:rPr>
              <a:t>Lanjut ke soal 2</a:t>
            </a:r>
            <a:endParaRPr lang="en-US" sz="1500" dirty="0"/>
          </a:p>
        </p:txBody>
      </p:sp>
      <p:sp>
        <p:nvSpPr>
          <p:cNvPr id="14" name="Tombol ulangi"/>
          <p:cNvSpPr txBox="1"/>
          <p:nvPr/>
        </p:nvSpPr>
        <p:spPr>
          <a:xfrm>
            <a:off x="4069080" y="4251960"/>
            <a:ext cx="2194560" cy="54864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500" b="1" u="sng" dirty="0">
                <a:solidFill>
                  <a:schemeClr val="accent1"/>
                </a:solidFill>
                <a:hlinkClick r:id="rId4" action="ppaction://hlinksldjump" tooltip="Kembali ke soal">
                  <a:extLst>
                    <a:ext uri="{A12FA001-AC4F-418D-AE19-62706E023703}">
                      <ahyp:hlinkClr xmlns:ahyp="http://schemas.microsoft.com/office/drawing/2018/hyperlinkcolor" val="tx"/>
                    </a:ext>
                  </a:extLst>
                </a:hlinkClick>
              </a:rPr>
              <a:t>Ulangi soal</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Soal 2 dari 3</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Text 2"/>
          <p:cNvSpPr txBox="1"/>
          <p:nvPr/>
        </p:nvSpPr>
        <p:spPr>
          <a:xfrm>
            <a:off x="548640" y="1371600"/>
            <a:ext cx="11064240" cy="10972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Kamu membeli RDPU senilai Rp1.000.000 saat NAB/UP Rp1.250. Berapa unit yang kamu dapat?</a:t>
            </a:r>
            <a:endParaRPr lang="en-US" sz="2400" dirty="0"/>
          </a:p>
        </p:txBody>
      </p:sp>
      <p:sp>
        <p:nvSpPr>
          <p:cNvPr id="5" name="Pilihan 2.1"/>
          <p:cNvSpPr txBox="1"/>
          <p:nvPr/>
        </p:nvSpPr>
        <p:spPr>
          <a:xfrm>
            <a:off x="548640" y="269748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2" action="ppaction://hlinksldjump" tooltip="Lihat pembahasan">
                  <a:extLst>
                    <a:ext uri="{A12FA001-AC4F-418D-AE19-62706E023703}">
                      <ahyp:hlinkClr xmlns:ahyp="http://schemas.microsoft.com/office/drawing/2018/hyperlinkcolor" val="tx"/>
                    </a:ext>
                  </a:extLst>
                </a:hlinkClick>
              </a:rPr>
              <a:t>A.  800 unit</a:t>
            </a:r>
            <a:endParaRPr lang="en-US" sz="1800" dirty="0"/>
          </a:p>
        </p:txBody>
      </p:sp>
      <p:sp>
        <p:nvSpPr>
          <p:cNvPr id="6" name="Pilihan 2.2"/>
          <p:cNvSpPr txBox="1"/>
          <p:nvPr/>
        </p:nvSpPr>
        <p:spPr>
          <a:xfrm>
            <a:off x="548640" y="370332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3" action="ppaction://hlinksldjump" tooltip="Lihat pembahasan">
                  <a:extLst>
                    <a:ext uri="{A12FA001-AC4F-418D-AE19-62706E023703}">
                      <ahyp:hlinkClr xmlns:ahyp="http://schemas.microsoft.com/office/drawing/2018/hyperlinkcolor" val="tx"/>
                    </a:ext>
                  </a:extLst>
                </a:hlinkClick>
              </a:rPr>
              <a:t>B.  1.250 unit</a:t>
            </a:r>
            <a:endParaRPr lang="en-US" sz="1800" dirty="0"/>
          </a:p>
        </p:txBody>
      </p:sp>
      <p:sp>
        <p:nvSpPr>
          <p:cNvPr id="7" name="Pilihan 2.3"/>
          <p:cNvSpPr txBox="1"/>
          <p:nvPr/>
        </p:nvSpPr>
        <p:spPr>
          <a:xfrm>
            <a:off x="548640" y="470916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4" action="ppaction://hlinksldjump" tooltip="Lihat pembahasan">
                  <a:extLst>
                    <a:ext uri="{A12FA001-AC4F-418D-AE19-62706E023703}">
                      <ahyp:hlinkClr xmlns:ahyp="http://schemas.microsoft.com/office/drawing/2018/hyperlinkcolor" val="tx"/>
                    </a:ext>
                  </a:extLst>
                </a:hlinkClick>
              </a:rPr>
              <a:t>C.  125 unit</a:t>
            </a:r>
            <a:endParaRPr lang="en-US" sz="1800" dirty="0"/>
          </a:p>
        </p:txBody>
      </p:sp>
      <p:sp>
        <p:nvSpPr>
          <p:cNvPr id="8" name="Ikon soal lingkaran"/>
          <p:cNvSpPr/>
          <p:nvPr/>
        </p:nvSpPr>
        <p:spPr>
          <a:xfrm>
            <a:off x="9144000" y="2743200"/>
            <a:ext cx="2011680" cy="2011680"/>
          </a:xfrm>
          <a:prstGeom prst="ellipse">
            <a:avLst/>
          </a:prstGeom>
          <a:solidFill>
            <a:schemeClr val="accent2"/>
          </a:solidFill>
          <a:ln w="12700">
            <a:solidFill>
              <a:schemeClr val="accent2"/>
            </a:solidFill>
            <a:prstDash val="solid"/>
          </a:ln>
        </p:spPr>
      </p:sp>
      <p:pic>
        <p:nvPicPr>
          <p:cNvPr id="9" name="Ikon soal ikon" descr="preencoded.png">    </p:cNvPr>
          <p:cNvPicPr>
            <a:picLocks noChangeAspect="1"/>
          </p:cNvPicPr>
          <p:nvPr/>
        </p:nvPicPr>
        <p:blipFill>
          <a:blip r:embed="rId5"/>
          <a:stretch>
            <a:fillRect/>
          </a:stretch>
        </p:blipFill>
        <p:spPr>
          <a:xfrm>
            <a:off x="9646920" y="3246120"/>
            <a:ext cx="1005840" cy="1005840"/>
          </a:xfrm>
          <a:prstGeom prst="rect">
            <a:avLst/>
          </a:prstGeom>
        </p:spPr>
      </p:pic>
      <p:sp>
        <p:nvSpPr>
          <p:cNvPr id="10" name="Text 7"/>
          <p:cNvSpPr txBox="1"/>
          <p:nvPr/>
        </p:nvSpPr>
        <p:spPr>
          <a:xfrm>
            <a:off x="8595360" y="4937760"/>
            <a:ext cx="3108960" cy="457200"/>
          </a:xfrm>
          <a:prstGeom prst="rect">
            <a:avLst/>
          </a:prstGeom>
          <a:noFill/>
          <a:ln/>
        </p:spPr>
        <p:txBody>
          <a:bodyPr wrap="square" lIns="0" tIns="0" rIns="0" bIns="0" rtlCol="0" anchor="t"/>
          <a:lstStyle/>
          <a:p>
            <a:pPr algn="ctr" indent="0" marL="0">
              <a:buNone/>
            </a:pPr>
            <a:r>
              <a:rPr lang="en-US" sz="1200" dirty="0">
                <a:solidFill>
                  <a:schemeClr val="accent6"/>
                </a:solidFill>
              </a:rPr>
              <a:t>Diskusikan dulu, lalu klik jawaban.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Pembahasan soal 2</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Opsi 0"/>
          <p:cNvSpPr/>
          <p:nvPr/>
        </p:nvSpPr>
        <p:spPr>
          <a:xfrm>
            <a:off x="548640" y="1371600"/>
            <a:ext cx="6766560" cy="713232"/>
          </a:xfrm>
          <a:prstGeom prst="roundRect">
            <a:avLst>
              <a:gd name="adj" fmla="val 15385"/>
            </a:avLst>
          </a:prstGeom>
          <a:solidFill>
            <a:schemeClr val="accent1"/>
          </a:solidFill>
          <a:ln w="12700">
            <a:solidFill>
              <a:schemeClr val="accent1"/>
            </a:solidFill>
            <a:prstDash val="solid"/>
          </a:ln>
        </p:spPr>
      </p:sp>
      <p:sp>
        <p:nvSpPr>
          <p:cNvPr id="5" name="Text 3"/>
          <p:cNvSpPr txBox="1"/>
          <p:nvPr/>
        </p:nvSpPr>
        <p:spPr>
          <a:xfrm>
            <a:off x="777240" y="1371600"/>
            <a:ext cx="5897880" cy="713232"/>
          </a:xfrm>
          <a:prstGeom prst="rect">
            <a:avLst/>
          </a:prstGeom>
          <a:noFill/>
          <a:ln/>
        </p:spPr>
        <p:txBody>
          <a:bodyPr wrap="square" lIns="0" tIns="0" rIns="0" bIns="0" rtlCol="0" anchor="ctr"/>
          <a:lstStyle/>
          <a:p>
            <a:pPr indent="0" marL="0">
              <a:buNone/>
            </a:pPr>
            <a:r>
              <a:rPr lang="en-US" sz="1400" b="1" dirty="0">
                <a:solidFill>
                  <a:schemeClr val="bg1"/>
                </a:solidFill>
              </a:rPr>
              <a:t>A.  800 unit</a:t>
            </a:r>
            <a:endParaRPr lang="en-US" sz="1400" dirty="0"/>
          </a:p>
        </p:txBody>
      </p:sp>
      <p:sp>
        <p:nvSpPr>
          <p:cNvPr id="6" name="Opsi 1"/>
          <p:cNvSpPr/>
          <p:nvPr/>
        </p:nvSpPr>
        <p:spPr>
          <a:xfrm>
            <a:off x="548640" y="2240280"/>
            <a:ext cx="6766560" cy="713232"/>
          </a:xfrm>
          <a:prstGeom prst="roundRect">
            <a:avLst>
              <a:gd name="adj" fmla="val 15385"/>
            </a:avLst>
          </a:prstGeom>
          <a:solidFill>
            <a:schemeClr val="bg2"/>
          </a:solidFill>
          <a:ln w="12700">
            <a:solidFill>
              <a:schemeClr val="bg2"/>
            </a:solidFill>
            <a:prstDash val="solid"/>
          </a:ln>
        </p:spPr>
      </p:sp>
      <p:sp>
        <p:nvSpPr>
          <p:cNvPr id="7" name="Text 5"/>
          <p:cNvSpPr txBox="1"/>
          <p:nvPr/>
        </p:nvSpPr>
        <p:spPr>
          <a:xfrm>
            <a:off x="777240" y="224028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B.  1.250 unit</a:t>
            </a:r>
            <a:endParaRPr lang="en-US" sz="1400" dirty="0"/>
          </a:p>
        </p:txBody>
      </p:sp>
      <p:sp>
        <p:nvSpPr>
          <p:cNvPr id="8" name="Opsi 2"/>
          <p:cNvSpPr/>
          <p:nvPr/>
        </p:nvSpPr>
        <p:spPr>
          <a:xfrm>
            <a:off x="548640" y="3108960"/>
            <a:ext cx="6766560" cy="713232"/>
          </a:xfrm>
          <a:prstGeom prst="roundRect">
            <a:avLst>
              <a:gd name="adj" fmla="val 15385"/>
            </a:avLst>
          </a:prstGeom>
          <a:solidFill>
            <a:schemeClr val="bg2"/>
          </a:solidFill>
          <a:ln w="12700">
            <a:solidFill>
              <a:schemeClr val="bg2"/>
            </a:solidFill>
            <a:prstDash val="solid"/>
          </a:ln>
        </p:spPr>
      </p:sp>
      <p:sp>
        <p:nvSpPr>
          <p:cNvPr id="9" name="Text 7"/>
          <p:cNvSpPr txBox="1"/>
          <p:nvPr/>
        </p:nvSpPr>
        <p:spPr>
          <a:xfrm>
            <a:off x="777240" y="310896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C.  125 unit</a:t>
            </a:r>
            <a:endParaRPr lang="en-US" sz="1400" dirty="0"/>
          </a:p>
        </p:txBody>
      </p:sp>
      <p:pic>
        <p:nvPicPr>
          <p:cNvPr id="10" name="Tanda benar" descr="preencoded.png">    </p:cNvPr>
          <p:cNvPicPr>
            <a:picLocks noChangeAspect="1"/>
          </p:cNvPicPr>
          <p:nvPr/>
        </p:nvPicPr>
        <p:blipFill>
          <a:blip r:embed="rId2"/>
          <a:stretch>
            <a:fillRect/>
          </a:stretch>
        </p:blipFill>
        <p:spPr>
          <a:xfrm>
            <a:off x="6766560" y="1554480"/>
            <a:ext cx="347472" cy="347472"/>
          </a:xfrm>
          <a:prstGeom prst="rect">
            <a:avLst/>
          </a:prstGeom>
        </p:spPr>
      </p:pic>
      <p:sp>
        <p:nvSpPr>
          <p:cNvPr id="11" name="Kartu pembahasan"/>
          <p:cNvSpPr/>
          <p:nvPr/>
        </p:nvSpPr>
        <p:spPr>
          <a:xfrm>
            <a:off x="7635240" y="1371600"/>
            <a:ext cx="4023360" cy="2514600"/>
          </a:xfrm>
          <a:prstGeom prst="roundRect">
            <a:avLst>
              <a:gd name="adj" fmla="val 4364"/>
            </a:avLst>
          </a:prstGeom>
          <a:solidFill>
            <a:schemeClr val="tx1"/>
          </a:solidFill>
          <a:ln w="12700">
            <a:solidFill>
              <a:schemeClr val="tx1"/>
            </a:solidFill>
            <a:prstDash val="solid"/>
          </a:ln>
        </p:spPr>
      </p:sp>
      <p:sp>
        <p:nvSpPr>
          <p:cNvPr id="12" name="Text 9"/>
          <p:cNvSpPr txBox="1"/>
          <p:nvPr/>
        </p:nvSpPr>
        <p:spPr>
          <a:xfrm>
            <a:off x="7863840" y="1554480"/>
            <a:ext cx="3611880" cy="2194560"/>
          </a:xfrm>
          <a:prstGeom prst="rect">
            <a:avLst/>
          </a:prstGeom>
          <a:noFill/>
          <a:ln/>
        </p:spPr>
        <p:txBody>
          <a:bodyPr wrap="square" lIns="0" tIns="0" rIns="0" bIns="0" rtlCol="0" anchor="t"/>
          <a:lstStyle/>
          <a:p>
            <a:pPr indent="0" marL="0">
              <a:buNone/>
            </a:pPr>
            <a:r>
              <a:rPr lang="en-US" sz="1500" dirty="0">
                <a:solidFill>
                  <a:schemeClr val="bg1"/>
                </a:solidFill>
              </a:rPr>
              <a:t>Jawaban A, 800 unit. Rumusnya: nominal beli dibagi NAB/UP, yaitu 1.000.000 ÷ 1.250 = 800 unit.</a:t>
            </a:r>
            <a:endParaRPr lang="en-US" sz="1500" dirty="0"/>
          </a:p>
        </p:txBody>
      </p:sp>
      <p:sp>
        <p:nvSpPr>
          <p:cNvPr id="13" name="Tombol lanjut"/>
          <p:cNvSpPr txBox="1"/>
          <p:nvPr/>
        </p:nvSpPr>
        <p:spPr>
          <a:xfrm>
            <a:off x="548640" y="4251960"/>
            <a:ext cx="3291840" cy="54864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500" b="1" u="sng" dirty="0">
                <a:solidFill>
                  <a:schemeClr val="tx1"/>
                </a:solidFill>
                <a:hlinkClick r:id="rId3" action="ppaction://hlinksldjump" tooltip="Lanjut ke soal 3">
                  <a:extLst>
                    <a:ext uri="{A12FA001-AC4F-418D-AE19-62706E023703}">
                      <ahyp:hlinkClr xmlns:ahyp="http://schemas.microsoft.com/office/drawing/2018/hyperlinkcolor" val="tx"/>
                    </a:ext>
                  </a:extLst>
                </a:hlinkClick>
              </a:rPr>
              <a:t>Lanjut ke soal 3</a:t>
            </a:r>
            <a:endParaRPr lang="en-US" sz="1500" dirty="0"/>
          </a:p>
        </p:txBody>
      </p:sp>
      <p:sp>
        <p:nvSpPr>
          <p:cNvPr id="14" name="Tombol ulangi"/>
          <p:cNvSpPr txBox="1"/>
          <p:nvPr/>
        </p:nvSpPr>
        <p:spPr>
          <a:xfrm>
            <a:off x="4069080" y="4251960"/>
            <a:ext cx="2194560" cy="54864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500" b="1" u="sng" dirty="0">
                <a:solidFill>
                  <a:schemeClr val="accent1"/>
                </a:solidFill>
                <a:hlinkClick r:id="rId4" action="ppaction://hlinksldjump" tooltip="Kembali ke soal">
                  <a:extLst>
                    <a:ext uri="{A12FA001-AC4F-418D-AE19-62706E023703}">
                      <ahyp:hlinkClr xmlns:ahyp="http://schemas.microsoft.com/office/drawing/2018/hyperlinkcolor" val="tx"/>
                    </a:ext>
                  </a:extLst>
                </a:hlinkClick>
              </a:rPr>
              <a:t>Ulangi soal</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bg1"/>
                </a:solidFill>
                <a:latin typeface="Cambria" pitchFamily="34" charset="0"/>
                <a:ea typeface="Cambria" pitchFamily="34" charset="-122"/>
                <a:cs typeface="Cambria" pitchFamily="34" charset="-120"/>
              </a:rPr>
              <a:t>Soal 3 dari 3</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6"/>
            </a:solidFill>
          </a:ln>
        </p:spPr>
        <p:txBody>
          <a:bodyPr wrap="square" rtlCol="0" anchor="ctr"/>
          <a:lstStyle/>
          <a:p>
            <a:pPr algn="ctr" indent="0" marL="0">
              <a:buNone/>
            </a:pPr>
            <a:r>
              <a:rPr lang="en-US" sz="1100" b="1" u="sng" dirty="0">
                <a:solidFill>
                  <a:schemeClr val="accent6"/>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Text 2"/>
          <p:cNvSpPr txBox="1"/>
          <p:nvPr/>
        </p:nvSpPr>
        <p:spPr>
          <a:xfrm>
            <a:off x="548640" y="1371600"/>
            <a:ext cx="11064240" cy="109728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Mana pernyataan yang BENAR tentang RDPU?</a:t>
            </a:r>
            <a:endParaRPr lang="en-US" sz="2400" dirty="0"/>
          </a:p>
        </p:txBody>
      </p:sp>
      <p:sp>
        <p:nvSpPr>
          <p:cNvPr id="5" name="Pilihan 3.1"/>
          <p:cNvSpPr txBox="1"/>
          <p:nvPr/>
        </p:nvSpPr>
        <p:spPr>
          <a:xfrm>
            <a:off x="548640" y="269748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2" action="ppaction://hlinksldjump" tooltip="Lihat pembahasan">
                  <a:extLst>
                    <a:ext uri="{A12FA001-AC4F-418D-AE19-62706E023703}">
                      <ahyp:hlinkClr xmlns:ahyp="http://schemas.microsoft.com/office/drawing/2018/hyperlinkcolor" val="tx"/>
                    </a:ext>
                  </a:extLst>
                </a:hlinkClick>
              </a:rPr>
              <a:t>A.  Dijamin LPS seperti deposito</a:t>
            </a:r>
            <a:endParaRPr lang="en-US" sz="1800" dirty="0"/>
          </a:p>
        </p:txBody>
      </p:sp>
      <p:sp>
        <p:nvSpPr>
          <p:cNvPr id="6" name="Pilihan 3.2"/>
          <p:cNvSpPr txBox="1"/>
          <p:nvPr/>
        </p:nvSpPr>
        <p:spPr>
          <a:xfrm>
            <a:off x="548640" y="370332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3" action="ppaction://hlinksldjump" tooltip="Lihat pembahasan">
                  <a:extLst>
                    <a:ext uri="{A12FA001-AC4F-418D-AE19-62706E023703}">
                      <ahyp:hlinkClr xmlns:ahyp="http://schemas.microsoft.com/office/drawing/2018/hyperlinkcolor" val="tx"/>
                    </a:ext>
                  </a:extLst>
                </a:hlinkClick>
              </a:rPr>
              <a:t>B.  Untung yang diterima investor bukan objek pajak</a:t>
            </a:r>
            <a:endParaRPr lang="en-US" sz="1800" dirty="0"/>
          </a:p>
        </p:txBody>
      </p:sp>
      <p:sp>
        <p:nvSpPr>
          <p:cNvPr id="7" name="Pilihan 3.3"/>
          <p:cNvSpPr txBox="1"/>
          <p:nvPr/>
        </p:nvSpPr>
        <p:spPr>
          <a:xfrm>
            <a:off x="548640" y="4709160"/>
            <a:ext cx="7772400" cy="777240"/>
          </a:xfrm>
          <a:prstGeom prst="roundRect">
            <a:avLst>
              <a:gd name="adj" fmla="val 14118"/>
            </a:avLst>
          </a:prstGeom>
          <a:solidFill>
            <a:schemeClr val="tx2"/>
          </a:solidFill>
          <a:ln w="15875">
            <a:solidFill>
              <a:schemeClr val="accent1"/>
            </a:solidFill>
          </a:ln>
        </p:spPr>
        <p:txBody>
          <a:bodyPr wrap="square" lIns="254000" tIns="0" rIns="127000" bIns="0" rtlCol="0" anchor="ctr"/>
          <a:lstStyle/>
          <a:p>
            <a:pPr indent="0" marL="0">
              <a:buNone/>
            </a:pPr>
            <a:r>
              <a:rPr lang="en-US" sz="1800" b="1" u="sng" dirty="0">
                <a:solidFill>
                  <a:schemeClr val="bg1"/>
                </a:solidFill>
                <a:hlinkClick r:id="rId4" action="ppaction://hlinksldjump" tooltip="Lihat pembahasan">
                  <a:extLst>
                    <a:ext uri="{A12FA001-AC4F-418D-AE19-62706E023703}">
                      <ahyp:hlinkClr xmlns:ahyp="http://schemas.microsoft.com/office/drawing/2018/hyperlinkcolor" val="tx"/>
                    </a:ext>
                  </a:extLst>
                </a:hlinkClick>
              </a:rPr>
              <a:t>C.  Menjamin return tetap 6% per tahun</a:t>
            </a:r>
            <a:endParaRPr lang="en-US" sz="1800" dirty="0"/>
          </a:p>
        </p:txBody>
      </p:sp>
      <p:sp>
        <p:nvSpPr>
          <p:cNvPr id="8" name="Ikon soal lingkaran"/>
          <p:cNvSpPr/>
          <p:nvPr/>
        </p:nvSpPr>
        <p:spPr>
          <a:xfrm>
            <a:off x="9144000" y="2743200"/>
            <a:ext cx="2011680" cy="2011680"/>
          </a:xfrm>
          <a:prstGeom prst="ellipse">
            <a:avLst/>
          </a:prstGeom>
          <a:solidFill>
            <a:schemeClr val="accent2"/>
          </a:solidFill>
          <a:ln w="12700">
            <a:solidFill>
              <a:schemeClr val="accent2"/>
            </a:solidFill>
            <a:prstDash val="solid"/>
          </a:ln>
        </p:spPr>
      </p:sp>
      <p:pic>
        <p:nvPicPr>
          <p:cNvPr id="9" name="Ikon soal ikon" descr="preencoded.png">    </p:cNvPr>
          <p:cNvPicPr>
            <a:picLocks noChangeAspect="1"/>
          </p:cNvPicPr>
          <p:nvPr/>
        </p:nvPicPr>
        <p:blipFill>
          <a:blip r:embed="rId5"/>
          <a:stretch>
            <a:fillRect/>
          </a:stretch>
        </p:blipFill>
        <p:spPr>
          <a:xfrm>
            <a:off x="9646920" y="3246120"/>
            <a:ext cx="1005840" cy="1005840"/>
          </a:xfrm>
          <a:prstGeom prst="rect">
            <a:avLst/>
          </a:prstGeom>
        </p:spPr>
      </p:pic>
      <p:sp>
        <p:nvSpPr>
          <p:cNvPr id="10" name="Text 7"/>
          <p:cNvSpPr txBox="1"/>
          <p:nvPr/>
        </p:nvSpPr>
        <p:spPr>
          <a:xfrm>
            <a:off x="8595360" y="4937760"/>
            <a:ext cx="3108960" cy="457200"/>
          </a:xfrm>
          <a:prstGeom prst="rect">
            <a:avLst/>
          </a:prstGeom>
          <a:noFill/>
          <a:ln/>
        </p:spPr>
        <p:txBody>
          <a:bodyPr wrap="square" lIns="0" tIns="0" rIns="0" bIns="0" rtlCol="0" anchor="t"/>
          <a:lstStyle/>
          <a:p>
            <a:pPr algn="ctr" indent="0" marL="0">
              <a:buNone/>
            </a:pPr>
            <a:r>
              <a:rPr lang="en-US" sz="1200" dirty="0">
                <a:solidFill>
                  <a:schemeClr val="accent6"/>
                </a:solidFill>
              </a:rPr>
              <a:t>Diskusikan dulu, lalu klik jawaban.</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Pembahasan soal 3</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Opsi 0"/>
          <p:cNvSpPr/>
          <p:nvPr/>
        </p:nvSpPr>
        <p:spPr>
          <a:xfrm>
            <a:off x="548640" y="1371600"/>
            <a:ext cx="6766560" cy="713232"/>
          </a:xfrm>
          <a:prstGeom prst="roundRect">
            <a:avLst>
              <a:gd name="adj" fmla="val 15385"/>
            </a:avLst>
          </a:prstGeom>
          <a:solidFill>
            <a:schemeClr val="bg2"/>
          </a:solidFill>
          <a:ln w="12700">
            <a:solidFill>
              <a:schemeClr val="bg2"/>
            </a:solidFill>
            <a:prstDash val="solid"/>
          </a:ln>
        </p:spPr>
      </p:sp>
      <p:sp>
        <p:nvSpPr>
          <p:cNvPr id="5" name="Text 3"/>
          <p:cNvSpPr txBox="1"/>
          <p:nvPr/>
        </p:nvSpPr>
        <p:spPr>
          <a:xfrm>
            <a:off x="777240" y="137160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A.  Dijamin LPS seperti deposito</a:t>
            </a:r>
            <a:endParaRPr lang="en-US" sz="1400" dirty="0"/>
          </a:p>
        </p:txBody>
      </p:sp>
      <p:sp>
        <p:nvSpPr>
          <p:cNvPr id="6" name="Opsi 1"/>
          <p:cNvSpPr/>
          <p:nvPr/>
        </p:nvSpPr>
        <p:spPr>
          <a:xfrm>
            <a:off x="548640" y="2240280"/>
            <a:ext cx="6766560" cy="713232"/>
          </a:xfrm>
          <a:prstGeom prst="roundRect">
            <a:avLst>
              <a:gd name="adj" fmla="val 15385"/>
            </a:avLst>
          </a:prstGeom>
          <a:solidFill>
            <a:schemeClr val="accent1"/>
          </a:solidFill>
          <a:ln w="12700">
            <a:solidFill>
              <a:schemeClr val="accent1"/>
            </a:solidFill>
            <a:prstDash val="solid"/>
          </a:ln>
        </p:spPr>
      </p:sp>
      <p:sp>
        <p:nvSpPr>
          <p:cNvPr id="7" name="Text 5"/>
          <p:cNvSpPr txBox="1"/>
          <p:nvPr/>
        </p:nvSpPr>
        <p:spPr>
          <a:xfrm>
            <a:off x="777240" y="2240280"/>
            <a:ext cx="5897880" cy="713232"/>
          </a:xfrm>
          <a:prstGeom prst="rect">
            <a:avLst/>
          </a:prstGeom>
          <a:noFill/>
          <a:ln/>
        </p:spPr>
        <p:txBody>
          <a:bodyPr wrap="square" lIns="0" tIns="0" rIns="0" bIns="0" rtlCol="0" anchor="ctr"/>
          <a:lstStyle/>
          <a:p>
            <a:pPr indent="0" marL="0">
              <a:buNone/>
            </a:pPr>
            <a:r>
              <a:rPr lang="en-US" sz="1400" b="1" dirty="0">
                <a:solidFill>
                  <a:schemeClr val="bg1"/>
                </a:solidFill>
              </a:rPr>
              <a:t>B.  Untung yang diterima investor bukan objek pajak</a:t>
            </a:r>
            <a:endParaRPr lang="en-US" sz="1400" dirty="0"/>
          </a:p>
        </p:txBody>
      </p:sp>
      <p:sp>
        <p:nvSpPr>
          <p:cNvPr id="8" name="Opsi 2"/>
          <p:cNvSpPr/>
          <p:nvPr/>
        </p:nvSpPr>
        <p:spPr>
          <a:xfrm>
            <a:off x="548640" y="3108960"/>
            <a:ext cx="6766560" cy="713232"/>
          </a:xfrm>
          <a:prstGeom prst="roundRect">
            <a:avLst>
              <a:gd name="adj" fmla="val 15385"/>
            </a:avLst>
          </a:prstGeom>
          <a:solidFill>
            <a:schemeClr val="bg2"/>
          </a:solidFill>
          <a:ln w="12700">
            <a:solidFill>
              <a:schemeClr val="bg2"/>
            </a:solidFill>
            <a:prstDash val="solid"/>
          </a:ln>
        </p:spPr>
      </p:sp>
      <p:sp>
        <p:nvSpPr>
          <p:cNvPr id="9" name="Text 7"/>
          <p:cNvSpPr txBox="1"/>
          <p:nvPr/>
        </p:nvSpPr>
        <p:spPr>
          <a:xfrm>
            <a:off x="777240" y="3108960"/>
            <a:ext cx="5897880" cy="713232"/>
          </a:xfrm>
          <a:prstGeom prst="rect">
            <a:avLst/>
          </a:prstGeom>
          <a:noFill/>
          <a:ln/>
        </p:spPr>
        <p:txBody>
          <a:bodyPr wrap="square" lIns="0" tIns="0" rIns="0" bIns="0" rtlCol="0" anchor="ctr"/>
          <a:lstStyle/>
          <a:p>
            <a:pPr indent="0" marL="0">
              <a:buNone/>
            </a:pPr>
            <a:r>
              <a:rPr lang="en-US" sz="1400" dirty="0">
                <a:solidFill>
                  <a:schemeClr val="accent5"/>
                </a:solidFill>
              </a:rPr>
              <a:t>C.  Menjamin return tetap 6% per tahun</a:t>
            </a:r>
            <a:endParaRPr lang="en-US" sz="1400" dirty="0"/>
          </a:p>
        </p:txBody>
      </p:sp>
      <p:pic>
        <p:nvPicPr>
          <p:cNvPr id="10" name="Tanda benar" descr="preencoded.png">    </p:cNvPr>
          <p:cNvPicPr>
            <a:picLocks noChangeAspect="1"/>
          </p:cNvPicPr>
          <p:nvPr/>
        </p:nvPicPr>
        <p:blipFill>
          <a:blip r:embed="rId2"/>
          <a:stretch>
            <a:fillRect/>
          </a:stretch>
        </p:blipFill>
        <p:spPr>
          <a:xfrm>
            <a:off x="6766560" y="2423160"/>
            <a:ext cx="347472" cy="347472"/>
          </a:xfrm>
          <a:prstGeom prst="rect">
            <a:avLst/>
          </a:prstGeom>
        </p:spPr>
      </p:pic>
      <p:sp>
        <p:nvSpPr>
          <p:cNvPr id="11" name="Kartu pembahasan"/>
          <p:cNvSpPr/>
          <p:nvPr/>
        </p:nvSpPr>
        <p:spPr>
          <a:xfrm>
            <a:off x="7635240" y="1371600"/>
            <a:ext cx="4023360" cy="2514600"/>
          </a:xfrm>
          <a:prstGeom prst="roundRect">
            <a:avLst>
              <a:gd name="adj" fmla="val 4364"/>
            </a:avLst>
          </a:prstGeom>
          <a:solidFill>
            <a:schemeClr val="tx1"/>
          </a:solidFill>
          <a:ln w="12700">
            <a:solidFill>
              <a:schemeClr val="tx1"/>
            </a:solidFill>
            <a:prstDash val="solid"/>
          </a:ln>
        </p:spPr>
      </p:sp>
      <p:sp>
        <p:nvSpPr>
          <p:cNvPr id="12" name="Text 9"/>
          <p:cNvSpPr txBox="1"/>
          <p:nvPr/>
        </p:nvSpPr>
        <p:spPr>
          <a:xfrm>
            <a:off x="7863840" y="1554480"/>
            <a:ext cx="3611880" cy="2194560"/>
          </a:xfrm>
          <a:prstGeom prst="rect">
            <a:avLst/>
          </a:prstGeom>
          <a:noFill/>
          <a:ln/>
        </p:spPr>
        <p:txBody>
          <a:bodyPr wrap="square" lIns="0" tIns="0" rIns="0" bIns="0" rtlCol="0" anchor="t"/>
          <a:lstStyle/>
          <a:p>
            <a:pPr indent="0" marL="0">
              <a:buNone/>
            </a:pPr>
            <a:r>
              <a:rPr lang="en-US" sz="1500" dirty="0">
                <a:solidFill>
                  <a:schemeClr val="bg1"/>
                </a:solidFill>
              </a:rPr>
              <a:t>Jawaban B. RDPU tidak dijamin LPS (A salah) dan tidak boleh menjanjikan return tetap (C salah). Pajak sudah dipotong di dalam portofolio.</a:t>
            </a:r>
            <a:endParaRPr lang="en-US" sz="1500" dirty="0"/>
          </a:p>
        </p:txBody>
      </p:sp>
      <p:sp>
        <p:nvSpPr>
          <p:cNvPr id="13" name="Tombol lanjut"/>
          <p:cNvSpPr txBox="1"/>
          <p:nvPr/>
        </p:nvSpPr>
        <p:spPr>
          <a:xfrm>
            <a:off x="548640" y="4251960"/>
            <a:ext cx="3291840" cy="548640"/>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500" b="1" u="sng" dirty="0">
                <a:solidFill>
                  <a:schemeClr val="tx1"/>
                </a:solidFill>
                <a:hlinkClick r:id="rId3" action="ppaction://hlinksldjump" tooltip="Lanjut ke rangkuman">
                  <a:extLst>
                    <a:ext uri="{A12FA001-AC4F-418D-AE19-62706E023703}">
                      <ahyp:hlinkClr xmlns:ahyp="http://schemas.microsoft.com/office/drawing/2018/hyperlinkcolor" val="tx"/>
                    </a:ext>
                  </a:extLst>
                </a:hlinkClick>
              </a:rPr>
              <a:t>Lanjut ke rangkuman</a:t>
            </a:r>
            <a:endParaRPr lang="en-US" sz="1500" dirty="0"/>
          </a:p>
        </p:txBody>
      </p:sp>
      <p:sp>
        <p:nvSpPr>
          <p:cNvPr id="14" name="Tombol ulangi"/>
          <p:cNvSpPr txBox="1"/>
          <p:nvPr/>
        </p:nvSpPr>
        <p:spPr>
          <a:xfrm>
            <a:off x="4069080" y="4251960"/>
            <a:ext cx="2194560" cy="548640"/>
          </a:xfrm>
          <a:prstGeom prst="roundRect">
            <a:avLst>
              <a:gd name="adj" fmla="val 50000"/>
            </a:avLst>
          </a:prstGeom>
          <a:solidFill>
            <a:schemeClr val="bg1"/>
          </a:solidFill>
          <a:ln w="15875">
            <a:solidFill>
              <a:schemeClr val="accent1"/>
            </a:solidFill>
          </a:ln>
        </p:spPr>
        <p:txBody>
          <a:bodyPr wrap="square" lIns="0" tIns="0" rIns="0" bIns="0" rtlCol="0" anchor="ctr"/>
          <a:lstStyle/>
          <a:p>
            <a:pPr algn="ctr" indent="0" marL="0">
              <a:buNone/>
            </a:pPr>
            <a:r>
              <a:rPr lang="en-US" sz="1500" b="1" u="sng" dirty="0">
                <a:solidFill>
                  <a:schemeClr val="accent1"/>
                </a:solidFill>
                <a:hlinkClick r:id="rId4" action="ppaction://hlinksldjump" tooltip="Kembali ke soal">
                  <a:extLst>
                    <a:ext uri="{A12FA001-AC4F-418D-AE19-62706E023703}">
                      <ahyp:hlinkClr xmlns:ahyp="http://schemas.microsoft.com/office/drawing/2018/hyperlinkcolor" val="tx"/>
                    </a:ext>
                  </a:extLst>
                </a:hlinkClick>
              </a:rPr>
              <a:t>Ulangi soal</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Rangkuman: enam hal yang perlu diingat</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Rangkuman 1"/>
          <p:cNvSpPr/>
          <p:nvPr/>
        </p:nvSpPr>
        <p:spPr>
          <a:xfrm>
            <a:off x="548640" y="137160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Nomor 1"/>
          <p:cNvSpPr txBox="1"/>
          <p:nvPr/>
        </p:nvSpPr>
        <p:spPr>
          <a:xfrm>
            <a:off x="822960" y="171907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691640" y="1508760"/>
            <a:ext cx="4069080" cy="1051560"/>
          </a:xfrm>
          <a:prstGeom prst="rect">
            <a:avLst/>
          </a:prstGeom>
          <a:noFill/>
          <a:ln/>
        </p:spPr>
        <p:txBody>
          <a:bodyPr wrap="square" lIns="0" tIns="0" rIns="0" bIns="0" rtlCol="0" anchor="ctr"/>
          <a:lstStyle/>
          <a:p>
            <a:pPr indent="0" marL="0">
              <a:buNone/>
            </a:pPr>
            <a:r>
              <a:rPr lang="en-US" sz="1400" dirty="0">
                <a:solidFill>
                  <a:schemeClr val="tx1"/>
                </a:solidFill>
              </a:rPr>
              <a:t>RDPU menaruh 100% dana di instrumen pasar uang dan surat utang bertenor maksimal 1 tahun.</a:t>
            </a:r>
            <a:endParaRPr lang="en-US" sz="1400" dirty="0"/>
          </a:p>
        </p:txBody>
      </p:sp>
      <p:sp>
        <p:nvSpPr>
          <p:cNvPr id="7" name="Rangkuman 2"/>
          <p:cNvSpPr/>
          <p:nvPr/>
        </p:nvSpPr>
        <p:spPr>
          <a:xfrm>
            <a:off x="6172200" y="137160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8" name="Nomor 2"/>
          <p:cNvSpPr txBox="1"/>
          <p:nvPr/>
        </p:nvSpPr>
        <p:spPr>
          <a:xfrm>
            <a:off x="6446520" y="171907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7315200" y="1508760"/>
            <a:ext cx="4069080" cy="1051560"/>
          </a:xfrm>
          <a:prstGeom prst="rect">
            <a:avLst/>
          </a:prstGeom>
          <a:noFill/>
          <a:ln/>
        </p:spPr>
        <p:txBody>
          <a:bodyPr wrap="square" lIns="0" tIns="0" rIns="0" bIns="0" rtlCol="0" anchor="ctr"/>
          <a:lstStyle/>
          <a:p>
            <a:pPr indent="0" marL="0">
              <a:buNone/>
            </a:pPr>
            <a:r>
              <a:rPr lang="en-US" sz="1400" dirty="0">
                <a:solidFill>
                  <a:schemeClr val="tx1"/>
                </a:solidFill>
              </a:rPr>
              <a:t>Nilai investasimu = jumlah unit × NAB/UP. Unitnya tetap, NAB/UP yang bergerak.</a:t>
            </a:r>
            <a:endParaRPr lang="en-US" sz="1400" dirty="0"/>
          </a:p>
        </p:txBody>
      </p:sp>
      <p:sp>
        <p:nvSpPr>
          <p:cNvPr id="10" name="Rangkuman 3"/>
          <p:cNvSpPr/>
          <p:nvPr/>
        </p:nvSpPr>
        <p:spPr>
          <a:xfrm>
            <a:off x="548640" y="288036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Nomor 3"/>
          <p:cNvSpPr txBox="1"/>
          <p:nvPr/>
        </p:nvSpPr>
        <p:spPr>
          <a:xfrm>
            <a:off x="822960" y="322783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2" name="Text 10"/>
          <p:cNvSpPr txBox="1"/>
          <p:nvPr/>
        </p:nvSpPr>
        <p:spPr>
          <a:xfrm>
            <a:off x="1691640" y="3017520"/>
            <a:ext cx="4069080" cy="1051560"/>
          </a:xfrm>
          <a:prstGeom prst="rect">
            <a:avLst/>
          </a:prstGeom>
          <a:noFill/>
          <a:ln/>
        </p:spPr>
        <p:txBody>
          <a:bodyPr wrap="square" lIns="0" tIns="0" rIns="0" bIns="0" rtlCol="0" anchor="ctr"/>
          <a:lstStyle/>
          <a:p>
            <a:pPr indent="0" marL="0">
              <a:buNone/>
            </a:pPr>
            <a:r>
              <a:rPr lang="en-US" sz="1400" dirty="0">
                <a:solidFill>
                  <a:schemeClr val="tx1"/>
                </a:solidFill>
              </a:rPr>
              <a:t>Untung bagi investor bukan objek pajak. Biaya pengelolaan sudah dipotong dari NAB.</a:t>
            </a:r>
            <a:endParaRPr lang="en-US" sz="1400" dirty="0"/>
          </a:p>
        </p:txBody>
      </p:sp>
      <p:sp>
        <p:nvSpPr>
          <p:cNvPr id="13" name="Rangkuman 4"/>
          <p:cNvSpPr/>
          <p:nvPr/>
        </p:nvSpPr>
        <p:spPr>
          <a:xfrm>
            <a:off x="6172200" y="288036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4" name="Nomor 4"/>
          <p:cNvSpPr txBox="1"/>
          <p:nvPr/>
        </p:nvSpPr>
        <p:spPr>
          <a:xfrm>
            <a:off x="6446520" y="322783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5" name="Text 13"/>
          <p:cNvSpPr txBox="1"/>
          <p:nvPr/>
        </p:nvSpPr>
        <p:spPr>
          <a:xfrm>
            <a:off x="7315200" y="3017520"/>
            <a:ext cx="4069080" cy="1051560"/>
          </a:xfrm>
          <a:prstGeom prst="rect">
            <a:avLst/>
          </a:prstGeom>
          <a:noFill/>
          <a:ln/>
        </p:spPr>
        <p:txBody>
          <a:bodyPr wrap="square" lIns="0" tIns="0" rIns="0" bIns="0" rtlCol="0" anchor="ctr"/>
          <a:lstStyle/>
          <a:p>
            <a:pPr indent="0" marL="0">
              <a:buNone/>
            </a:pPr>
            <a:r>
              <a:rPr lang="en-US" sz="1400" dirty="0">
                <a:solidFill>
                  <a:schemeClr val="tx1"/>
                </a:solidFill>
              </a:rPr>
              <a:t>Risikonya rendah tapi bukan nol, dan RDPU tidak dijamin LPS.</a:t>
            </a:r>
            <a:endParaRPr lang="en-US" sz="1400" dirty="0"/>
          </a:p>
        </p:txBody>
      </p:sp>
      <p:sp>
        <p:nvSpPr>
          <p:cNvPr id="16" name="Rangkuman 5"/>
          <p:cNvSpPr/>
          <p:nvPr/>
        </p:nvSpPr>
        <p:spPr>
          <a:xfrm>
            <a:off x="548640" y="438912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7" name="Nomor 5"/>
          <p:cNvSpPr txBox="1"/>
          <p:nvPr/>
        </p:nvSpPr>
        <p:spPr>
          <a:xfrm>
            <a:off x="822960" y="473659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18" name="Text 16"/>
          <p:cNvSpPr txBox="1"/>
          <p:nvPr/>
        </p:nvSpPr>
        <p:spPr>
          <a:xfrm>
            <a:off x="1691640" y="4526280"/>
            <a:ext cx="4069080" cy="1051560"/>
          </a:xfrm>
          <a:prstGeom prst="rect">
            <a:avLst/>
          </a:prstGeom>
          <a:noFill/>
          <a:ln/>
        </p:spPr>
        <p:txBody>
          <a:bodyPr wrap="square" lIns="0" tIns="0" rIns="0" bIns="0" rtlCol="0" anchor="ctr"/>
          <a:lstStyle/>
          <a:p>
            <a:pPr indent="0" marL="0">
              <a:buNone/>
            </a:pPr>
            <a:r>
              <a:rPr lang="en-US" sz="1400" dirty="0">
                <a:solidFill>
                  <a:schemeClr val="tx1"/>
                </a:solidFill>
              </a:rPr>
              <a:t>Cocok untuk dana darurat dan tujuan di bawah 1 tahun.</a:t>
            </a:r>
            <a:endParaRPr lang="en-US" sz="1400" dirty="0"/>
          </a:p>
        </p:txBody>
      </p:sp>
      <p:sp>
        <p:nvSpPr>
          <p:cNvPr id="19" name="Rangkuman 6"/>
          <p:cNvSpPr/>
          <p:nvPr/>
        </p:nvSpPr>
        <p:spPr>
          <a:xfrm>
            <a:off x="6172200" y="4389120"/>
            <a:ext cx="5394960" cy="1325880"/>
          </a:xfrm>
          <a:prstGeom prst="roundRect">
            <a:avLst>
              <a:gd name="adj" fmla="val 8276"/>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20" name="Nomor 6"/>
          <p:cNvSpPr txBox="1"/>
          <p:nvPr/>
        </p:nvSpPr>
        <p:spPr>
          <a:xfrm>
            <a:off x="6446520" y="4736592"/>
            <a:ext cx="640080" cy="64008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1" name="Text 19"/>
          <p:cNvSpPr txBox="1"/>
          <p:nvPr/>
        </p:nvSpPr>
        <p:spPr>
          <a:xfrm>
            <a:off x="7315200" y="4526280"/>
            <a:ext cx="4069080" cy="1051560"/>
          </a:xfrm>
          <a:prstGeom prst="rect">
            <a:avLst/>
          </a:prstGeom>
          <a:noFill/>
          <a:ln/>
        </p:spPr>
        <p:txBody>
          <a:bodyPr wrap="square" lIns="0" tIns="0" rIns="0" bIns="0" rtlCol="0" anchor="ctr"/>
          <a:lstStyle/>
          <a:p>
            <a:pPr indent="0" marL="0">
              <a:buNone/>
            </a:pPr>
            <a:r>
              <a:rPr lang="en-US" sz="1400" dirty="0">
                <a:solidFill>
                  <a:schemeClr val="tx1"/>
                </a:solidFill>
              </a:rPr>
              <a:t>Hanya beli lewat pihak yang terdaftar di OJK. Janji untung pasti adalah tanda bahaya.</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9692640" cy="73152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Sumber dan bacaan lanjutan</a:t>
            </a:r>
            <a:endParaRPr lang="en-US" sz="2800" dirty="0"/>
          </a:p>
        </p:txBody>
      </p:sp>
      <p:sp>
        <p:nvSpPr>
          <p:cNvPr id="3" name="Link daftar isi"/>
          <p:cNvSpPr txBox="1"/>
          <p:nvPr/>
        </p:nvSpPr>
        <p:spPr>
          <a:xfrm>
            <a:off x="10469880" y="502920"/>
            <a:ext cx="1188720" cy="411480"/>
          </a:xfrm>
          <a:prstGeom prst="roundRect">
            <a:avLst>
              <a:gd name="adj" fmla="val 48889"/>
            </a:avLst>
          </a:prstGeom>
          <a:noFill/>
          <a:ln w="12700">
            <a:solidFill>
              <a:schemeClr val="accent1"/>
            </a:solidFill>
          </a:ln>
        </p:spPr>
        <p:txBody>
          <a:bodyPr wrap="square" rtlCol="0" anchor="ctr"/>
          <a:lstStyle/>
          <a:p>
            <a:pPr algn="ctr" indent="0" marL="0">
              <a:buNone/>
            </a:pPr>
            <a:r>
              <a:rPr lang="en-US" sz="1100" b="1" u="sng" dirty="0">
                <a:solidFill>
                  <a:schemeClr val="accent1"/>
                </a:solidFill>
                <a:hlinkClick r:id="rId1" action="ppaction://hlinksldjump" tooltip="Kembali ke daftar isi">
                  <a:extLst>
                    <a:ext uri="{A12FA001-AC4F-418D-AE19-62706E023703}">
                      <ahyp:hlinkClr xmlns:ahyp="http://schemas.microsoft.com/office/drawing/2018/hyperlinkcolor" val="tx"/>
                    </a:ext>
                  </a:extLst>
                </a:hlinkClick>
              </a:rPr>
              <a:t>Daftar isi</a:t>
            </a:r>
            <a:endParaRPr lang="en-US" sz="1100" dirty="0"/>
          </a:p>
        </p:txBody>
      </p:sp>
      <p:sp>
        <p:nvSpPr>
          <p:cNvPr id="4" name="Sumber Regulasi"/>
          <p:cNvSpPr/>
          <p:nvPr/>
        </p:nvSpPr>
        <p:spPr>
          <a:xfrm>
            <a:off x="548640" y="1371600"/>
            <a:ext cx="3520440" cy="393192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5" name="Text 3"/>
          <p:cNvSpPr txBox="1"/>
          <p:nvPr/>
        </p:nvSpPr>
        <p:spPr>
          <a:xfrm>
            <a:off x="82296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Regulasi</a:t>
            </a:r>
            <a:endParaRPr lang="en-US" sz="1800" dirty="0"/>
          </a:p>
        </p:txBody>
      </p:sp>
      <p:sp>
        <p:nvSpPr>
          <p:cNvPr id="6" name="Text 4"/>
          <p:cNvSpPr txBox="1"/>
          <p:nvPr/>
        </p:nvSpPr>
        <p:spPr>
          <a:xfrm>
            <a:off x="822960" y="2148840"/>
            <a:ext cx="3017520" cy="30175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UU No. 8 Tahun 1995 tentang Pasar Modal</a:t>
            </a:r>
            <a:endParaRPr lang="en-US" sz="1400" dirty="0"/>
          </a:p>
          <a:p>
            <a:pPr marL="177800" indent="-177800">
              <a:spcAft>
                <a:spcPts val="1000"/>
              </a:spcAft>
              <a:buSzPct val="100000"/>
              <a:buChar char="•"/>
            </a:pPr>
            <a:r>
              <a:rPr lang="en-US" sz="1400" dirty="0">
                <a:solidFill>
                  <a:schemeClr val="tx1"/>
                </a:solidFill>
              </a:rPr>
              <a:t>POJK 23/POJK.04/2016 tentang Reksa Dana berbentuk KIK, beserta perubahannya</a:t>
            </a:r>
            <a:endParaRPr lang="en-US" sz="1400" dirty="0"/>
          </a:p>
          <a:p>
            <a:pPr marL="177800" indent="-177800">
              <a:spcAft>
                <a:spcPts val="1000"/>
              </a:spcAft>
              <a:buSzPct val="100000"/>
              <a:buChar char="•"/>
            </a:pPr>
            <a:r>
              <a:rPr lang="en-US" sz="1400" dirty="0">
                <a:solidFill>
                  <a:schemeClr val="tx1"/>
                </a:solidFill>
              </a:rPr>
              <a:t>UU Pajak Penghasilan Pasal 4 ayat (3); PP 131/2000; PP 91/2021</a:t>
            </a:r>
            <a:endParaRPr lang="en-US" sz="1400" dirty="0"/>
          </a:p>
        </p:txBody>
      </p:sp>
      <p:sp>
        <p:nvSpPr>
          <p:cNvPr id="7" name="Sumber Data"/>
          <p:cNvSpPr/>
          <p:nvPr/>
        </p:nvSpPr>
        <p:spPr>
          <a:xfrm>
            <a:off x="4297680" y="1371600"/>
            <a:ext cx="3520440" cy="393192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8" name="Text 6"/>
          <p:cNvSpPr txBox="1"/>
          <p:nvPr/>
        </p:nvSpPr>
        <p:spPr>
          <a:xfrm>
            <a:off x="457200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Data</a:t>
            </a:r>
            <a:endParaRPr lang="en-US" sz="1800" dirty="0"/>
          </a:p>
        </p:txBody>
      </p:sp>
      <p:sp>
        <p:nvSpPr>
          <p:cNvPr id="9" name="Text 7"/>
          <p:cNvSpPr txBox="1"/>
          <p:nvPr/>
        </p:nvSpPr>
        <p:spPr>
          <a:xfrm>
            <a:off x="4572000" y="2148840"/>
            <a:ext cx="3017520" cy="30175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KSEI, Statistik Publik Juli 2026 (investor dan AUM per jenis reksa dana)</a:t>
            </a:r>
            <a:endParaRPr lang="en-US" sz="1400" dirty="0"/>
          </a:p>
          <a:p>
            <a:pPr marL="177800" indent="-177800">
              <a:spcAft>
                <a:spcPts val="1000"/>
              </a:spcAft>
              <a:buSzPct val="100000"/>
              <a:buChar char="•"/>
            </a:pPr>
            <a:r>
              <a:rPr lang="en-US" sz="1400" dirty="0">
                <a:solidFill>
                  <a:schemeClr val="tx1"/>
                </a:solidFill>
              </a:rPr>
              <a:t>Bank Indonesia, hasil Rapat Dewan Gubernur 2024 sampai September 2026</a:t>
            </a:r>
            <a:endParaRPr lang="en-US" sz="1400" dirty="0"/>
          </a:p>
          <a:p>
            <a:pPr marL="177800" indent="-177800">
              <a:spcAft>
                <a:spcPts val="1000"/>
              </a:spcAft>
              <a:buSzPct val="100000"/>
              <a:buChar char="•"/>
            </a:pPr>
            <a:r>
              <a:rPr lang="en-US" sz="1400" dirty="0">
                <a:solidFill>
                  <a:schemeClr val="tx1"/>
                </a:solidFill>
              </a:rPr>
              <a:t>LPS, Tingkat Bunga Penjaminan periode 1 Juli sampai 30 September 2026</a:t>
            </a:r>
            <a:endParaRPr lang="en-US" sz="1400" dirty="0"/>
          </a:p>
        </p:txBody>
      </p:sp>
      <p:sp>
        <p:nvSpPr>
          <p:cNvPr id="10" name="Sumber Belajar mandiri"/>
          <p:cNvSpPr/>
          <p:nvPr/>
        </p:nvSpPr>
        <p:spPr>
          <a:xfrm>
            <a:off x="8046720" y="1371600"/>
            <a:ext cx="3520440" cy="3931920"/>
          </a:xfrm>
          <a:prstGeom prst="roundRect">
            <a:avLst>
              <a:gd name="adj" fmla="val 3117"/>
            </a:avLst>
          </a:prstGeom>
          <a:solidFill>
            <a:schemeClr val="bg1"/>
          </a:solidFill>
          <a:ln w="9525">
            <a:solidFill>
              <a:srgbClr val="DCE6E2"/>
            </a:solidFill>
            <a:prstDash val="solid"/>
          </a:ln>
          <a:effectLst>
            <a:outerShdw sx="100000" sy="100000" kx="0" ky="0" algn="bl" rotWithShape="0" blurRad="127000" dist="38100" dir="5400000">
              <a:srgbClr val="0E1B2C">
                <a:alpha val="12000"/>
              </a:srgbClr>
            </a:outerShdw>
          </a:effectLst>
        </p:spPr>
      </p:sp>
      <p:sp>
        <p:nvSpPr>
          <p:cNvPr id="11" name="Text 9"/>
          <p:cNvSpPr txBox="1"/>
          <p:nvPr/>
        </p:nvSpPr>
        <p:spPr>
          <a:xfrm>
            <a:off x="8321040" y="1600200"/>
            <a:ext cx="3017520" cy="411480"/>
          </a:xfrm>
          <a:prstGeom prst="rect">
            <a:avLst/>
          </a:prstGeom>
          <a:noFill/>
          <a:ln/>
        </p:spPr>
        <p:txBody>
          <a:bodyPr wrap="square" lIns="0" tIns="0" rIns="0" bIns="0" rtlCol="0" anchor="t"/>
          <a:lstStyle/>
          <a:p>
            <a:pPr indent="0" marL="0">
              <a:buNone/>
            </a:pPr>
            <a:r>
              <a:rPr lang="en-US" sz="1800" b="1" dirty="0">
                <a:solidFill>
                  <a:schemeClr val="accent1"/>
                </a:solidFill>
              </a:rPr>
              <a:t>Belajar mandiri</a:t>
            </a:r>
            <a:endParaRPr lang="en-US" sz="1800" dirty="0"/>
          </a:p>
        </p:txBody>
      </p:sp>
      <p:sp>
        <p:nvSpPr>
          <p:cNvPr id="12" name="Text 10"/>
          <p:cNvSpPr txBox="1"/>
          <p:nvPr/>
        </p:nvSpPr>
        <p:spPr>
          <a:xfrm>
            <a:off x="8321040" y="2148840"/>
            <a:ext cx="3017520" cy="301752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ojk.go.id dan sikapiuangmu.ojk.go.id (edukasi resmi OJK)</a:t>
            </a:r>
            <a:endParaRPr lang="en-US" sz="1400" dirty="0"/>
          </a:p>
          <a:p>
            <a:pPr marL="177800" indent="-177800">
              <a:spcAft>
                <a:spcPts val="1000"/>
              </a:spcAft>
              <a:buSzPct val="100000"/>
              <a:buChar char="•"/>
            </a:pPr>
            <a:r>
              <a:rPr lang="en-US" sz="1400" dirty="0">
                <a:solidFill>
                  <a:schemeClr val="tx1"/>
                </a:solidFill>
              </a:rPr>
              <a:t>Fund fact sheet dan prospektus di situs Manajer Investasi</a:t>
            </a:r>
            <a:endParaRPr lang="en-US" sz="1400" dirty="0"/>
          </a:p>
          <a:p>
            <a:pPr marL="177800" indent="-177800">
              <a:spcAft>
                <a:spcPts val="1000"/>
              </a:spcAft>
              <a:buSzPct val="100000"/>
              <a:buChar char="•"/>
            </a:pPr>
            <a:r>
              <a:rPr lang="en-US" sz="1400" dirty="0">
                <a:solidFill>
                  <a:schemeClr val="tx1"/>
                </a:solidFill>
              </a:rPr>
              <a:t>akses.ksei.co.id untuk cek kepemilikan unit atas nama sendiri</a:t>
            </a:r>
            <a:endParaRPr lang="en-US" sz="1400" dirty="0"/>
          </a:p>
        </p:txBody>
      </p:sp>
      <p:sp>
        <p:nvSpPr>
          <p:cNvPr id="13" name="Text 11"/>
          <p:cNvSpPr txBox="1"/>
          <p:nvPr/>
        </p:nvSpPr>
        <p:spPr>
          <a:xfrm>
            <a:off x="548640" y="5577840"/>
            <a:ext cx="10972800" cy="365760"/>
          </a:xfrm>
          <a:prstGeom prst="rect">
            <a:avLst/>
          </a:prstGeom>
          <a:noFill/>
          <a:ln/>
        </p:spPr>
        <p:txBody>
          <a:bodyPr wrap="square" lIns="0" tIns="0" rIns="0" bIns="0" rtlCol="0" anchor="t"/>
          <a:lstStyle/>
          <a:p>
            <a:pPr indent="0" marL="0">
              <a:buNone/>
            </a:pPr>
            <a:r>
              <a:rPr lang="en-US" sz="1200" i="1" dirty="0">
                <a:solidFill>
                  <a:schemeClr val="accent5"/>
                </a:solidFill>
              </a:rPr>
              <a:t>Angka suku bunga dan data pasar berubah. Sebelum presentasi berikutnya, perbarui slide 4, 5, 9, dan 20 dengan data terbaru.</a:t>
            </a:r>
            <a:endParaRPr lang="en-US" sz="12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731520" y="1463040"/>
            <a:ext cx="7315200" cy="365760"/>
          </a:xfrm>
          <a:prstGeom prst="rect">
            <a:avLst/>
          </a:prstGeom>
          <a:noFill/>
          <a:ln/>
        </p:spPr>
        <p:txBody>
          <a:bodyPr wrap="square" lIns="0" tIns="0" rIns="0" bIns="0" rtlCol="0" anchor="t"/>
          <a:lstStyle/>
          <a:p>
            <a:pPr indent="0" marL="0">
              <a:buNone/>
            </a:pPr>
            <a:r>
              <a:rPr lang="en-US" sz="1300" b="1" spc="300" kern="0" dirty="0">
                <a:solidFill>
                  <a:schemeClr val="accent2"/>
                </a:solidFill>
              </a:rPr>
              <a:t>TERIMA KASIH</a:t>
            </a:r>
            <a:endParaRPr lang="en-US" sz="1300" dirty="0"/>
          </a:p>
        </p:txBody>
      </p:sp>
      <p:sp>
        <p:nvSpPr>
          <p:cNvPr id="3" name="Text 0"/>
          <p:cNvSpPr/>
          <p:nvPr>
            <p:ph idx="102" type="title" hasCustomPrompt="1"/>
          </p:nvPr>
        </p:nvSpPr>
        <p:spPr>
          <a:xfrm>
            <a:off x="731520" y="2103120"/>
            <a:ext cx="8412480" cy="17373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Mulai kecil, yang penting paham.</a:t>
            </a:r>
            <a:endParaRPr lang="en-US" sz="4800" dirty="0"/>
          </a:p>
        </p:txBody>
      </p:sp>
      <p:sp>
        <p:nvSpPr>
          <p:cNvPr id="4" name="Text 0"/>
          <p:cNvSpPr/>
          <p:nvPr>
            <p:ph idx="103" type="body" hasCustomPrompt="1"/>
          </p:nvPr>
        </p:nvSpPr>
        <p:spPr>
          <a:xfrm>
            <a:off x="731520" y="3977640"/>
            <a:ext cx="7772400" cy="914400"/>
          </a:xfrm>
          <a:prstGeom prst="rect">
            <a:avLst/>
          </a:prstGeom>
          <a:noFill/>
          <a:ln/>
        </p:spPr>
        <p:txBody>
          <a:bodyPr wrap="square" lIns="0" tIns="0" rIns="0" bIns="0" rtlCol="0" anchor="t"/>
          <a:lstStyle/>
          <a:p>
            <a:pPr indent="0" marL="0">
              <a:buNone/>
            </a:pPr>
            <a:r>
              <a:rPr lang="en-US" sz="2000" dirty="0">
                <a:solidFill>
                  <a:schemeClr val="accent6"/>
                </a:solidFill>
              </a:rPr>
              <a:t>Investasi terbaik untuk pemula adalah yang kamu mengerti cara kerjanya. Pertanyaan dan diskusi dipersilakan.</a:t>
            </a:r>
            <a:endParaRPr lang="en-US" sz="2000" dirty="0"/>
          </a:p>
        </p:txBody>
      </p:sp>
      <p:sp>
        <p:nvSpPr>
          <p:cNvPr id="5" name="Tunas lingkaran"/>
          <p:cNvSpPr/>
          <p:nvPr/>
        </p:nvSpPr>
        <p:spPr>
          <a:xfrm>
            <a:off x="9646920" y="685800"/>
            <a:ext cx="1463040" cy="1463040"/>
          </a:xfrm>
          <a:prstGeom prst="ellipse">
            <a:avLst/>
          </a:prstGeom>
          <a:solidFill>
            <a:schemeClr val="accent2"/>
          </a:solidFill>
          <a:ln w="12700">
            <a:solidFill>
              <a:schemeClr val="accent2"/>
            </a:solidFill>
            <a:prstDash val="solid"/>
          </a:ln>
        </p:spPr>
      </p:sp>
      <p:pic>
        <p:nvPicPr>
          <p:cNvPr id="6" name="Tunas ikon" descr="preencoded.png">    </p:cNvPr>
          <p:cNvPicPr>
            <a:picLocks noChangeAspect="1"/>
          </p:cNvPicPr>
          <p:nvPr/>
        </p:nvPicPr>
        <p:blipFill>
          <a:blip r:embed="rId1"/>
          <a:stretch>
            <a:fillRect/>
          </a:stretch>
        </p:blipFill>
        <p:spPr>
          <a:xfrm>
            <a:off x="10012680" y="1051560"/>
            <a:ext cx="731520" cy="731520"/>
          </a:xfrm>
          <a:prstGeom prst="rect">
            <a:avLst/>
          </a:prstGeom>
        </p:spPr>
      </p:pic>
    </p:spTree>
  </p:cSld>
  <p:clrMapOvr>
    <a:masterClrMapping/>
  </p:clrMapOvr>
</p:sld>
</file>

<file path=ppt/theme/theme1.xml><?xml version="1.0" encoding="utf-8"?>
<a:theme xmlns:a="http://schemas.openxmlformats.org/drawingml/2006/main" name="RDPU Ink Mint">
  <a:themeElements>
    <a:clrScheme name="RDPU Ink Mint">
      <a:dk1>
        <a:srgbClr val="0E1B2C"/>
      </a:dk1>
      <a:lt1>
        <a:srgbClr val="FFFFFF"/>
      </a:lt1>
      <a:dk2>
        <a:srgbClr val="1D3A55"/>
      </a:dk2>
      <a:lt2>
        <a:srgbClr val="EEF4F2"/>
      </a:lt2>
      <a:accent1>
        <a:srgbClr val="17A589"/>
      </a:accent1>
      <a:accent2>
        <a:srgbClr val="F2B33D"/>
      </a:accent2>
      <a:accent3>
        <a:srgbClr val="4F7FD9"/>
      </a:accent3>
      <a:accent4>
        <a:srgbClr val="E0625F"/>
      </a:accent4>
      <a:accent5>
        <a:srgbClr val="6B7B8C"/>
      </a:accent5>
      <a:accent6>
        <a:srgbClr val="9FD8CB"/>
      </a:accent6>
      <a:hlink>
        <a:srgbClr val="17A589"/>
      </a:hlink>
      <a:folHlink>
        <a:srgbClr val="1D3A55"/>
      </a:folHlink>
    </a:clrScheme>
    <a:fontScheme name="RDPU Ink Mi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Reksa Dana Pasar Uang</dc:title>
  <dc:subject>Materi regenerasi divisi</dc:subject>
  <dc:creator>Divisi</dc:creator>
  <cp:lastModifiedBy>Divisi</cp:lastModifiedBy>
  <cp:revision>1</cp:revision>
  <dcterms:created xsi:type="dcterms:W3CDTF">2026-10-02T08:10:49Z</dcterms:created>
  <dcterms:modified xsi:type="dcterms:W3CDTF">2026-10-02T08:10:49Z</dcterms:modified>
</cp:coreProperties>
</file>